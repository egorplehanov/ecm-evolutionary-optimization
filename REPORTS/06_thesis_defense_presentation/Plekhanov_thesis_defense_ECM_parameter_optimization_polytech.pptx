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ab6cb18b584c77" /><Relationship Type="http://schemas.openxmlformats.org/officeDocument/2006/relationships/extended-properties" Target="/docProps/app.xml" Id="R213fa47dc6414c36" /><Relationship Type="http://schemas.openxmlformats.org/officeDocument/2006/relationships/officeDocument" Target="/ppt/presentation.xml" Id="Rbcbfacda33544f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d93f6174b54169"/>
  </p:sldMasterIdLst>
  <p:notesMasterIdLst>
    <p:notesMasterId xmlns:r="http://schemas.openxmlformats.org/officeDocument/2006/relationships" r:id="R13ae54ddb1214955"/>
  </p:notesMasterIdLst>
  <p:sldIdLst>
    <p:sldId xmlns:r="http://schemas.openxmlformats.org/officeDocument/2006/relationships" id="256" r:id="R689514eb67c449a5"/>
    <p:sldId xmlns:r="http://schemas.openxmlformats.org/officeDocument/2006/relationships" id="257" r:id="R878f734de0134c10"/>
    <p:sldId xmlns:r="http://schemas.openxmlformats.org/officeDocument/2006/relationships" id="258" r:id="R98a38b19e76744bf"/>
    <p:sldId xmlns:r="http://schemas.openxmlformats.org/officeDocument/2006/relationships" id="259" r:id="R2f44a39965ad4d41"/>
    <p:sldId xmlns:r="http://schemas.openxmlformats.org/officeDocument/2006/relationships" id="260" r:id="R05276928b3b84828"/>
    <p:sldId xmlns:r="http://schemas.openxmlformats.org/officeDocument/2006/relationships" id="261" r:id="R2d92849b2794403f"/>
    <p:sldId xmlns:r="http://schemas.openxmlformats.org/officeDocument/2006/relationships" id="262" r:id="R6fc5aaf671124612"/>
    <p:sldId xmlns:r="http://schemas.openxmlformats.org/officeDocument/2006/relationships" id="263" r:id="R9fa523285d4d4ff7"/>
    <p:sldId xmlns:r="http://schemas.openxmlformats.org/officeDocument/2006/relationships" id="264" r:id="R74c2997d54d84373"/>
    <p:sldId xmlns:r="http://schemas.openxmlformats.org/officeDocument/2006/relationships" id="265" r:id="R33842ac1c0704964"/>
    <p:sldId xmlns:r="http://schemas.openxmlformats.org/officeDocument/2006/relationships" id="266" r:id="Rb92205f2cd94410c"/>
    <p:sldId xmlns:r="http://schemas.openxmlformats.org/officeDocument/2006/relationships" id="267" r:id="R5098e670fe974729"/>
    <p:sldId xmlns:r="http://schemas.openxmlformats.org/officeDocument/2006/relationships" id="268" r:id="R0c62a96628cf414e"/>
    <p:sldId xmlns:r="http://schemas.openxmlformats.org/officeDocument/2006/relationships" id="269" r:id="R019ffe147b8a4869"/>
    <p:sldId xmlns:r="http://schemas.openxmlformats.org/officeDocument/2006/relationships" id="270" r:id="R689d2863f27c4b2d"/>
    <p:sldId xmlns:r="http://schemas.openxmlformats.org/officeDocument/2006/relationships" id="271" r:id="R355076d931584efd"/>
    <p:sldId xmlns:r="http://schemas.openxmlformats.org/officeDocument/2006/relationships" id="272" r:id="R1f390d5828454e86"/>
    <p:sldId xmlns:r="http://schemas.openxmlformats.org/officeDocument/2006/relationships" id="273" r:id="R3bed0e3f55e74228"/>
    <p:sldId xmlns:r="http://schemas.openxmlformats.org/officeDocument/2006/relationships" id="274" r:id="R04da6464b0b54e5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d93f6174b54169" /><Relationship Type="http://schemas.openxmlformats.org/officeDocument/2006/relationships/theme" Target="/ppt/theme/theme1.xml" Id="R591eb11111684dbb" /><Relationship Type="http://schemas.openxmlformats.org/officeDocument/2006/relationships/notesMaster" Target="/ppt/notesMasters/notesMaster1.xml" Id="R13ae54ddb1214955" /><Relationship Type="http://schemas.openxmlformats.org/officeDocument/2006/relationships/presProps" Target="/ppt/presProps.xml" Id="R8cfe059089ff4b77" /><Relationship Type="http://schemas.openxmlformats.org/officeDocument/2006/relationships/viewProps" Target="/ppt/viewProps.xml" Id="R95e986a15e634df7" /><Relationship Type="http://schemas.openxmlformats.org/officeDocument/2006/relationships/tableStyles" Target="/ppt/tableStyles.xml" Id="R952485accb094ef5" /><Relationship Type="http://schemas.openxmlformats.org/officeDocument/2006/relationships/slide" Target="/ppt/slides/slide1.xml" Id="R689514eb67c449a5" /><Relationship Type="http://schemas.openxmlformats.org/officeDocument/2006/relationships/slide" Target="/ppt/slides/slide2.xml" Id="R878f734de0134c10" /><Relationship Type="http://schemas.openxmlformats.org/officeDocument/2006/relationships/slide" Target="/ppt/slides/slide3.xml" Id="R98a38b19e76744bf" /><Relationship Type="http://schemas.openxmlformats.org/officeDocument/2006/relationships/slide" Target="/ppt/slides/slide4.xml" Id="R2f44a39965ad4d41" /><Relationship Type="http://schemas.openxmlformats.org/officeDocument/2006/relationships/slide" Target="/ppt/slides/slide5.xml" Id="R05276928b3b84828" /><Relationship Type="http://schemas.openxmlformats.org/officeDocument/2006/relationships/slide" Target="/ppt/slides/slide6.xml" Id="R2d92849b2794403f" /><Relationship Type="http://schemas.openxmlformats.org/officeDocument/2006/relationships/slide" Target="/ppt/slides/slide7.xml" Id="R6fc5aaf671124612" /><Relationship Type="http://schemas.openxmlformats.org/officeDocument/2006/relationships/slide" Target="/ppt/slides/slide8.xml" Id="R9fa523285d4d4ff7" /><Relationship Type="http://schemas.openxmlformats.org/officeDocument/2006/relationships/slide" Target="/ppt/slides/slide9.xml" Id="R74c2997d54d84373" /><Relationship Type="http://schemas.openxmlformats.org/officeDocument/2006/relationships/slide" Target="/ppt/slides/slide10.xml" Id="R33842ac1c0704964" /><Relationship Type="http://schemas.openxmlformats.org/officeDocument/2006/relationships/slide" Target="/ppt/slides/slide11.xml" Id="Rb92205f2cd94410c" /><Relationship Type="http://schemas.openxmlformats.org/officeDocument/2006/relationships/slide" Target="/ppt/slides/slide12.xml" Id="R5098e670fe974729" /><Relationship Type="http://schemas.openxmlformats.org/officeDocument/2006/relationships/slide" Target="/ppt/slides/slide13.xml" Id="R0c62a96628cf414e" /><Relationship Type="http://schemas.openxmlformats.org/officeDocument/2006/relationships/slide" Target="/ppt/slides/slide14.xml" Id="R019ffe147b8a4869" /><Relationship Type="http://schemas.openxmlformats.org/officeDocument/2006/relationships/slide" Target="/ppt/slides/slide15.xml" Id="R689d2863f27c4b2d" /><Relationship Type="http://schemas.openxmlformats.org/officeDocument/2006/relationships/slide" Target="/ppt/slides/slide16.xml" Id="R355076d931584efd" /><Relationship Type="http://schemas.openxmlformats.org/officeDocument/2006/relationships/slide" Target="/ppt/slides/slide17.xml" Id="R1f390d5828454e86" /><Relationship Type="http://schemas.openxmlformats.org/officeDocument/2006/relationships/slide" Target="/ppt/slides/slide18.xml" Id="R3bed0e3f55e74228" /><Relationship Type="http://schemas.openxmlformats.org/officeDocument/2006/relationships/slide" Target="/ppt/slides/slide19.xml" Id="R04da6464b0b54e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0c05a1609c841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311b15885b4d65" /><Relationship Type="http://schemas.openxmlformats.org/officeDocument/2006/relationships/notesMaster" Target="/ppt/notesMasters/notesMaster1.xml" Id="R776684f4b42941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d326d03ab2423d" /><Relationship Type="http://schemas.openxmlformats.org/officeDocument/2006/relationships/notesMaster" Target="/ppt/notesMasters/notesMaster1.xml" Id="R055297d31bc748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059506bbd34627" /><Relationship Type="http://schemas.openxmlformats.org/officeDocument/2006/relationships/notesMaster" Target="/ppt/notesMasters/notesMaster1.xml" Id="R93fd5b420bfb41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b7e0d42a214c8b" /><Relationship Type="http://schemas.openxmlformats.org/officeDocument/2006/relationships/notesMaster" Target="/ppt/notesMasters/notesMaster1.xml" Id="Rc2342642992f41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44ca9eb0ab49a0" /><Relationship Type="http://schemas.openxmlformats.org/officeDocument/2006/relationships/notesMaster" Target="/ppt/notesMasters/notesMaster1.xml" Id="R99d83c33edfc4c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59eec26ba747a5" /><Relationship Type="http://schemas.openxmlformats.org/officeDocument/2006/relationships/notesMaster" Target="/ppt/notesMasters/notesMaster1.xml" Id="R95f37e88db3440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0a28cb69be4be0" /><Relationship Type="http://schemas.openxmlformats.org/officeDocument/2006/relationships/notesMaster" Target="/ppt/notesMasters/notesMaster1.xml" Id="Re4a48cbaa4ac46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f549b55ced488b" /><Relationship Type="http://schemas.openxmlformats.org/officeDocument/2006/relationships/notesMaster" Target="/ppt/notesMasters/notesMaster1.xml" Id="Rfe0d59e17b8d4f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2541c0d90f44a9" /><Relationship Type="http://schemas.openxmlformats.org/officeDocument/2006/relationships/notesMaster" Target="/ppt/notesMasters/notesMaster1.xml" Id="Rc3890d7a24924f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a9accc56dc4fa2" /><Relationship Type="http://schemas.openxmlformats.org/officeDocument/2006/relationships/notesMaster" Target="/ppt/notesMasters/notesMaster1.xml" Id="Rae5921ecc5a146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51665440114460" /><Relationship Type="http://schemas.openxmlformats.org/officeDocument/2006/relationships/notesMaster" Target="/ppt/notesMasters/notesMaster1.xml" Id="R53cc9885dd7f43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1be2fa0a534ab3" /><Relationship Type="http://schemas.openxmlformats.org/officeDocument/2006/relationships/notesMaster" Target="/ppt/notesMasters/notesMaster1.xml" Id="Ra9550b0050814da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a7ff4c243a4617" /><Relationship Type="http://schemas.openxmlformats.org/officeDocument/2006/relationships/notesMaster" Target="/ppt/notesMasters/notesMaster1.xml" Id="R1fe9a130f72544b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e6ab08157a419a" /><Relationship Type="http://schemas.openxmlformats.org/officeDocument/2006/relationships/notesMaster" Target="/ppt/notesMasters/notesMaster1.xml" Id="R0a5881f8f8c14c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b346652d0a74308" /><Relationship Type="http://schemas.openxmlformats.org/officeDocument/2006/relationships/notesMaster" Target="/ppt/notesMasters/notesMaster1.xml" Id="Rec39d410728545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e6d8f691fb4fca" /><Relationship Type="http://schemas.openxmlformats.org/officeDocument/2006/relationships/notesMaster" Target="/ppt/notesMasters/notesMaster1.xml" Id="Rea0093b06f96484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28f480f23348ca" /><Relationship Type="http://schemas.openxmlformats.org/officeDocument/2006/relationships/notesMaster" Target="/ppt/notesMasters/notesMaster1.xml" Id="R86a56eaa935b41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21ec925f1084828" /><Relationship Type="http://schemas.openxmlformats.org/officeDocument/2006/relationships/notesMaster" Target="/ppt/notesMasters/notesMaster1.xml" Id="Raa623a22e9b14b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384a55255494fa8" /><Relationship Type="http://schemas.openxmlformats.org/officeDocument/2006/relationships/notesMaster" Target="/ppt/notesMasters/notesMaster1.xml" Id="R0b3070762b4444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b3d272714441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2c735c19b9742dd" /><Relationship Type="http://schemas.openxmlformats.org/officeDocument/2006/relationships/slideLayout" Target="/ppt/slideLayouts/slideLayout2.xml" Id="Ra053d84a40494e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3d84a40494e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0e87cb192c41ae" /><Relationship Type="http://schemas.openxmlformats.org/officeDocument/2006/relationships/notesSlide" Target="/ppt/notesSlides/notesSlide1.xml" Id="Rc788d931e4814a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86d0a3e37a480f" /><Relationship Type="http://schemas.openxmlformats.org/officeDocument/2006/relationships/notesSlide" Target="/ppt/notesSlides/notesSlide2.xml" Id="R305f66f5658847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8127b45ab44abb" /><Relationship Type="http://schemas.openxmlformats.org/officeDocument/2006/relationships/notesSlide" Target="/ppt/notesSlides/notesSlide3.xml" Id="R45bee76efb624a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9e40cc4f814c39" /><Relationship Type="http://schemas.openxmlformats.org/officeDocument/2006/relationships/notesSlide" Target="/ppt/notesSlides/notesSlide4.xml" Id="Rc52f8753f4bf4d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dd88abaa294c14" /><Relationship Type="http://schemas.openxmlformats.org/officeDocument/2006/relationships/notesSlide" Target="/ppt/notesSlides/notesSlide5.xml" Id="Re61c1540bd0548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c13505233b4062" /><Relationship Type="http://schemas.openxmlformats.org/officeDocument/2006/relationships/notesSlide" Target="/ppt/notesSlides/notesSlide6.xml" Id="Re927090162344c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17f8190ee844cd" /><Relationship Type="http://schemas.openxmlformats.org/officeDocument/2006/relationships/notesSlide" Target="/ppt/notesSlides/notesSlide7.xml" Id="Rfce2bfa146f44c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0fac11e869446b" /><Relationship Type="http://schemas.openxmlformats.org/officeDocument/2006/relationships/notesSlide" Target="/ppt/notesSlides/notesSlide8.xml" Id="Re08f63a7035c4d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8e15bb6aab48dd" /><Relationship Type="http://schemas.openxmlformats.org/officeDocument/2006/relationships/notesSlide" Target="/ppt/notesSlides/notesSlide9.xml" Id="R2baeee4c57c844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e118e424c44e71" /><Relationship Type="http://schemas.openxmlformats.org/officeDocument/2006/relationships/notesSlide" Target="/ppt/notesSlides/notesSlide10.xml" Id="R9f8670818acb4c9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9e1323c7464855" /><Relationship Type="http://schemas.openxmlformats.org/officeDocument/2006/relationships/image" Target="/ppt/media/image.png" Id="R4d57d13c2a2a4eb9" /><Relationship Type="http://schemas.openxmlformats.org/officeDocument/2006/relationships/image" Target="/ppt/media/image2.png" Id="R9accd4841213447d" /><Relationship Type="http://schemas.openxmlformats.org/officeDocument/2006/relationships/notesSlide" Target="/ppt/notesSlides/notesSlide11.xml" Id="R5422f6e16b6b45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41425340c74d9a" /><Relationship Type="http://schemas.openxmlformats.org/officeDocument/2006/relationships/image" Target="/ppt/media/image3.png" Id="Rd16c7d3f597c44ec" /><Relationship Type="http://schemas.openxmlformats.org/officeDocument/2006/relationships/notesSlide" Target="/ppt/notesSlides/notesSlide12.xml" Id="R27e38d1fb5df40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e60f07c77c4f0d" /><Relationship Type="http://schemas.openxmlformats.org/officeDocument/2006/relationships/image" Target="/ppt/media/image4.png" Id="R6ced867274094537" /><Relationship Type="http://schemas.openxmlformats.org/officeDocument/2006/relationships/image" Target="/ppt/media/image5.png" Id="Reb2326561ccc49fd" /><Relationship Type="http://schemas.openxmlformats.org/officeDocument/2006/relationships/notesSlide" Target="/ppt/notesSlides/notesSlide13.xml" Id="R44b09f580f01455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fdaca42cf64192" /><Relationship Type="http://schemas.openxmlformats.org/officeDocument/2006/relationships/notesSlide" Target="/ppt/notesSlides/notesSlide14.xml" Id="Rf283823dc0b749f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1009a7b69d4fc2" /><Relationship Type="http://schemas.openxmlformats.org/officeDocument/2006/relationships/notesSlide" Target="/ppt/notesSlides/notesSlide15.xml" Id="R2b53928e97ab4f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a8fbaef90d4662" /><Relationship Type="http://schemas.openxmlformats.org/officeDocument/2006/relationships/notesSlide" Target="/ppt/notesSlides/notesSlide16.xml" Id="R6c70b968ad9949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bbc376d0a74cdc" /><Relationship Type="http://schemas.openxmlformats.org/officeDocument/2006/relationships/notesSlide" Target="/ppt/notesSlides/notesSlide17.xml" Id="R070213679898426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f774532baa48a7" /><Relationship Type="http://schemas.openxmlformats.org/officeDocument/2006/relationships/notesSlide" Target="/ppt/notesSlides/notesSlide18.xml" Id="R65867414cf0443a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7ef0343b9a4a7b" /><Relationship Type="http://schemas.openxmlformats.org/officeDocument/2006/relationships/notesSlide" Target="/ppt/notesSlides/notesSlide19.xml" Id="R048531db3547461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3EE3C9-7A27-495D-9207-5C63DD59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A4FC1-D21B-4FE8-9D17-D8FB6100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04C8F-A3E9-44A9-B13D-AD176A51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B23551-1F70-4AED-9BCC-E86905C1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B0DE5-F628-424D-8BBB-A6EE33C5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133CE-DB07-47F9-B24A-B1FD145C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35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СПбПУ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58D9E-EA47-4D81-B110-B59CEDE1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МАГИСТЕРСКАЯ ДИССЕРТАЦИЯ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2AB19-5BAE-49AC-8F79-F383FC35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71625"/>
            <a:ext cx="9334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55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FE235-CE70-4719-A963-DF6F20BB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9A926-4DB0-4A65-9624-A612F132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67125"/>
            <a:ext cx="2000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64F5B-E219-4DC2-93F3-1DA946D7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67125"/>
            <a:ext cx="1333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5A3A2-3C8A-4484-A760-A756BF58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2912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4F01E-F6BA-4383-A243-09D6E643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24375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0C645E-3B1D-4A9D-B121-E1FD6BC4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24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валидационная метрика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3891CD-9A5E-4FB8-8419-4F22349A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2912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54E05B-BC4F-41CE-9998-B5693F7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524375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9954C6-0C4E-481E-8615-A9B5C101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924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среднее время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611004-7270-4770-A9CA-62AC3CEF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2912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B030D1-D28F-4C3B-AE5E-312FD7AD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24375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1A655-C600-48C6-8FB8-40DE26D3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24425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число кривых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094A4-77B3-4C3A-876D-8ADA8F86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150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038BFE-2C47-4D37-BEDB-03E16656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817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Научный руководитель: Пак В. Г.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C7F477-9B90-44AA-AC63-6B3798FB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293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97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7B1E1-B9A4-42B8-A6AB-73812D16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4DACF-BA48-4A6F-98AD-A74B3BA4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7056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41D955-D1BA-4CA5-AEE6-C5D82CC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7056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563609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0D9449-3099-40DB-B49A-FDFD6C16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C4320-00FC-4CA6-9D17-EC62C335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10F17-F160-455D-A84A-C760CC36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5BEE8-5BAD-4579-AAB2-CB9964A2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FFCEC-4D5C-4CE5-B713-8E992D69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0BBB8-B6F5-436D-9947-E85390F3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76047-7B10-48BA-9474-81B28E08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4D4BA-5C5F-4B35-832A-7698E9FE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AA23E-B88C-4A80-8BA8-4E86023F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B63074-EDAD-4766-9E95-FF149D88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828F8-D806-4BBA-8E94-17BDF1FF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CF3A7-09EF-45A0-8D3A-9CA8ADE5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C0BA3-026C-425F-9ACA-A132E35E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Составное число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C56DF-F263-4E2D-9519-CD41F9F9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25B101-4B79-4D5B-80BE-4C1FF925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2288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B17A13-4B2D-4286-A303-05B9F29A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1812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6B8C1-2C92-455B-8D56-944B3353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986B0-66E8-4FEF-AAA0-F2151E4B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9050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поиск малых / средних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делителей: ECM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0A1DB8-D21A-4389-AC5C-C56E92D3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686050"/>
            <a:ext cx="228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04A40E-25F0-4A84-AE13-C397E036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288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23D34B-59D1-4B55-8D3A-F155F3E4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1812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CE7322-8580-49D5-BD40-BDE77D23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09750"/>
            <a:ext cx="219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395B68-B704-496D-B5C0-8731773A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050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оставшийся кофактор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84FBB8-3393-4E51-A6A6-E5E50D77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6860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757201-8F60-461E-AFB5-4E36B140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5A6906-840B-405F-8029-AF6B8367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AF1A9D-39E6-4F5A-9CF9-5BCC6B76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2743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56C59D-5A41-4F89-94E1-433529AF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86200"/>
            <a:ext cx="2743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Факторизация связана со стойкостью RSA и практическими расчетами в вычислительной теории чисел.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36657F-C1EA-4067-9BA3-F6830722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FD82DE-AC47-4B6E-95E2-525BFB79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CEE28B-B930-4DA4-9933-B52CC3BB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09975"/>
            <a:ext cx="2743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58B0BE-48F1-42DB-B29E-9A03B927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86200"/>
            <a:ext cx="2743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Массовые ECM-запуски дороги: снижение времени или числа кривых экономит вычисления.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A68D89-2238-4043-BCD3-424E9B50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581753-BA94-4081-819B-C8044EA2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7DED10-1D36-4676-ADF4-6EA37B50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09975"/>
            <a:ext cx="2743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7CFF14-F4B8-4DB3-8B15-2723D1BD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86200"/>
            <a:ext cx="2743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Справочные параметры GMP-ECM надежны, но не всегда оптимальны для конкретного pipeline.</a:t>
            </a:r>
          </a:p>
        </p:txBody>
      </p:sp>
    </p:spTree>
    <p:extLst>
      <p:ext uri="{BB962C8B-B14F-4D97-AF65-F5344CB8AC3E}">
        <p14:creationId xmlns:p14="http://schemas.microsoft.com/office/powerpoint/2010/main" val="7668035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E3FA2E-9283-4561-96C7-EF31C29B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B166D-185C-4BB3-B300-E45ACC97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AAC9F-0A56-4B47-B1F2-38EDECBB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50BD1-ACDB-4C9A-836D-DCFD79A9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737BC-1411-4A86-8146-43E93340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69ACE-AEB2-4C14-8B2A-5B841C21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90068-0DF3-467D-B505-5D21B66A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C62472-F164-46FA-8121-76347D4C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2/18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94126-E26B-4E14-8EF5-5927E878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89CFF1-8557-4BCC-988B-364D359A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18EF3-6F00-4668-BDD2-4690F08C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Работа связывает постановку, систему и независимую проверку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8F6F3-ED3E-44F3-AF35-049955BA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4905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6AB49-65DA-470A-826A-83314CFE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B94B75-A44D-4855-9E6B-04120CB3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6005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7521E-82B3-4DC0-BBD1-D6233F04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85975"/>
            <a:ext cx="46005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Разработать и исследовать систему, автоматически подбирающую параметры ECM и снижающую эмпирическую стоимость нахождения делителя относительно справочных параметров GMP-ECM.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7B63E-DCD1-4B6C-A01F-DE5E0F87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C666C-2684-4577-A8F5-7B95F0EB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82C760-E6BF-499F-89FB-D6DDFE1F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188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0875DC-FF12-4589-A439-DC0C9B2B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8597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4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4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Обзор факторизации и роли ECM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A5B73-7445-4E9F-9FF9-6112B7BE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764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E4929A-C207-4851-8D1A-F97921E8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764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A1B5BA-14F7-41AB-BED3-A5BDB613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188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AEF9A-467A-4F48-84C9-741EE0F8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8597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4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4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Анализ влияния B1 и B2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9B6ADD-BCF6-40EB-8A5E-920BE215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57475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E0737B-1A14-4839-B062-988F4D26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57475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6EBF1D-A081-4459-8BC1-B118E19E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90825"/>
            <a:ext cx="188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FF74A6-3F4C-4BB3-8E80-3BF9696E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4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4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Black-box постановка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CA7995-40BA-403B-8E36-EFD63503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57475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9B1637-0CBB-4A33-AE0E-9AFD2FE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57475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5BE5D3-4D75-4269-85CB-78CF653F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90825"/>
            <a:ext cx="188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28201-F643-43E6-B2F6-37658658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4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4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Реализация pipeline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E0F904-161E-4122-94D6-BB2B4654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03A080-F371-499A-A999-C22AF1F8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B54F3F-0B2E-4D29-99D6-AD1C796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71900"/>
            <a:ext cx="188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08C420-5BFC-4B7F-9B27-6CC3117F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4812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4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4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Эксперименты и сравнение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E513CE-8726-4822-B3C9-C8935F9A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385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0D6C71-C5B3-4166-BCCF-8EFF4AAA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38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F2F3C4-6F08-4CAF-BFDC-0F0A2AC5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71900"/>
            <a:ext cx="188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B0A34A-B48F-416E-8C30-58C25714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4812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4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4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Ограничения и рекомендации</a:t>
            </a:r>
          </a:p>
        </p:txBody>
      </p:sp>
    </p:spTree>
    <p:extLst>
      <p:ext uri="{BB962C8B-B14F-4D97-AF65-F5344CB8AC3E}">
        <p14:creationId xmlns:p14="http://schemas.microsoft.com/office/powerpoint/2010/main" val="8081738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8C8564-990F-4811-9230-F565D13B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0013FE-CA7C-4549-9FD2-21D14C0D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44E3D-9C08-4A64-BF4B-85A0E5A3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4A14F-33E5-4803-A7AD-6781AEE9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B45B8-FAA2-47EB-9A5C-8444D772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56FA4-31D0-42D1-8812-5F549E51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CF0D7-BC05-49D1-A59A-716349C7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59F96B-6E9C-4C85-B9B9-1A4AA9E6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3/18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D9558-E631-4FDF-9AC3-532D239C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ACE0B-3912-40BB-B8E4-641B5668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РАМКА ИССЛЕДОВАНИЯ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17BCDB-3CEE-41B7-8757-7ED29BC9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0007D7-0617-43A1-925B-8275FA48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9163D-E40F-4125-9053-472D0BAF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78C5D-A928-4689-A9E8-A1B1D502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DE99FF-6246-444A-B221-7D175B50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8384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в GMP-ECM.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C88E4-057C-4E3F-89C0-FA7AA3F3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09750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68A91B-B52E-43EC-BCFA-45F4A3CE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09750"/>
            <a:ext cx="47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732AEF-1472-477E-9D4C-66ED1EAA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431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5B8392-38E6-4A8E-8E5E-3840B65E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219325"/>
            <a:ext cx="28384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796950-595C-4A1B-B4CF-F08268DC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B5642C-AF47-4E39-B6C1-9E7F4DDA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47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817AE-EBF0-4286-8840-731B7DD8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431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58F7-2274-4E3A-ADE5-C649CF9F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19325"/>
            <a:ext cx="28384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Если класс чисел, среда и метрика заданы, параметры ECM можно локально настроить лучше справочных значений.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93DD13-A72F-4B87-A5B1-D28B7281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00550"/>
            <a:ext cx="952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 GMP-ECM используются как сильный baseline, а не как слабая точка сравнения.</a:t>
            </a:r>
          </a:p>
        </p:txBody>
      </p:sp>
    </p:spTree>
    <p:extLst>
      <p:ext uri="{BB962C8B-B14F-4D97-AF65-F5344CB8AC3E}">
        <p14:creationId xmlns:p14="http://schemas.microsoft.com/office/powerpoint/2010/main" val="14452463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AC57C4-F272-4DC8-AAD0-227FAD66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6CA5C-B900-452A-AD9E-00623C7C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B10468-E693-40D6-8528-DB51931E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0999E-7F7D-428D-AA12-D2C06BE5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AB1CF-E3BF-46EB-B8D5-5210599A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AE3C2-F1C7-4038-B419-65504079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B362D-DAD0-43D0-8C23-B8833E75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DBBCF-6726-4578-82BB-91876A81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4/18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97AA0D-76AF-424F-B4C0-240F4649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3DBEE-B638-4284-8642-D4294E8A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ECM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81595C-C6FE-4FAE-A697-8E6855F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D411C-08B4-45DD-9B6A-B558C16B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FC200A-57C3-49AA-9FBC-85FE4221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123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E3C57-76F5-420E-AFB5-2F199BA7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12128-91AD-404F-A81B-EDA6F830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6860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7EF28-EA0C-4802-9200-E32F7A02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384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3233FF-52C7-4838-A073-7E2BC273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0505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15EF7F-F512-41D3-B353-73F06441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00300"/>
            <a:ext cx="123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случайная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ECBC48-DD58-42E7-9E36-FE8BAED4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86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A89D48-71E6-4C46-B4B5-7CBC75F3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860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30681-8918-4D07-9575-F5062828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6384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757017-AC1D-4D82-A00E-2302AEE2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0505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3E6C8-3620-4E93-9137-E003A704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23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стадия 1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7F756F-CD3C-439D-BBFC-0EBE9560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86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0401CD-D495-4A7B-9291-E42FB97B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C60A6B-B90D-4C4A-A4B8-25710FA8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384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192E-0EEC-4B05-8B01-8C661FA1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0505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B23BB2-AF64-4FD0-91D0-D61C921B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00300"/>
            <a:ext cx="123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стадия 2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41B140-81C6-4CC5-BCFB-AFCA4CD7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86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AB7898-2A9F-4044-8C8B-BB0A1BCB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860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9B5547-669C-47DB-8E8D-C507BE27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384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0844AF-7B8F-4DA7-AEDC-6CEAB015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0505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75E896-AEE0-4117-8197-F592E589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00300"/>
            <a:ext cx="1238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делитель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или новая кривая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3A76FA-DF0E-4316-9C9D-363FC19C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86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1A21DD-8E55-4B6B-9E51-A3A60D5F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956967-1916-481B-91BB-CB315CC0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9100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EF324D-A240-4A8C-8515-FBBF9114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выше вероятность успеха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17D61D-FF3C-4C61-AB53-D34AB36A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095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BB253E-14DB-45AC-89D3-282CAC2D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419100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EA7A12-96E6-4E4E-9EA3-9D72C9FD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4591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дешевле одна попытка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CDF6BF-2D02-4A5F-BFC1-FFEB8F0F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95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EEDD61-6DC0-42C5-AC32-43599A3F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9100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оптимум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11C5E3-C2D4-48AE-A1F2-679641F1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9105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минимальная ожидаемая стоимость</a:t>
            </a:r>
          </a:p>
        </p:txBody>
      </p:sp>
    </p:spTree>
    <p:extLst>
      <p:ext uri="{BB962C8B-B14F-4D97-AF65-F5344CB8AC3E}">
        <p14:creationId xmlns:p14="http://schemas.microsoft.com/office/powerpoint/2010/main" val="144157757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F02BB2-D0F8-43B2-9C3C-9CE96A06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594D9-CC23-4694-BFE6-206E8668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3CC3D-3288-4FF6-8723-6E584AC1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8031C-98C9-4286-85F7-14D18C34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A10A5-3BCC-4815-81F5-B4F14CF2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A470C-19C7-4B13-92B9-3CC3F50E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3B0A8-221F-4C83-8853-6BECFD60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5EE4F-A1C7-4F2B-995C-DDF5C8DF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5/18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52C2E-9382-4DF1-9788-07BD7502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415AE-74BC-40BE-AE03-D9C720A7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49B0B1-E08C-4DF7-A82A-049F9038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Настройка B1/B2 сведена к constrained black-box оптимизации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902A39-25E5-4C05-B530-763EDCA7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3143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8BF3EE-6E05-4053-A9FD-93D54231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CD6B2D-80AB-4E75-BD8E-44932FD7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288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E116D-C6BA-4A6C-B448-F5DBF1DF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05025"/>
            <a:ext cx="28384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x = (log10(B1), log10(B2))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Логарифмическое пространство выбрано, потому что параметры меняются на порядки.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B743CF-473F-4185-9D82-62841D82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95450"/>
            <a:ext cx="3143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FA9646-E8B2-497B-A7BA-3157BD9A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954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B2B6A3-8AFC-458A-A258-A19AF880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8288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254038-2A1E-4E70-8603-C4DB8E05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105025"/>
            <a:ext cx="28384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B1min &lt;= B1 &lt;= B1max</a:t>
            </a:r>
          </a:p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B2min &lt;= B2 &lt;= B2max</a:t>
            </a:r>
          </a:p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B1 &lt;= B2</a:t>
            </a:r>
          </a:p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B2 / B1 &lt;= Rmax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C4A5B7-853A-4132-A646-F36DFA95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43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27F9E7-4086-4312-B67E-D107E8DD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6B9DB4-3AFE-4756-AECD-8B36AA9F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8288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80217C-7A04-4A82-A1F0-B1170ADF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05025"/>
            <a:ext cx="28384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числа кривых.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63538C-631B-44F5-90A5-0B9DE742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210050"/>
            <a:ext cx="1000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128"/>
          </a:solidFill>
          <a:ln xmlns:a="http://schemas.openxmlformats.org/drawingml/2006/main" w="0">
            <a:solidFill>
              <a:srgbClr val="24412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B2366-0492-4EF3-9232-E19F0AFC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400550"/>
            <a:ext cx="923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Аналитической формулы качества нет: оптимизатор видит GMP-ECM как внешнюю шумную функцию.</a:t>
            </a:r>
          </a:p>
        </p:txBody>
      </p:sp>
    </p:spTree>
    <p:extLst>
      <p:ext uri="{BB962C8B-B14F-4D97-AF65-F5344CB8AC3E}">
        <p14:creationId xmlns:p14="http://schemas.microsoft.com/office/powerpoint/2010/main" val="159603935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10293D-B39F-45D7-898D-653ECE3B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51DE0-C5F6-44E5-95AB-EBACC09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1DDE0-512D-4D88-A971-58EB5CB9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B8A221-51B0-42CF-AC46-F878A4FF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937D3-8463-4E6D-A221-51F2CC2D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7DCE3D-2A6A-4385-8466-DEDBBD5C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467DF-D0C7-4A7F-B69C-CD6F82B1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C6F6C-663B-4ABA-9656-BB3E6B43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6/18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56139-AEA8-484A-86E5-E22FC2C3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F4D3E-836C-4CC2-B570-6D361868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81395-E78A-4085-9F3B-EEB95B90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шумной функции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EEBA9-823D-44E3-AA70-39027FF6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9BE6A9-6F5B-4DF0-9391-AD401695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47875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train-набор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070FBA-5692-458F-BBA1-78078446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57475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4CD14-DAB4-4A8A-B04B-FE2BB12D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14575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263B4-D6A6-454F-B463-04E003F2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669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C8C86-245C-4B98-B529-FA656CE5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52625"/>
            <a:ext cx="2333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2985B0-59C5-435A-B827-14D514C1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оптимизатор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A5161-ECD9-4D17-ABB2-3678A606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57475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52612-8DC9-4A15-AE95-4C7224FD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14575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B58BB-7F5C-4E44-8314-8D3CC360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2669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F3ADD9-9C2A-43DD-ADAA-6DDA229B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52625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9F8A0-B048-4789-970F-D68A10DA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47875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найденные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A2F892-B19D-40B8-B2CE-1862005B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657475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C4A495-83EE-4DF5-8BF4-45FD55CB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6195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BE2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6B8EC5-5E12-4595-AE4F-64FA23D7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71475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control-набор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9EE44A-4426-42F1-85FD-A295AA10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3243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0AE388-D71A-45FE-93BD-AE4FDA33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8145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34EFA1-86F7-4DCA-AB9F-722ABE2A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3382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A884E5-4F86-469D-BB18-33653DFB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2476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9BAE77-49C1-4BE6-A18F-770E8342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14750"/>
            <a:ext cx="228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независимая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A498A0-5E93-41FB-AA5E-D0B0E83B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2435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3AF0E-20EE-4C25-97D9-CD6DB520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35D285-4B09-46BE-8A10-FC0A1185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642A523-14F4-4187-A605-5B29A0D3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911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D26441-D2AA-438F-8F03-0298B88A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67325"/>
            <a:ext cx="2838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неуспех + время + кривые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3677E7-F6D8-4968-A862-FAF61B2A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55BE14-A5B5-4799-9024-51E7DBE0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EA6DD5-EDD1-4F2E-9E6B-44DE6999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91100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F3C6B6-6D86-41C5-BE22-93866221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67325"/>
            <a:ext cx="2838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(score_baseline - score_method) / score_baseline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3AAA64-5901-4936-B6E9-6AFE30F9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577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6E4893-15CC-490F-9ECE-CAFC4DC0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577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347FA-1179-4EA3-980D-9530EDFF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9911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ПРИОРИТЕТ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0A7A4E-C6D1-4FF2-819E-04E9B065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67325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успех -&gt; время -&gt; кривые</a:t>
            </a:r>
          </a:p>
        </p:txBody>
      </p:sp>
    </p:spTree>
    <p:extLst>
      <p:ext uri="{BB962C8B-B14F-4D97-AF65-F5344CB8AC3E}">
        <p14:creationId xmlns:p14="http://schemas.microsoft.com/office/powerpoint/2010/main" val="8938504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8B3E99-A1DE-4ADE-A23C-AA321B72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0C19D-0CFA-48DE-AF47-633B802D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F3C21-C4CB-490F-878C-4F91F88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8542B-5376-4E3A-B956-A019359F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53E25-8BB4-42C2-9098-E357FC1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91A07-FB35-42A9-81B0-A776EBC6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FDA24-39AE-4B70-9291-BA136EB4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2184B-1A7C-4DDD-AF93-459C1CFF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7/18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2733B-8EC9-4630-8690-38FD7BB0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44CA0-6D84-4A0D-A241-6408E418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8FE8B-C5C7-480C-922B-C65B1B0C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11B47-FEE7-4D10-B029-2544D3E8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95450"/>
            <a:ext cx="163068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52EE6-972D-493B-9E0C-3180BB0F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153543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975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89982F-C1CD-4402-B503-EDBDBAE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805" y="1695450"/>
            <a:ext cx="346519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AB1FD2-C578-4814-AC81-00CFFFBD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1762125"/>
            <a:ext cx="336994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975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Тип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DBE55-1FFA-4DF3-AC17-EC302B30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95450"/>
            <a:ext cx="5095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13DDE9-94ED-49AF-A16D-D9242FEA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62125"/>
            <a:ext cx="5000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975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Роль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54C7C0-27EC-42B6-BB26-D34A2F75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163068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F29F1-238F-4671-BB82-60BD4526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14575"/>
            <a:ext cx="153543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BE888-D78B-4C62-B08B-278A2537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805" y="2247900"/>
            <a:ext cx="346519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1107FF-8D92-4CAC-A692-BE1F9F6B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2314575"/>
            <a:ext cx="336994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случайный поиск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47335D-0550-49CD-B6B2-61BC8D9E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5095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CF4845-702E-48CB-8A57-7BB5365D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14575"/>
            <a:ext cx="5000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базовый ориентир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0A918E-2134-490A-BDC7-7816B5A0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00350"/>
            <a:ext cx="163068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4AF6CC-01A8-44A5-811E-463D0FF0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67025"/>
            <a:ext cx="153543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657BA-E4DE-497D-8079-36208879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805" y="2800350"/>
            <a:ext cx="346519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3F8AFE-3A35-4EB1-B92D-908735D1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2867025"/>
            <a:ext cx="336994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дифференциальная эволюция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97A6AC-1500-40C4-85AF-05D78EB7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0350"/>
            <a:ext cx="5095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AD7AC4-54E7-4276-B3BE-DAD4A0F8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867025"/>
            <a:ext cx="5000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популяционный направленный поиск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32131D-D46C-4A7D-8942-E6062B41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52800"/>
            <a:ext cx="163068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7ED224-BEBF-4A66-BE44-73907C40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19475"/>
            <a:ext cx="153543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B7E8AC-A9ED-43A3-B7CF-448EB038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805" y="3352800"/>
            <a:ext cx="346519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65DE07-E89D-4F3F-BE2C-67E586E2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3419475"/>
            <a:ext cx="336994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генетический алгоритм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85B973-1BC9-40E8-9B87-69CAC033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5095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C0FA31-817C-474A-8D74-E3EBB952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419475"/>
            <a:ext cx="5000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эволюционный поиск с элитизмом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4C305D-2670-4F64-9A43-4FE3E34A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905250"/>
            <a:ext cx="163068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D374CE-C1BB-4FFF-BE68-9A923479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71925"/>
            <a:ext cx="153543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BD88BB-3684-418D-B2C3-E26AEBA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805" y="3905250"/>
            <a:ext cx="346519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B7BC6B-9BB8-4477-BF4E-5C5F0BAB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3971925"/>
            <a:ext cx="336994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роевой алгоритм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8E9FE0-4DD3-4194-92FF-55E0175F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05250"/>
            <a:ext cx="5095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A28BB5-C057-46C4-9C1F-4AB10D07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971925"/>
            <a:ext cx="5000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личный и коллективный опыт частиц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40B9BA-5220-451E-BA59-1BC59092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57700"/>
            <a:ext cx="163068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32C275-CD7B-4091-B122-B42E34FC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24375"/>
            <a:ext cx="153543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D4D180-09C7-419C-89FA-0A13DEBF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805" y="4457700"/>
            <a:ext cx="346519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B28D6E-793B-4799-B5FD-A44E3168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4524375"/>
            <a:ext cx="336994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байесовская оптимизация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26B071-69E7-4D68-8B1C-5733C4A5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57700"/>
            <a:ext cx="5095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15AD85F-8739-4A21-A459-AB39873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524375"/>
            <a:ext cx="5000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00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00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суррогатная модель дорогой функции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700EAE-A018-4A5F-AD1F-EA5BAE7E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76875"/>
            <a:ext cx="933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</p:spTree>
    <p:extLst>
      <p:ext uri="{BB962C8B-B14F-4D97-AF65-F5344CB8AC3E}">
        <p14:creationId xmlns:p14="http://schemas.microsoft.com/office/powerpoint/2010/main" val="25889812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B1622B-5941-4929-AD39-154168AE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01018-8A23-464B-811A-802C67D0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309FA-6A00-49F8-BA08-24F40BDB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ED816-A9F0-41DF-874A-466AF8C8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C32CE-814D-47D3-B624-9BB9CD0E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4A186-2426-4116-8FF9-9DB2415A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DC5CC-50EB-4F83-9AA1-4EB9B123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426C7-6054-484A-949A-61746B3D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8/18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D5B0A-1E5C-4FF9-A9E0-AE51B1E2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69520E-3FA9-4464-B654-44ABDFEB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C67EF-323D-4394-BF11-F224B813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00688-C5D3-4055-8317-71C70B8E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0">
            <a:solidFill>
              <a:srgbClr val="3730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071B8-A2AD-4805-901D-9D35FA07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5740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BABA3-418F-49EE-B2A6-9158976C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619250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7F3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C3304-2356-4B32-91C3-F8183F90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7145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generate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CB7AD-260A-4708-BEBA-22BA5FB0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4193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09FBE4-08A6-49BD-B32F-DC4FE3E1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019300"/>
            <a:ext cx="42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D49E4-D09C-4744-B9BD-9F8B372B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71675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9FF25-8741-46E4-BADA-774AD798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19250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1E3F8-CB59-4B81-A55B-7162752F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7145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optimize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fitness + GMP-ECM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58D469-3FEB-41E3-9576-55E435AA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193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6816BD-D502-4241-8F23-99BD8459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003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7F3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163D33-677A-4D05-B8DF-84179821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95625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validate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7C1E2E-11A2-4090-B313-1CC59F44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0047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0D46F8-B6B1-4272-8735-30FD6E32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00425"/>
            <a:ext cx="42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CB77BE-76F3-442B-B34F-8F35D786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528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5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203A88-36EC-46E0-8F47-CED51E54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003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73165C-E71C-4691-92F7-6E3711A1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analyze</a:t>
            </a:r>
          </a:p>
          <a:p xmlns:a="http://schemas.openxmlformats.org/drawingml/2006/main">
            <a:pPr algn="ctr">
              <a:defRPr sz="1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EC8E4F-C76B-46DE-ABFA-9BB0CF25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0047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35B4F6-A394-4C61-A91C-7CD2A365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81B8F9-941D-4B3E-944B-AD8DE76C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93E0F2-1961-4C69-87AB-04B574B5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943100"/>
            <a:ext cx="2266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52838A-9BDC-4DE3-9BBB-ED5F8110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219325"/>
            <a:ext cx="22669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35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JSON</a:t>
            </a:r>
          </a:p>
          <a:p xmlns:a="http://schemas.openxmlformats.org/drawingml/2006/main">
            <a:pPr algn="l">
              <a:defRPr sz="135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35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CSV</a:t>
            </a:r>
          </a:p>
          <a:p xmlns:a="http://schemas.openxmlformats.org/drawingml/2006/main">
            <a:pPr algn="l">
              <a:defRPr sz="135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35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PNG</a:t>
            </a:r>
          </a:p>
          <a:p xmlns:a="http://schemas.openxmlformats.org/drawingml/2006/main">
            <a:pPr algn="l">
              <a:defRPr sz="135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35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5547B8-ED03-4C04-BDCA-0268BD14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2532D7-6CCC-4446-A903-FBC9F450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B2AC94-944A-4D9D-9A11-E8711829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10100"/>
            <a:ext cx="902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КЛЮЧЕВОЙ ИНЖЕНЕРНЫЙ ПРИНЦИП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B51B39-D19A-47B4-84F9-92115BB5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86325"/>
            <a:ext cx="902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Оптимизаторы не вызывают GMP-ECM напрямую: все кандидаты проходят через единый fitness evaluator.</a:t>
            </a:r>
          </a:p>
        </p:txBody>
      </p:sp>
    </p:spTree>
    <p:extLst>
      <p:ext uri="{BB962C8B-B14F-4D97-AF65-F5344CB8AC3E}">
        <p14:creationId xmlns:p14="http://schemas.microsoft.com/office/powerpoint/2010/main" val="15161189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44F802-66F2-4969-A246-AEF56D8E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1B0F9-73F5-48C4-9513-E26A827D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A47AD-FD46-4DB3-9CE7-074A16DB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C2FE55-9D1F-45EE-8E81-FD533DD6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E5292-5C17-4C45-95EB-CE43FB8C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850EB-0951-4C65-A3EF-E6B647F9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C064CC-664A-4AEB-A0A4-704A98E2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A51A4-8EB1-4527-B8A6-F910999F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9/18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25EFB-4660-4151-96DD-2DC34A52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27CE3-4083-4E6C-AD80-D74C3D3F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4741B-A295-42DC-8E40-9C85D769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Дизайн отделяет поиск параметров от независимой проверки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CFC959-F9C6-4352-8579-92A4DBAD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881A82-3142-4B1F-852D-7F64E224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62125"/>
            <a:ext cx="1924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5594DF-066B-4162-9D90-E61F00FA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62175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целевой простой делитель 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F7BE6-93AD-4BDA-89D5-04610580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7011A-AF4F-443A-9DAD-4A95726C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762125"/>
            <a:ext cx="1924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94B8E5-0811-4342-BA4B-38E1E576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62175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кофактор q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8DE96-B9FC-4E66-9870-2E83A7D0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66875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BBC32E-34AC-4E48-A36A-1841B2DA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62125"/>
            <a:ext cx="1924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410628-4C4E-470B-90E3-91DF21B9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62175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train и control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67D04E-09DF-4BF9-9711-105F6A32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66875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4A1F5-D34C-49BF-A136-3E8E58EC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62125"/>
            <a:ext cx="1924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79159F-DA89-44B5-9B14-F01D3EAA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62175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эталон GMP-ECM B1/B2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34733E-AB8F-4F7A-ADD5-F44886E9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4095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F2936-0752-493B-BFE9-2BF8BCF5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47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CF6FBF-5CC0-424F-9595-74177A05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62350"/>
            <a:ext cx="3790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F6A315-6542-440F-871F-FFE0584C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38575"/>
            <a:ext cx="379095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646A25-91D1-4241-8F2A-8FCF1140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9000"/>
            <a:ext cx="4095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3BC2C5-39E3-4856-9E11-414FA86B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9000"/>
            <a:ext cx="47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17D8B9-AFD4-4D78-BFD8-4FA4CEE9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62350"/>
            <a:ext cx="3790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DAFBAC-C757-44AC-A1E0-B4B95C01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38575"/>
            <a:ext cx="379095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486BA-B887-4273-8531-D31E370D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286375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97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Основные расчеты выполнены на ресурсах СКЦ СПбПУ с использованием SLURM.</a:t>
            </a:r>
          </a:p>
        </p:txBody>
      </p:sp>
    </p:spTree>
    <p:extLst>
      <p:ext uri="{BB962C8B-B14F-4D97-AF65-F5344CB8AC3E}">
        <p14:creationId xmlns:p14="http://schemas.microsoft.com/office/powerpoint/2010/main" val="1543290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0FD037-50E1-4926-851B-F87C107F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A4979-5290-455D-8B54-34F165C7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B75A1-98DE-45F6-A439-27E7C289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864F9-7AE0-4D6E-BD39-D850F5A9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7CE31-E1A9-48F5-9AF9-01A375AF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9A68C1-A0D2-4BF0-B891-83FC017B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68116-0598-4C4D-BA99-C8F7F914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975DE-A43D-47B0-831E-54603B69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10/18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13816-5EE5-46FD-8DB9-E89AFE58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2249BE-FC50-4999-A7DC-287038F9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AA9EA8-A4D2-4F31-930D-EC812C24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Первый этап нашел область параметров лучше справочной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74399-E274-49A9-B605-8A040FD4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19250"/>
            <a:ext cx="54768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7d13c2a2a4eb9"/>
          <a:stretch xmlns:a="http://schemas.openxmlformats.org/drawingml/2006/main"/>
        </p:blipFill>
        <p:spPr>
          <a:xfrm xmlns:a="http://schemas.openxmlformats.org/drawingml/2006/main">
            <a:off x="1024803" y="1695450"/>
            <a:ext cx="4475018" cy="30765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D6CCDF-7A51-493B-9178-BC6B8E61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29175"/>
            <a:ext cx="52482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788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Выигрыш валидационной метрики по методам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D3B2F-E527-4619-B411-144DAFF6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5286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cd4841213447d"/>
          <a:stretch xmlns:a="http://schemas.openxmlformats.org/drawingml/2006/main"/>
        </p:blipFill>
        <p:spPr>
          <a:xfrm xmlns:a="http://schemas.openxmlformats.org/drawingml/2006/main">
            <a:off x="6457950" y="1950244"/>
            <a:ext cx="5133975" cy="2566988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9EA9B-166E-4149-93BF-2565D745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29175"/>
            <a:ext cx="50577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788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Траектория поиска GA в пространстве B1/B2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0D193B-9E34-4055-99A7-B0677CBB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33400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4717F-C028-4864-BAF2-593642C3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42925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20,62-23,90%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63C180-92B2-4D6A-83C6-49C3CBD5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8293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снижение метрики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80553-E896-4901-898A-0B4653C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3400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3378DA-2CAE-446D-88F4-FDFFC28F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42925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18,36-19,53%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59CEF-1D34-432B-94FF-C67375A2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8293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снижение времени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384D9B-0A42-401E-9896-207EABF2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33400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E5027C-6ADD-48D2-8140-373EAB4D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42925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35,37-52,50%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CE4C27-FCB8-4662-A8B0-9C2E55A6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8293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снижение числа кривых</a:t>
            </a:r>
          </a:p>
        </p:txBody>
      </p:sp>
    </p:spTree>
    <p:extLst>
      <p:ext uri="{BB962C8B-B14F-4D97-AF65-F5344CB8AC3E}">
        <p14:creationId xmlns:p14="http://schemas.microsoft.com/office/powerpoint/2010/main" val="201862510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BFE315-3FDA-4CF6-B085-ADBF9E0B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2FE2A-70A3-459C-823C-727080A0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BEE45-B864-4449-856E-E941E13D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D6F7C-09C7-49F2-9446-38D9A4B5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4BA0F-2C8B-4273-AFF8-CF737E53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9ED1B-405F-4402-8284-754D583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B88E40-DECB-42FF-96D9-6FF6DD6D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EAEBB-2C6C-46EB-8D07-B128B756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11/18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BFA2F-F97D-4AE7-8AD3-02D73665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2FBB2-D3B8-4708-B2B2-A9B0D1E1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A7F15-00C8-4200-8DAE-40D9F224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43475-77A4-42B3-B707-528632BB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9C71FA-EF4B-4AE9-B296-55F161A7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85925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BA4D74-58C5-49D8-ABF7-877E814F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044" y="161925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A81842-AEE7-42EA-86C7-7B04CB89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69" y="168592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D976A-A7B4-42B3-A214-D42EF1C2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151" y="1619250"/>
            <a:ext cx="110585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78F7-A8AB-4B73-876A-294EA503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776" y="1685925"/>
            <a:ext cx="10106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5E76F-0446-431A-B8B2-1DCB1ACF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004" y="1619250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2B079-9401-46EC-AE99-3CEA90D0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629" y="1685925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Метрика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4954A2-AE3B-44FC-8A2A-1237484B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548" y="161925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90759D-4D23-4684-83BE-C7167DC5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73" y="168592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Время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6FF19-2FAA-4EB6-B0B6-99E7FD3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655" y="161925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996EDC-F618-4649-BF15-36CEEE0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280" y="168592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7F21B5-D036-4C82-9B77-FE7C4EBE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763" y="1619250"/>
            <a:ext cx="61436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A57CC4-DC96-43F9-95C9-0AC087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88" y="1685925"/>
            <a:ext cx="51911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Успех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FD8F49-49AB-425C-8492-40E0E01C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8825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A0D1CE-8000-47E8-BEED-70761FD9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1B0A11-6654-4BDC-8E49-4481C4F9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044" y="202882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475F42-DF60-417F-8100-BA91F93A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69" y="209550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20510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46BAC8-2D5D-4EBF-A285-569162C3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151" y="2028825"/>
            <a:ext cx="110585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296E2E-0F23-459D-A17A-80289A77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776" y="2095500"/>
            <a:ext cx="10106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636495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1AD70F-1A35-4DA4-A9BE-E1B67AE0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004" y="2028825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ED30F0-F099-4063-B12A-E11A600A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629" y="2095500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-13,70%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A919BD-E26E-4F7C-8B0D-035CAD99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548" y="202882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4791AC-EFEB-4FF1-BD40-55493961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73" y="209550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-14,30%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CBD928-6068-4EE8-9F23-BC9D86D4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655" y="202882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1DFDC2-C343-44B3-B96C-C8A9032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280" y="209550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-9,71%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632F96-A1CD-4AE7-AF0A-DD23F9D4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763" y="2028825"/>
            <a:ext cx="61436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1F22D9-4104-48E1-B3B2-3D10D5E1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88" y="2095500"/>
            <a:ext cx="51911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0,9988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3D7E17-2D77-4930-ADC7-7F878EB8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38400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0E666A1-1E5A-4EB8-8BF0-D6EAF423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05075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7CDC78-FE71-49D6-A723-7263A0A1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044" y="243840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C1BEBBF-0B88-4C72-AA3D-C941B0F5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69" y="250507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33716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8B8D60-E3C0-4342-82EB-B37F3944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151" y="2438400"/>
            <a:ext cx="110585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628D98-8404-457B-9A57-D5EABDDE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776" y="2505075"/>
            <a:ext cx="10106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3003081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0B0D8E-02D5-4756-A809-DA5E511F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004" y="2438400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955472-2D3E-49C0-9AD4-B4C581A9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629" y="2505075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-22,35%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6ADB4D-68E1-4137-87AE-6761BC0A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548" y="243840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10E61E-3A01-4E29-866E-0EA12C4F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73" y="250507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-17,92%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E301D8-0163-47BA-96A3-222BCF38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655" y="243840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AF7A9C-C2A9-4E65-9811-A15EBADB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280" y="250507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-51,69%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FB6CDB3-4EC0-4444-8E73-739F16B7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763" y="2438400"/>
            <a:ext cx="61436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4C1A43-8193-411F-A0BE-73EA2797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88" y="2505075"/>
            <a:ext cx="51911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1,0000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A217FCA-9105-4A80-B567-55E85328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47975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C2D3917-EBE6-43CF-AD5A-A60E5918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14650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RS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63E587-E509-44DD-8A00-D980B459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044" y="284797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B3304D-2E7F-41E4-9885-4C4242F0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69" y="291465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22985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0FB5404-EB4A-4537-9EDA-763300FF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151" y="2847975"/>
            <a:ext cx="110585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5C534BE-7FC7-4675-9191-BD44AE3C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776" y="2914650"/>
            <a:ext cx="10106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1273334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FBA25E8-53D6-49D0-88AF-034A31F3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004" y="2847975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DA23217-7162-4F15-8AA8-B8087C42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629" y="2914650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-19,29%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CC54DFE-3DAD-4F16-9D5A-AF877525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548" y="284797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ADDE55-AF00-4D54-82A1-7F0EFA2A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73" y="291465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-17,29%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E43C0D0-7415-43B0-B511-007BCB0E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655" y="284797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2DBAFB3-6C6F-4FED-A7C4-B0E88056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280" y="291465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-32,48%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0A0E42-6E26-4EAF-8818-62BEA37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763" y="2847975"/>
            <a:ext cx="61436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A3F858B-5306-4DD1-96EA-370E66CC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88" y="2914650"/>
            <a:ext cx="51911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1,0000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FA1E3EE-879B-4C94-B307-CFF632C6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19FE4B2-71CC-4F56-999E-86DB9E9C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24225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90AE97-7CCB-4455-93FF-D925A8C9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044" y="325755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1E37F4A-F869-48E8-9AFF-98F38AC9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69" y="332422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52298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837B030-A37F-4CB6-880F-46B735EB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151" y="3257550"/>
            <a:ext cx="110585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8ABD9CB-65EC-4259-8A0C-69CB5C92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776" y="3324225"/>
            <a:ext cx="10106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2726216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120F483-8F12-4147-B591-67AD82D2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004" y="3257550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67B2AD3-F9C0-44AA-BFA5-58594249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629" y="3324225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-24,46%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3F50A03-1C29-4778-9FF3-24A0F0A0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548" y="325755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DDC62F-C812-43CE-9214-3F0F3551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73" y="332422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-18,75%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CA1522F-DA81-4693-9743-200C0999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655" y="3257550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C89BE5B-32B3-4C33-AA88-F9B115BA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280" y="3324225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8B3EB9D-8C65-4969-9F9F-AA8386DF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763" y="3257550"/>
            <a:ext cx="61436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171CA10-8D99-455F-8A6D-7777A4B8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88" y="3324225"/>
            <a:ext cx="51911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1,0000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D440F76-679B-481A-B13E-DFCAA2DC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5F5630E-44B4-47CD-BD07-6F0B7B2F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33800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1B15749-A31D-41D3-9FEE-8AA43797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044" y="366712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96AEA36-28C9-4B7D-BDFF-6735C01D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69" y="373380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32609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0B2E308-AD8B-45DD-B1DB-57CD4977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151" y="3667125"/>
            <a:ext cx="110585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7A404B4-638C-4DB2-9423-5F185BFA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776" y="3733800"/>
            <a:ext cx="10106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2737437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D0C9F9F-CB7E-4B35-BBE6-9640E5FA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004" y="3667125"/>
            <a:ext cx="921544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342274E-604D-4FA7-AF84-60DDC812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629" y="3733800"/>
            <a:ext cx="826294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D0E8EEB-2E08-4293-8D78-816A2B73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548" y="366712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7E05D44-9F05-4546-A2AA-F7B037B6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73" y="373380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96F0C18-BC1E-4AF5-9F87-DE5801F0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0655" y="3667125"/>
            <a:ext cx="860108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A92C72B-6940-4A5E-9439-E9C9D6B6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280" y="3733800"/>
            <a:ext cx="764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-52,14%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D74C0A6-F1FF-4071-818C-B68CB80F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763" y="3667125"/>
            <a:ext cx="614363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8D8D2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D354444-5921-4566-AE5E-923EDB6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388" y="3733800"/>
            <a:ext cx="51911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818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818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1,0000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F51FF33-F473-41CA-A63F-2B49EEE1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19250"/>
            <a:ext cx="4619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c7d3f597c44ec"/>
          <a:stretch xmlns:a="http://schemas.openxmlformats.org/drawingml/2006/main"/>
        </p:blipFill>
        <p:spPr>
          <a:xfrm xmlns:a="http://schemas.openxmlformats.org/drawingml/2006/main">
            <a:off x="7467167" y="1695450"/>
            <a:ext cx="3782291" cy="2600325"/>
          </a:xfrm>
          <a:prstGeom xmlns:a="http://schemas.openxmlformats.org/drawingml/2006/main" prst="rect">
            <a:avLst/>
          </a:prstGeom>
        </p:spPr>
      </p:pic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B33DF9D-7E25-4756-94B8-30EDBEEC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52925"/>
            <a:ext cx="4391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788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Выигрыш по методам при уточненных границах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988CC1F-B944-4F0A-9FF5-455C13FC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95300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71F8C4C-53E7-486C-B39E-0AAD6F3B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5048250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7F461E3-200A-4C86-B417-349C6D4E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54483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лучший score: GA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BCDAF6D-2416-485A-8AFC-9D18AA5E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53000"/>
            <a:ext cx="171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5878CE9-A603-4CC8-A3A5-2C2C6AD2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048250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4BED5C5-89E0-4D8F-A17E-816B8A28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4483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кривые: PSO</a:t>
            </a:r>
          </a:p>
        </p:txBody>
      </p:sp>
    </p:spTree>
    <p:extLst>
      <p:ext uri="{BB962C8B-B14F-4D97-AF65-F5344CB8AC3E}">
        <p14:creationId xmlns:p14="http://schemas.microsoft.com/office/powerpoint/2010/main" val="149300539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FEA777-1DF5-4813-AEEB-58DFA3D8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41668-BACC-4821-9ABA-65BB8F85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C9F86-D516-4E67-946E-653B5217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A40EB-3F23-4A36-A707-7E6F093B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F1193-E398-4560-9F98-C4AF5E87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6CB55-31EB-41EE-B15D-6DF3CAB7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B67C79-099D-40DD-9658-522F9090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5EFF2F-7213-40DC-AEA7-6D00952D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12/18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5F9A6A-5BE8-4EBE-BB56-85BA2A64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F6297-3F5F-4DE0-80AF-F3AE3DDC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9CBAEB-C883-445E-B30B-60843BAB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E1A7C-3107-4C7D-9240-6D8E2D48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71625"/>
            <a:ext cx="5334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d867274094537"/>
          <a:stretch xmlns:a="http://schemas.openxmlformats.org/drawingml/2006/main"/>
        </p:blipFill>
        <p:spPr>
          <a:xfrm xmlns:a="http://schemas.openxmlformats.org/drawingml/2006/main">
            <a:off x="1330325" y="1647825"/>
            <a:ext cx="3721100" cy="279082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20A419-CAB3-45BB-A174-D6F20B1F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95800"/>
            <a:ext cx="510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788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Компромисс между временем оптимизации и выигрышем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A3580-C250-4653-8128-CE28F964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334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326561ccc49fd"/>
          <a:stretch xmlns:a="http://schemas.openxmlformats.org/drawingml/2006/main"/>
        </p:blipFill>
        <p:spPr>
          <a:xfrm xmlns:a="http://schemas.openxmlformats.org/drawingml/2006/main">
            <a:off x="6768465" y="1647825"/>
            <a:ext cx="4465320" cy="279082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850575-064E-492B-B2BB-29ED48AB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95800"/>
            <a:ext cx="510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788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PSO: распределение числа кривых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CD094-3B16-4B2E-B2F4-CB7EBAA9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958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0">
            <a:solidFill>
              <a:srgbClr val="EAF5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CC5DDE-59D9-4189-9AC5-C932DF0F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4350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863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GA: время + 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65AF1D-D582-4683-A7FA-5EEAEE5E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50958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7F3"/>
          </a:solidFill>
          <a:ln xmlns:a="http://schemas.openxmlformats.org/drawingml/2006/main" w="0">
            <a:solidFill>
              <a:srgbClr val="EEE7F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E3547E-1BA7-4FAC-B972-6546DA9E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14350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863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 кривые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FAF8BD-93C7-498B-A862-89894CD2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0958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BE2"/>
          </a:solidFill>
          <a:ln xmlns:a="http://schemas.openxmlformats.org/drawingml/2006/main" w="0">
            <a:solidFill>
              <a:srgbClr val="FCEB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87DEDB-5B65-42BD-AEC0-1DCAD2B3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4350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863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 компромисс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7DA9A-1CDA-4E4D-B142-AB38E693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0958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C"/>
          </a:solidFill>
          <a:ln xmlns:a="http://schemas.openxmlformats.org/drawingml/2006/main" w="0">
            <a:solidFill>
              <a:srgbClr val="EAF5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CF9E38-C1B5-4815-8022-F1F0172B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4350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863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 разведка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0CC86D-0FAB-4DD6-8B98-BF365377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0958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2"/>
          </a:solidFill>
          <a:ln xmlns:a="http://schemas.openxmlformats.org/drawingml/2006/main" w="0">
            <a:solidFill>
              <a:srgbClr val="F5F5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60D075-B435-4C32-8FB2-ABB554A7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14350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RS: baseline</a:t>
            </a:r>
          </a:p>
        </p:txBody>
      </p:sp>
    </p:spTree>
    <p:extLst>
      <p:ext uri="{BB962C8B-B14F-4D97-AF65-F5344CB8AC3E}">
        <p14:creationId xmlns:p14="http://schemas.microsoft.com/office/powerpoint/2010/main" val="6404902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BA5D14-F742-4C27-A8EF-5D8F69DC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02F39-BF7D-474B-BF18-A57A0720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D4C15-370D-4DCD-8A92-F7555EF2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52BF5-3FFC-415F-B870-78C669DE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0FB36-3CCA-4EF3-8A2A-72799AAB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99B77-7E26-4F63-BBEE-0AFBBC3A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777C6-6E1F-48B5-BC15-7DA78024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25650-1937-4A53-9AD6-5C5EBB9A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13/18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D8019-8B56-4EFD-8CEE-14B06A64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C3F1E-52BE-49EE-B67B-B304D19C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0DABB8-D9D8-450C-9B12-9318AA9C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Выбор B1/B2 рассмотрен как воспроизводимая black-box оптимизация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B95A87-402A-4732-BF53-4A1E023E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62125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17C7F6-4993-43DB-AC27-8B8D665C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62125"/>
            <a:ext cx="47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31E5A0-7265-4C05-AC12-D775E063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95475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C2BBF2-025D-4931-95E7-30867266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8384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B1/B2 задаются как переменные constrained black-box задачи с шумной эмпирической оценкой.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BB5ABE-0ABA-4EDD-94B0-707226AF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62125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38A3AC-7B9E-4CDA-AE72-3E2FAFEF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62125"/>
            <a:ext cx="47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66E9E-D708-41AB-B163-05E038CA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895475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2613A3-D7E1-460F-B4C9-A02DE0A7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171700"/>
            <a:ext cx="28384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3F9F44-AF17-4BE2-B37D-E42CEA1E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14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AEEAEA-8A1F-492F-B72C-76CB177E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47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58EE59-FB94-4D24-A1EC-4CE8513D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95475"/>
            <a:ext cx="2838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E51AB9-157C-48CA-AA14-BE080E6B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71700"/>
            <a:ext cx="28384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45480C-0B2D-44FA-A8AC-7E1D1021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 параметры ECM рассмотрены как объект автоматической конфигурации алгоритма.</a:t>
            </a:r>
          </a:p>
        </p:txBody>
      </p:sp>
    </p:spTree>
    <p:extLst>
      <p:ext uri="{BB962C8B-B14F-4D97-AF65-F5344CB8AC3E}">
        <p14:creationId xmlns:p14="http://schemas.microsoft.com/office/powerpoint/2010/main" val="25430038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024457-EF5C-4252-8DC8-FE799AF9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0E391-A64F-42E5-8B0A-FDA41686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D8852-4947-4CCB-9089-B914D0DE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8EE41-EC03-4DBC-8B47-220F4CD0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4A35F-1FFF-4B02-BD54-8681EDE2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7071F-36A4-46A5-8F63-9150DDA7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F00E3-31C8-4E8A-B330-797B4F57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0408F-2576-4369-BCF0-BF8B4C8D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14/18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77681-C45B-43FB-9DDB-CAE1B13E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113EF-F866-4E49-86E8-F2D910C8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9C7B9-44D7-44FA-92A6-E7D9C1F8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Результат работы — процедура и инструмент локальной настройки ECM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11AF7-2E95-49F7-BE7A-68B8F756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2AB9F-56CD-4629-937E-7473A3A4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62125"/>
            <a:ext cx="504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CD6B6-C897-4B72-B032-41B674BE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907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F82D4-9BDB-475C-A5A7-49F71ADF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95525"/>
            <a:ext cx="504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C7F5CE-44B5-43DC-982C-A3575D55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241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474C48-B708-476A-90A8-52B05F82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504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453DF-D996-4C8E-BA6C-8CD3CF50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57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3B2854-9B5E-4E3E-A81A-287D2643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62325"/>
            <a:ext cx="504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FEC7FD-B101-4EFA-9AE8-92E565E7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1450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C59342-3E1A-4070-8300-8613A880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145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656DE7-C09F-4B80-BFA6-8D41C53A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4785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FF8715-995A-4B6B-9EAD-B10315F1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24075"/>
            <a:ext cx="3695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Использовать таблицы GMP-ECM как стартовый эталон.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21E011-9A02-4368-B72C-76631046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8130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2A3105-B534-4AC5-9E1B-053189F5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813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7A2618-FAD5-4B02-BF1D-AD6A32D6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1465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441EEA-3DDD-42BC-80B6-6D099FE2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90875"/>
            <a:ext cx="3695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Настраивать параметры в два этапа: широкий поиск, затем уточнение.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4EDA07-B707-47AF-888A-F972A5EB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48100"/>
            <a:ext cx="400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8FEF1A-E4E2-4D38-929D-25DB0687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481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CB99F0-8DF5-4B15-8587-F786C2DC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8145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DDC486-4F60-466E-90CC-95D4199C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57675"/>
            <a:ext cx="3695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00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Обязательно проверять найденные параметры на control-наборе.</a:t>
            </a:r>
          </a:p>
        </p:txBody>
      </p:sp>
    </p:spTree>
    <p:extLst>
      <p:ext uri="{BB962C8B-B14F-4D97-AF65-F5344CB8AC3E}">
        <p14:creationId xmlns:p14="http://schemas.microsoft.com/office/powerpoint/2010/main" val="67165977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209FB6-749B-4B5F-AB83-92B46BBB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50F8E-1700-4038-BD48-8F81C86E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1CC4B-8852-46F4-95C1-D66270F4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32A5A-76D8-47DE-8B5B-58B230F1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9EC1-A7B2-453D-AD47-F4FEE1CB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1A3EF-256F-4C8B-90FB-7521CABE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A5D4A3-E1BB-4AC4-B48D-019D218E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1957C-88E1-4251-A810-75025B2D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15/18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B83D2-46B9-4701-8F1A-3296A39B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118334-215E-4E43-87F6-AC129344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7C4D0D-4164-4120-96ED-7CCF7305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Апробация результатов является экспериментальной и программной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DCB9F-8B3B-4A36-BC25-63C7B5CE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4572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353E0D-0DE6-4E0B-B14D-FEE04B55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47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A0810-9478-4CB6-8BD1-98816807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431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FD974B-EBD6-4AE1-8E1D-185E5044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19325"/>
            <a:ext cx="4267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Эксперименты выполнены на ресурсах суперкомпьютерного центра СПбПУ. Использовалась среда SLURM. Найденные параметры проверены на независимой контрольной выборке.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8DBEF-8D6B-4C05-AE72-E408EEA9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4572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45E7CF-F3BC-486E-BA1E-DD8FC908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47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889A3E-269F-491D-B042-7B358E7C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431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2501F2-07E7-487E-92B7-22936D19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9325"/>
            <a:ext cx="4267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27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Реализован и проверен pipeline от генерации данных до анализа результатов. Сохраняются seed, параметры запусков, отчеты, таблицы и графики.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007AD-3F62-4A46-86B0-DD87F553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91050"/>
            <a:ext cx="8191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3062"/>
          </a:solidFill>
          <a:ln xmlns:a="http://schemas.openxmlformats.org/drawingml/2006/main" w="0">
            <a:solidFill>
              <a:srgbClr val="3730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872AE-C05C-44DE-84CC-F3430B39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62500"/>
            <a:ext cx="7524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Публикаций и конференционных выступлений по теме ВКР нет.</a:t>
            </a:r>
          </a:p>
        </p:txBody>
      </p:sp>
    </p:spTree>
    <p:extLst>
      <p:ext uri="{BB962C8B-B14F-4D97-AF65-F5344CB8AC3E}">
        <p14:creationId xmlns:p14="http://schemas.microsoft.com/office/powerpoint/2010/main" val="49813827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6CFE19-1A41-4568-A1F8-AE1B59F0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8639B-DC06-444A-A01B-52579507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3C51C-445F-4753-87C2-26DE1002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867FF-74DE-4B77-A148-1939C137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16F22-F889-4657-825A-E92A0884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8976B-CB01-4BB6-91FB-9263206B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B6A42-FBC7-4CEC-AF84-5A8AD895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8A607-BE2E-4FC2-9F59-CF8A6F2E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16/18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D4049-6B18-42C3-940F-E8E2D5CC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C338A-76E7-454B-A18B-8CAFCF5E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ВЫВОДЫ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1CC6-9E30-4965-B827-EC987121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Цель достигнута: система разработана, проверена и дала улучшение эталона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D89B9-2B88-4B66-AA06-A8F66B97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763F1-9103-44DA-9E0F-56403AD7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809750"/>
            <a:ext cx="2305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01AB6-6404-49AA-83FF-303F3D72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209800"/>
            <a:ext cx="2305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до снижения валидационной метрики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3985C9-935E-4788-B781-C4F87528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714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A1B780-A264-40F0-876A-5244AC8B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809750"/>
            <a:ext cx="2305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0FB54-A317-4B7D-A709-ECF77DEC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209800"/>
            <a:ext cx="2305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до снижения среднего времени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7BC86-48B5-4CBD-8DC7-8C0067E1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14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5479B-77FE-4E45-8649-B3529CE7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09750"/>
            <a:ext cx="2305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765315-A690-4684-A1C4-E5B6B335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305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63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до снижения числа кривых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9C180-C61E-48E7-8230-788688A7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53200A-0E42-4A9F-9F91-63745CF3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3375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Формализована black-box постановка выбора B1/B2.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DD7D3D-CD02-4223-B62D-D0292B1C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7FDC57-D826-4A85-B8EB-E8C364EC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9095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Реализован pipeline генерации, оптимизации, валидации и анализа.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E44D2B-A43A-41AC-B33A-E55B8ED6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18FF2B-C911-46E2-9BA4-4FA759E0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4815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Сравнены RS, DE, GA, PSO и BO при едином протоколе.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1FDA68-C6A0-4059-919B-F726F814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00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54B2A3-6D14-40F1-AE23-94FE41A2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70535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425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Справочные параметры GMP-ECM улучшены для 20-значных делителей.</a:t>
            </a:r>
          </a:p>
        </p:txBody>
      </p:sp>
    </p:spTree>
    <p:extLst>
      <p:ext uri="{BB962C8B-B14F-4D97-AF65-F5344CB8AC3E}">
        <p14:creationId xmlns:p14="http://schemas.microsoft.com/office/powerpoint/2010/main" val="33654369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2AD812-CDA1-4763-87B0-16E3ECD4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2B391-20FD-4AED-92F4-997135EE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5CF91-0E3E-410C-8353-002A416F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920FAB-D8EC-4508-AC7B-2489D5DA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7124D-7F25-4DBB-A97C-ED1EDCE7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A4438-0A98-4044-B693-0F8E1112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63532-C6EF-4026-B846-4D6C1C36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66FD9-BEBD-4850-829D-F054CE2D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17/18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1D00AC-587A-4E46-B635-78771215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AF6D2-E2B5-42DC-A871-C39DC394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825" b="1">
                <a:solidFill>
                  <a:srgbClr val="565E66"/>
                </a:solidFill>
                <a:latin typeface="Onest"/>
                <a:ea typeface="Onest"/>
                <a:cs typeface="Onest"/>
              </a:rPr>
              <a:t>ПЕРСПЕКТИВЫ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AAFB6-B206-4B50-98B2-AE80ECEC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09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Следующий шаг — проверить переносимость результата за пределами 20-значных делителей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1A82B-4902-4598-B31C-EF83F74A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19250"/>
            <a:ext cx="4333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38730-4A15-4FD8-8ED6-AE52CCF8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192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8ADBE-F6B3-4DA6-9674-64301336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752600"/>
            <a:ext cx="402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РАЗМЕРЫ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0E50AE-0DCB-4D30-AB44-768B351B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28825"/>
            <a:ext cx="4029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63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25-, 30-, 35-значные и более крупные делители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68625-90DB-4DFE-A2D1-214460F8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19250"/>
            <a:ext cx="4333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D4713-C1A4-4674-A265-9E29CB49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192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F748A-6FD2-4BAD-9443-E0256A62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752600"/>
            <a:ext cx="402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КЛАССЫ ЧИСЕЛ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C7B833-E942-4236-9FDA-33BBCDA2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028825"/>
            <a:ext cx="4029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63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Мерсенна, Ферма, s^n +/- 1, реальные NFS-кофакторы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573BF0-42B5-4818-AEBB-92C49896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86050"/>
            <a:ext cx="4333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675514-EFFE-418C-BB0A-300A7866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860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882B99-F324-4AFF-92DD-2C7B1560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819400"/>
            <a:ext cx="402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BEB94-1FE7-4C0C-9F62-8141C71D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4029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63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разные платформы и версии GMP-ECM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EC73FC-5CD1-418B-AB07-D1F79520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86050"/>
            <a:ext cx="4333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C40F6-F2FA-4675-9DEC-1B3CF526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860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FBE8F7-0D21-4344-8D0C-C24FE76C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19400"/>
            <a:ext cx="402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СТАТИСТИКА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5197D9-1EBB-456F-BEC5-FFED0E59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095625"/>
            <a:ext cx="4029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63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больше seed и независимых control-наборов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04291C-B9AA-4D32-B54C-409728B1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52850"/>
            <a:ext cx="4333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47251D-0717-446C-A367-7EB805A6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528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B8E05E-CBB6-4696-8589-3FB01CC9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886200"/>
            <a:ext cx="402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СТОИМОСТЬ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153855-10E8-4940-8A5D-F43C93EE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162425"/>
            <a:ext cx="4029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63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выигрыш на один процессорный час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1E507B-0B96-497E-83C0-FC4AF8AA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52850"/>
            <a:ext cx="43338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28B437-8E71-44BD-B1BE-6D9D7B87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528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49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5F31CE-AB2B-4AF2-8B61-835B5C42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886200"/>
            <a:ext cx="40290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788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АДАПТИВНОСТЬ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F26098-6ED2-4052-8D62-E0019075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162425"/>
            <a:ext cx="4029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1163" b="0">
                <a:solidFill>
                  <a:srgbClr val="111318"/>
                </a:solidFill>
                <a:latin typeface="Onest"/>
                <a:ea typeface="Onest"/>
                <a:cs typeface="Onest"/>
              </a:rPr>
              <a:t>остановка оптимизации и бюджет поиска</a:t>
            </a:r>
          </a:p>
        </p:txBody>
      </p:sp>
    </p:spTree>
    <p:extLst>
      <p:ext uri="{BB962C8B-B14F-4D97-AF65-F5344CB8AC3E}">
        <p14:creationId xmlns:p14="http://schemas.microsoft.com/office/powerpoint/2010/main" val="135699141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F2625B-74A1-432E-89DB-A06B93A6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F28DE-87AA-41D8-908A-11CC1F1A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D324A-C77F-440E-9D1D-F7A76BB3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3AF8D1-04E4-4B88-ABA6-D4CDEEC8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865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526A6-B67D-41D8-BA38-0DB341F8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28650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0A208-14B5-4065-A126-9176ABB1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0325"/>
            <a:ext cx="4953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85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9F705-CD9A-44D0-8F59-44873752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99060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54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0D5B6-B2FB-44D4-9ACE-D52E3830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86525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9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18/18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BEE3D-9DA9-4CEE-A009-2D3A9B37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782F5-A824-4878-87E2-8F01C5B3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0"/>
            <a:ext cx="13335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742E57-38E0-4DCD-845D-F24CCFF6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0"/>
            <a:ext cx="762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7D243-D895-45D0-8662-23B75848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287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420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Спасибо за внимание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03400-62B9-4ED0-B693-C1E5FE57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E66"/>
                </a:solidFill>
                <a:latin typeface="Onest"/>
                <a:ea typeface="Onest"/>
                <a:cs typeface="Onest"/>
              </a:defRPr>
            </a:pPr>
            <a:r>
              <a:rPr sz="1500" b="0">
                <a:solidFill>
                  <a:srgbClr val="565E66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D8B24C-F45E-43AF-9736-2D3F035D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B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445E0-821F-45B5-95C7-3C06EC94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19500"/>
            <a:ext cx="2000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28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1077F-7E64-4844-82D8-7CE6FB72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0"/>
            <a:ext cx="114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76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D5163C-5679-473A-AEE9-77C3B9C6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91000"/>
            <a:ext cx="571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318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111318"/>
                </a:solidFill>
                <a:latin typeface="Onest"/>
                <a:ea typeface="Onest"/>
                <a:cs typeface="Onest"/>
              </a:rPr>
              <a:t>Готов ответить на вопросы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935B2-4086-4BD5-B04E-D09808BA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95875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350" b="0">
                <a:solidFill>
                  <a:srgbClr val="522878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</p:spTree>
    <p:extLst>
      <p:ext uri="{BB962C8B-B14F-4D97-AF65-F5344CB8AC3E}">
        <p14:creationId xmlns:p14="http://schemas.microsoft.com/office/powerpoint/2010/main" val="10925094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2026-05-25T11:06:25.9370000Z</dcterms:created>
  <dcterms:modified xsi:type="dcterms:W3CDTF">2026-05-25T11:06:25.9370000Z</dcterms:modified>
</coreProperties>
</file>