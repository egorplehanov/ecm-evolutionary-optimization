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4927"/>
    <a:srgbClr val="37B34A"/>
    <a:srgbClr val="5228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>
        <p:scale>
          <a:sx n="66" d="100"/>
          <a:sy n="66" d="100"/>
        </p:scale>
        <p:origin x="-162" y="9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Добрый день, уважаемый председатель и уважаемые члены государственной экзаменационной комиссии.</a:t>
            </a:r>
            <a:br/>
            <a:br/>
            <a:r>
              <a:t>Вашему вниманию представляется выпускная квалификационная работа на тему: «Автоматизация подбора параметров алгоритма факторизации больших чисел с применением эллиптических кривых на основе эвристических методов оптимизации».</a:t>
            </a:r>
            <a:br/>
            <a:br/>
            <a:r>
              <a:t>Руководитель кандидат физико-математических наук Пак Вадим Геннадьевич </a:t>
            </a:r>
            <a:br/>
            <a:br/>
            <a:r>
              <a:t>Работа посвящена автоматическому выбору параметров метода ECM, то есть метода факторизации на эллиптических кривых. Основной акцент сделан не на разработке новой реализации ECM, а на построении воспроизводимой системы, которая подбирает параметры существующей реализации GMP-ECM и проверяет выигрыш относительно справочных параметров.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Факторизация больших целых чисел является важной задачей вычислительной теории чисел и прикладной криптографии. В частности, стойкость RSA основана на предположении, что по произведению больших простых чисел трудно восстановить сами множители.</a:t>
            </a:r>
            <a:br/>
            <a:br/>
            <a:r>
              <a:t>На практике факторизация редко выполняется одним методом. Обычно используется цепочка алгоритмов: специализированные методы ищут малые и средние делители, а методы общего назначения, например квадратичное решето (QS, Quadratic Sieve) или общее решето числового поля (GNFS, General Number Field Sieve), применяются для более крупных кофакторов.</a:t>
            </a:r>
            <a:br/>
            <a:br/>
            <a:r>
              <a:t>Метод эллиптических кривых (ECM, Elliptic Curve Method) занимает в этой цепочке важное место, потому что эффективен при поиске сравнительно небольшого простого делителя в большом составном числе. Поэтому массовые ECM-запуски встречаются в предварительной факторизации, кофакторизации и распределённых вычислениях. Даже умеренное снижение времени или числа кривых в таких сценариях даёт заметную экономию ресурсов.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Цель работы состоит в разработке и исследовании программной системы, которая автоматически подбирает параметры ECM с использованием эвристических методов оптимизации и снижает эмпирическую оценку ожидаемой стоимости нахождения делителя по сравнению со справочными параметрами GMP-ECM.</a:t>
            </a:r>
            <a:br/>
            <a:br/>
            <a:r>
              <a:t>Для достижения цели были решены следующие задачи: проведен обзор алгоритмов факторизации и роли ECM, рассмотрено влияние параметров B1 и B2, подбор параметров формализован как стохастическая оптимизация «черного ящика», реализован программный pipeline, проведены вычислительные эксперименты и выполнено сравнение найденных параметров со справочными значениями GMP-ECM.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Объектом исследования является алгоритм факторизации целых чисел методом эллиптических кривых и его реализация в GMP-ECM.</a:t>
            </a:r>
            <a:br/>
            <a:br/>
            <a:r>
              <a:t>Предметом исследования является автоматизированный выбор параметров B1 и B2 с применением эвристических методов оптимизации.</a:t>
            </a:r>
            <a:br/>
            <a:br/>
            <a:r>
              <a:t>Исследовательская гипотеза состоит в следующем: если класс чисел, вычислительная среда и метрика качества заранее известны, то параметры B1 и B2 можно подобрать автоматически лучше справочных значений. При этом таблицы GMP-ECM рассматриваются как сильные базовые значения, а не как слабая точка сравнения.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Метод ECM, или метод эллиптических кривых Ленстры, является вероятностным методом факторизации. Его идея состоит в использовании групп точек случайных эллиптических кривых. Успех одной кривой связан с гладкостью порядка группы по неизвестному простому делителю p.</a:t>
            </a:r>
            <a:br/>
            <a:br/>
            <a:r>
              <a:t>Ключевыми параметрами практического ECM являются B1 и B2. B1 задает границу первой стадии алгоритма, а B2 - границу второй стадии. Увеличение этих параметров повышает вероятность успеха одной кривой, но одновременно увеличивает стоимость ее обработки.</a:t>
            </a:r>
            <a:br/>
            <a:br/>
            <a:r>
              <a:t>Отсюда возникает основной компромисс: параметры должны обеспечивать не только высокую вероятность успеха, но и минимальную ожидаемую стоимость нахождения делителя.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 работе рассматривается набор составных чисел. Управляемыми параметрами являются B1 и B2. Поскольку эти значения меняются на порядки, оптимизация выполняется в логарифмическом пространстве: кандидат задается как пара log10 от B1 и B2.</a:t>
            </a:r>
            <a:br/>
            <a:br/>
            <a:r>
              <a:t>На параметры накладываются ограничения: допустимые диапазоны B1 и B2, условие B1 меньше либо равно B2, а также ограничение на отношение B2 к B1. Это исключает некорректные и практически нецелесообразные конфигурации.</a:t>
            </a:r>
            <a:br/>
            <a:br/>
            <a:r>
              <a:t>Целевая функция не имеет простой аналитической формулы. Чтобы оценить одну пару параметров, необходимо запустить GMP-ECM на наборе чисел и измерить долю успеха, время и число кривых. Поэтому задача является дорогой стохастической оптимизацией «черного ящика».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Для сравнения параметров используется композитная метрика score. Она учитывает штраф за недостаточную долю успешных факторизаций, среднее время выполнения и среднее число кривых. Метрика минимизируется.</a:t>
            </a:r>
            <a:br/>
            <a:br/>
            <a:r>
              <a:t>Приоритет такой: сначала важно сохранить высокую долю успеха, затем снизить время, а затем число кривых. Это важно, потому что слишком малые параметры могут сделать отдельные запуски быстрыми, но ненадежными.</a:t>
            </a:r>
            <a:br/>
            <a:br/>
            <a:r>
              <a:t>Для проверки используется разделение на тренировочные и контрольные наборы. Оптимизатор подбирает параметры на тренировочном наборе, а итоговая оценка выполняется на независимом контрольном наборе. Это снижает риск переоценки результата из-за стохастичности ECM и самих оптимизаторов.</a:t>
            </a:r>
            <a:br/>
            <a:br/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 работе использованы пять методов оптимизации.</a:t>
            </a:r>
            <a:br/>
            <a:br/>
            <a:r>
              <a:t>Случайный поиск (Random Search, RS) служит базовым ориентиром. Дифференциальная эволюция (Differential Evolution, DE) представляет популяционный направленный поиск. Генетический алгоритм (Genetic Algorithm, GA) использует селекцию, скрещивание, мутацию и элитизм. Роевой алгоритм, или метод роя частиц (Particle Swarm Optimization, PSO), моделирует движение частиц с учетом личного и коллективного опыта. Байесовская оптимизация (Bayesian Optimization, BO) строит суррогатную модель дорогой целевой функции.</a:t>
            </a:r>
            <a:br/>
            <a:br/>
            <a:r>
              <a:t>Такой набор позволяет сравнить разные стратегии поиска: простую случайную, эволюционную, роевую и суррогатную.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 своей работе я опирался на Python 3, который стал основой моего исследовательского конвейра. Для реализации метода ECM я привлекал внешнюю библиотеку GMP-ECM, а численные расчёты и оптимизацию выполнял с помощью NumPy и SciPy. Визуализацию результатов я строил через Matplotlib, за удобный интерфейс командной строки отвечала библиотека Click. Весь код я контролировал в Git, а все ресурсоёмкие запуски выносил в HPC-среду под управлением SLURM.</a:t>
            </a:r>
            <a:br/>
            <a:br/>
            <a:r>
              <a:t>Практическим результатом работы является программный комплекс на Python, организованный как пакет ecm_optimizer.</a:t>
            </a:r>
            <a:br/>
            <a:br/>
            <a:r>
              <a:t>Система покрывает полный цикл эксперимента: генерацию датасетов, запуск GMP-ECM, расчет fitness, работу оптимизаторов, независимую валидацию и анализ результатов. Для управления реализованы CLI-команды generate, optimize, validate, run-plan и analyze.</a:t>
            </a:r>
            <a:br/>
            <a:br/>
            <a:r>
              <a:t>Архитектурно важно, что оптимизаторы не вызывают GMP-ECM напрямую. Они передают кандидатов в единый fitness evaluator, который по одинаковым правилам выполняет запуск и учет результатов. Это делает сравнение методов сопоставимым.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Эксперименты проводились на составных числах вида N равно p умножить на q. Целевой простой делитель p имел 20 десятичных цифр, а кофактор q - 30 десятичных цифр. Для каждого эксперимента формировались обучающая и контрольная выборки по 80 чисел.</a:t>
            </a:r>
            <a:br/>
            <a:br/>
            <a:r>
              <a:t>В качестве эталона использовались справочные параметры GMP-ECM для 20-значного делителя: B1 равно 11000 и B2 равно 1_900_000. Ожидаемое число кривых для такого режима составляет около 74.</a:t>
            </a:r>
            <a:br/>
            <a:br/>
            <a:r>
              <a:t>Методика включала два этапа: сначала широкие границы поиска для локализации перспективной области, затем уточненные границы с ограничением отношения B2 к B1. Основные расчеты были выполнены на ресурсах суперкомпьютерного центра СПбПУ с использованием SLURM системы.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 первом, разведочном этапе все пять методов нашли параметры, которые улучшили справочные значения GMP-ECM.</a:t>
            </a:r>
            <a:br/>
            <a:br/>
            <a:r>
              <a:t>Снижение валидационной метрики составило от 20 до 23 процентов. Среднее время уменьшилось на 18-19 процентов. Среднее число кривых сократилось на 35-52 процента.</a:t>
            </a:r>
            <a:br/>
            <a:br/>
            <a:r>
              <a:t>Главный результат этого этапа - локализация эффективной области. Все методы пришли к значениям B1 порядка 21-34 тысяч и B2 порядка 2-3,3 миллиона. Это выше справочных B1 и B2, но такая настройка уменьшает как среднее число необходимых кривых, так и время факторизации.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 втором этапе использовались уточненные границы, включая ограничение B2/B1 не более 1000. Этот этап является основным для итоговой интерпретации.</a:t>
            </a:r>
            <a:br/>
            <a:br/>
            <a:r>
              <a:t>Все методы снова улучшили эталон по валидационной метрике и среднему времени. Наиболее сильный общий результат показал генетический алгоритм: при при найденных параметрах B1 и B2 снижение валидационной метрики составило 25 процентов, а снижение среднего времени - 21 процент.</a:t>
            </a:r>
            <a:br/>
            <a:br/>
            <a:r>
              <a:t>Роевой алгоритм PSO показал максимальное сокращение числа кривых: 62 процента. Дифференциальная эволюция дала устойчивый компромисс: снижение метрики на 22 процента, времени на 17 процента и числа кривых на 51 процента.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Сравнение методов показывает, что один универсально лучший метод для всех практических целей выделять некорректно. Разные методы дают разные полезные профили.</a:t>
            </a:r>
            <a:br/>
            <a:br/>
            <a:r>
              <a:t>GA оказался наиболее убедительным по суммарному качеству и времени. PSO особенно интересен там, где критично уменьшить число кривых. DE показал ровный компромисс без провалов. BO был полезен на широком этапе поиска, а RS, несмотря на простоту, также улучшил эталон и может служить быстрым ориентиром.</a:t>
            </a:r>
            <a:br/>
            <a:br/>
            <a:r>
              <a:t>Главный практический вывод состоит в том, что таблицы GMP-ECM целесообразно рассматривать как надежную стартовую точку, но не как окончательный ответ для всех вычислительных условий.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Научная новизна работы заключается в том, что выбор параметров B1 и B2 был формализован как эмпирическая стохастическая задача оптимизации «черного ящика» с ограничениями.</a:t>
            </a:r>
            <a:br/>
            <a:br/>
            <a:r>
              <a:t>Кроме того, в едином воспроизводимом конвеере были сопоставлены пять эвристических методов, а итоговые параметры проверялись на независимой контрольной выборке.</a:t>
            </a:r>
            <a:br/>
            <a:br/>
            <a:r>
              <a:t>Теоретическая значимость состоит в рассмотрении выбора параметров ECM как задачи автоматической конфигурации алгоритма. Такой подход явно учитывает компромисс между вероятностью успеха одной кривой, стоимостью обработки кривой и средним числом кривых до нахождения делителя.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Практическая значимость состоит в разработке программной системы, которая выполняет полный цикл вычислительного эксперимента: генерацию данных, запуск GMP-ECM, расчет метрики, оптимизацию, валидацию и анализ.</a:t>
            </a:r>
            <a:br/>
            <a:br/>
            <a:r>
              <a:t>Система может использоваться для локальной настройки ECM под конкретную платформу, версию GMP-ECM, класс чисел, вычислительный бюджет и выбранную метрику качества.</a:t>
            </a:r>
            <a:br/>
            <a:br/>
            <a:r>
              <a:t>Основные рекомендации следующие: использовать таблицы GMP-ECM как стартовый эталон, выполнять настройку в два этапа, обязательно проверять параметры на независимой контрольной выборке и сохранять seed, датасеты, версии инструментов и результаты запусков.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Апробация результатов выполнена через вычислительные эксперименты и воспроизводимую программную проверку.</a:t>
            </a:r>
            <a:br/>
            <a:br/>
            <a:r>
              <a:t>Основные эксперименты были проведены с использованием ресурсов суперкомпьютерного центра Санкт-Петербургского политехнического университета Петра Великого. Для пакетного запуска использовалась среда SLURM.</a:t>
            </a:r>
            <a:br/>
            <a:br/>
            <a:r>
              <a:t>С программной стороны апробация выражается в том, что разработанный конвейр выполняет полный цикл от генерации данных до анализа результатов, а для запусков сохраняются параметры, seed, результаты оптимизации и валидации, таблицы и графики.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/>
              <a:t>Цель работы достигнута: разработана и исследована система автоматического подбора параметров ECM с применением эвристических методов оптимизации.</a:t>
            </a:r>
          </a:p>
          <a:p>
            <a:br/>
            <a:r>
              <a:rPr sz="1200" b="0"/>
              <a:t>Были решены поставленные задачи: проведен обзор ECM, рассмотрено влияние B1 и B2, сформулирована black-box постановка, реализован программный pipeline, проведено сравнение пяти методов и выполнена независимая валидация.</a:t>
            </a:r>
          </a:p>
          <a:p>
            <a:br/>
            <a:r>
              <a:rPr sz="1200" b="0"/>
              <a:t>Экспериментальная проверка на числах с 20-значным простым делителем показала, что автоматический подбор способен улучшить справочные параметры GMP-ECM: до 25 процента по валидационной метрике, до 21 процента по среднему времени и до 62 процента по среднему числу кривых.</a:t>
            </a:r>
          </a:p>
          <a:p>
            <a:br/>
            <a:br/>
            <a:br/>
            <a:r>
              <a:rPr sz="1200" b="0"/>
              <a:t>Основное ограничение текущих результатов состоит в том, что итоговый вывод относится к 20-значным делителям и конкретной вычислительной среде.</a:t>
            </a:r>
          </a:p>
          <a:p>
            <a:br/>
            <a:r>
              <a:rPr sz="1200" b="0"/>
              <a:t>Дальнейшие исследования должны включать эксперименты для более крупных делителей, проверку специальных классов чисел, оценку переносимости параметров между платформами и версиями GMP-ECM, увеличение числа seed и контрольных наборов.</a:t>
            </a:r>
          </a:p>
          <a:p>
            <a:br/>
            <a:r>
              <a:rPr sz="1200" b="0"/>
              <a:t>Также перспективны оценка эффективности на один процессорный час, адаптивная остановка оптимизации и более гибкое распределение вычислительного бюджета.</a:t>
            </a:r>
          </a:p>
          <a:p>
            <a:br/>
            <a:r>
              <a:rPr sz="1200" b="0"/>
              <a:t>Основной результат работы состоит в том, что для исследованного класса задач автоматический подбор параметров ECM позволил улучшить справочные параметры GMP-ECM по валидационной метрике, времени и числу кривых, а также был реализован воспроизводимый программный инструмент для таких экспериментов.</a:t>
            </a:r>
          </a:p>
          <a:p>
            <a:br/>
            <a:r>
              <a:rPr sz="1200" b="0"/>
              <a:t>На этом доклад завершен. Спасибо за внимание. Я готов ответить на ваши вопросы.</a:t>
            </a:r>
          </a:p>
          <a:p>
            <a:br/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10D4C83-66B6-4CA9-AD09-B92761E5257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00050" cy="68580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F5E46D7-5A3F-4B84-871B-9D9398BE0AF7}"/>
              </a:ext>
            </a:extLst>
          </p:cNvPr>
          <p:cNvSpPr>
            <a:spLocks noGrp="1"/>
          </p:cNvSpPr>
          <p:nvPr/>
        </p:nvSpPr>
        <p:spPr>
          <a:xfrm>
            <a:off x="400050" y="0"/>
            <a:ext cx="114300" cy="68580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905750" y="381000"/>
            <a:ext cx="4029795" cy="1515203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FDD4DEC-16F2-4006-A19F-E41AFF159B75}"/>
              </a:ext>
            </a:extLst>
          </p:cNvPr>
          <p:cNvSpPr>
            <a:spLocks noGrp="1"/>
          </p:cNvSpPr>
          <p:nvPr/>
        </p:nvSpPr>
        <p:spPr>
          <a:xfrm>
            <a:off x="1047749" y="1796366"/>
            <a:ext cx="7925921" cy="250563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25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32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 эллиптических кривых на основе эвристических методов оптимизации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5F1100F-7541-4CDA-8C19-B6BC76A9E580}"/>
              </a:ext>
            </a:extLst>
          </p:cNvPr>
          <p:cNvSpPr>
            <a:spLocks noGrp="1"/>
          </p:cNvSpPr>
          <p:nvPr/>
        </p:nvSpPr>
        <p:spPr>
          <a:xfrm>
            <a:off x="1047749" y="4969796"/>
            <a:ext cx="3429000" cy="6667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70D9F593-5D71-483D-BD5C-59798A2B07A3}"/>
              </a:ext>
            </a:extLst>
          </p:cNvPr>
          <p:cNvSpPr>
            <a:spLocks noGrp="1"/>
          </p:cNvSpPr>
          <p:nvPr/>
        </p:nvSpPr>
        <p:spPr>
          <a:xfrm>
            <a:off x="4476749" y="4970098"/>
            <a:ext cx="2047875" cy="6667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E602CF4-7FEA-4BBF-B328-846071FEF652}"/>
              </a:ext>
            </a:extLst>
          </p:cNvPr>
          <p:cNvSpPr>
            <a:spLocks noGrp="1"/>
          </p:cNvSpPr>
          <p:nvPr/>
        </p:nvSpPr>
        <p:spPr>
          <a:xfrm>
            <a:off x="6524624" y="4969796"/>
            <a:ext cx="1381125" cy="66675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C4E0E27B-FCA5-4943-AD63-187E75425235}"/>
              </a:ext>
            </a:extLst>
          </p:cNvPr>
          <p:cNvSpPr>
            <a:spLocks noGrp="1"/>
          </p:cNvSpPr>
          <p:nvPr/>
        </p:nvSpPr>
        <p:spPr>
          <a:xfrm>
            <a:off x="1047750" y="5504448"/>
            <a:ext cx="7810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Плеханов Егор Сергеевич, группа 5140203/40101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25BE762-59E5-4D34-857D-506A8C32438B}"/>
              </a:ext>
            </a:extLst>
          </p:cNvPr>
          <p:cNvSpPr>
            <a:spLocks noGrp="1"/>
          </p:cNvSpPr>
          <p:nvPr/>
        </p:nvSpPr>
        <p:spPr>
          <a:xfrm>
            <a:off x="1047750" y="5809248"/>
            <a:ext cx="7810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Научный руководитель: к.ф.-м.н. Пак В. Г.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12695797-F3E3-4B6B-8FA9-9148B1235FB2}"/>
              </a:ext>
            </a:extLst>
          </p:cNvPr>
          <p:cNvSpPr>
            <a:spLocks noGrp="1"/>
          </p:cNvSpPr>
          <p:nvPr/>
        </p:nvSpPr>
        <p:spPr>
          <a:xfrm>
            <a:off x="1047750" y="6114048"/>
            <a:ext cx="8572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Санкт-Петербургский политехнический университет Петра Великого, 2026 г.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2B8BD0B-C193-425C-80EA-9A26C01A5F64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D53B347C-372C-4322-96B2-3260EDD44B20}"/>
              </a:ext>
            </a:extLst>
          </p:cNvPr>
          <p:cNvSpPr>
            <a:spLocks noGrp="1"/>
          </p:cNvSpPr>
          <p:nvPr/>
        </p:nvSpPr>
        <p:spPr>
          <a:xfrm>
            <a:off x="2619375" y="67056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EC9027FB-5BF1-40E8-A696-1F9B88BA41DE}"/>
              </a:ext>
            </a:extLst>
          </p:cNvPr>
          <p:cNvSpPr>
            <a:spLocks noGrp="1"/>
          </p:cNvSpPr>
          <p:nvPr/>
        </p:nvSpPr>
        <p:spPr>
          <a:xfrm>
            <a:off x="5762625" y="67056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20250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F213C5E-A5A9-4C04-A94A-1AF94DFBBBE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1395A6B-9788-4277-831F-99334925AB3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АКТУАЛЬНОСТЬ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6A33090-92A4-407C-BB83-4644F065C8B3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ECM важен там, где факторизация выполняется сериями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BFD5E77-1250-419D-8334-DDFA56E2645A}"/>
              </a:ext>
            </a:extLst>
          </p:cNvPr>
          <p:cNvSpPr>
            <a:spLocks noGrp="1"/>
          </p:cNvSpPr>
          <p:nvPr/>
        </p:nvSpPr>
        <p:spPr>
          <a:xfrm>
            <a:off x="1154904" y="1885950"/>
            <a:ext cx="2333626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AA8B26B-14ED-4544-B433-40F205A43B2B}"/>
              </a:ext>
            </a:extLst>
          </p:cNvPr>
          <p:cNvSpPr>
            <a:spLocks noGrp="1"/>
          </p:cNvSpPr>
          <p:nvPr/>
        </p:nvSpPr>
        <p:spPr>
          <a:xfrm>
            <a:off x="1154904" y="2895600"/>
            <a:ext cx="2333626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169AA19-9AC2-49BF-AA74-D3685AE69369}"/>
              </a:ext>
            </a:extLst>
          </p:cNvPr>
          <p:cNvSpPr>
            <a:spLocks noGrp="1"/>
          </p:cNvSpPr>
          <p:nvPr/>
        </p:nvSpPr>
        <p:spPr>
          <a:xfrm>
            <a:off x="1314274" y="2019300"/>
            <a:ext cx="201488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оставное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число N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D0DCF7A-17F4-4AF5-883C-FC8AA965DA65}"/>
              </a:ext>
            </a:extLst>
          </p:cNvPr>
          <p:cNvSpPr>
            <a:spLocks noGrp="1"/>
          </p:cNvSpPr>
          <p:nvPr/>
        </p:nvSpPr>
        <p:spPr>
          <a:xfrm>
            <a:off x="3904058" y="222885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6B086F6-001D-4927-B159-5237ADEF831F}"/>
              </a:ext>
            </a:extLst>
          </p:cNvPr>
          <p:cNvSpPr>
            <a:spLocks noGrp="1"/>
          </p:cNvSpPr>
          <p:nvPr/>
        </p:nvSpPr>
        <p:spPr>
          <a:xfrm>
            <a:off x="4833937" y="1885950"/>
            <a:ext cx="2333626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A4BF542-F975-43A1-931C-1357B2BEACCA}"/>
              </a:ext>
            </a:extLst>
          </p:cNvPr>
          <p:cNvSpPr>
            <a:spLocks noGrp="1"/>
          </p:cNvSpPr>
          <p:nvPr/>
        </p:nvSpPr>
        <p:spPr>
          <a:xfrm>
            <a:off x="4833937" y="2895600"/>
            <a:ext cx="2333626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48778D9-D766-4633-9A54-6D1A1037B2C9}"/>
              </a:ext>
            </a:extLst>
          </p:cNvPr>
          <p:cNvSpPr>
            <a:spLocks noGrp="1"/>
          </p:cNvSpPr>
          <p:nvPr/>
        </p:nvSpPr>
        <p:spPr>
          <a:xfrm>
            <a:off x="4967287" y="2019300"/>
            <a:ext cx="206692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алые / средние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делители: ECM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1047DFD-C5BD-4FBE-BE5C-769DE05A3CE5}"/>
              </a:ext>
            </a:extLst>
          </p:cNvPr>
          <p:cNvSpPr>
            <a:spLocks noGrp="1"/>
          </p:cNvSpPr>
          <p:nvPr/>
        </p:nvSpPr>
        <p:spPr>
          <a:xfrm>
            <a:off x="7583091" y="222885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CFD6C32-24F2-4D47-BEDF-31CDE77E0FFA}"/>
              </a:ext>
            </a:extLst>
          </p:cNvPr>
          <p:cNvSpPr>
            <a:spLocks noGrp="1"/>
          </p:cNvSpPr>
          <p:nvPr/>
        </p:nvSpPr>
        <p:spPr>
          <a:xfrm>
            <a:off x="8512970" y="1885950"/>
            <a:ext cx="2333626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27A9300-38F0-4C27-A58E-A99975438BC4}"/>
              </a:ext>
            </a:extLst>
          </p:cNvPr>
          <p:cNvSpPr>
            <a:spLocks noGrp="1"/>
          </p:cNvSpPr>
          <p:nvPr/>
        </p:nvSpPr>
        <p:spPr>
          <a:xfrm>
            <a:off x="8512970" y="2895600"/>
            <a:ext cx="2333626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B62AB87E-8802-47EC-97D8-C77BA7385562}"/>
              </a:ext>
            </a:extLst>
          </p:cNvPr>
          <p:cNvSpPr>
            <a:spLocks noGrp="1"/>
          </p:cNvSpPr>
          <p:nvPr/>
        </p:nvSpPr>
        <p:spPr>
          <a:xfrm>
            <a:off x="8646320" y="2019300"/>
            <a:ext cx="206692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офактор: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QS / GNFS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63C0937-AF2B-4B4B-BBE1-EF9280D21902}"/>
              </a:ext>
            </a:extLst>
          </p:cNvPr>
          <p:cNvSpPr>
            <a:spLocks noGrp="1"/>
          </p:cNvSpPr>
          <p:nvPr/>
        </p:nvSpPr>
        <p:spPr>
          <a:xfrm>
            <a:off x="7810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C80DE94B-7DD0-43CB-8CC5-58CF4F6127C0}"/>
              </a:ext>
            </a:extLst>
          </p:cNvPr>
          <p:cNvSpPr>
            <a:spLocks noGrp="1"/>
          </p:cNvSpPr>
          <p:nvPr/>
        </p:nvSpPr>
        <p:spPr>
          <a:xfrm>
            <a:off x="781050" y="3429000"/>
            <a:ext cx="57150" cy="176212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36ED997-2DC1-46EE-8472-E09C4AB10E8B}"/>
              </a:ext>
            </a:extLst>
          </p:cNvPr>
          <p:cNvSpPr>
            <a:spLocks noGrp="1"/>
          </p:cNvSpPr>
          <p:nvPr/>
        </p:nvSpPr>
        <p:spPr>
          <a:xfrm>
            <a:off x="10096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КОНТЕКСТ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40B9E97F-1135-4461-99F9-F7969985B8E8}"/>
              </a:ext>
            </a:extLst>
          </p:cNvPr>
          <p:cNvSpPr>
            <a:spLocks noGrp="1"/>
          </p:cNvSpPr>
          <p:nvPr/>
        </p:nvSpPr>
        <p:spPr>
          <a:xfrm>
            <a:off x="10096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Факторизация связана со стойкостью RSA и расчетами теории чисел.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BD4C73C-C52E-4118-A668-EF613165364D}"/>
              </a:ext>
            </a:extLst>
          </p:cNvPr>
          <p:cNvSpPr>
            <a:spLocks noGrp="1"/>
          </p:cNvSpPr>
          <p:nvPr/>
        </p:nvSpPr>
        <p:spPr>
          <a:xfrm>
            <a:off x="44767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0373EA99-6CCA-4705-A739-88C9E02AE98A}"/>
              </a:ext>
            </a:extLst>
          </p:cNvPr>
          <p:cNvSpPr>
            <a:spLocks noGrp="1"/>
          </p:cNvSpPr>
          <p:nvPr/>
        </p:nvSpPr>
        <p:spPr>
          <a:xfrm>
            <a:off x="4476750" y="3429000"/>
            <a:ext cx="57150" cy="17621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991B687A-E4C4-4448-B93A-3203050319C9}"/>
              </a:ext>
            </a:extLst>
          </p:cNvPr>
          <p:cNvSpPr>
            <a:spLocks noGrp="1"/>
          </p:cNvSpPr>
          <p:nvPr/>
        </p:nvSpPr>
        <p:spPr>
          <a:xfrm>
            <a:off x="47053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РЕСУРСЫ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088A674B-CAF6-49A7-8C1F-4B77C518062B}"/>
              </a:ext>
            </a:extLst>
          </p:cNvPr>
          <p:cNvSpPr>
            <a:spLocks noGrp="1"/>
          </p:cNvSpPr>
          <p:nvPr/>
        </p:nvSpPr>
        <p:spPr>
          <a:xfrm>
            <a:off x="47053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Массовые ECM-запуски дороги: меньше времени и кривых — меньше вычислений.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32188393-981B-49A1-A024-6934B5718A10}"/>
              </a:ext>
            </a:extLst>
          </p:cNvPr>
          <p:cNvSpPr>
            <a:spLocks noGrp="1"/>
          </p:cNvSpPr>
          <p:nvPr/>
        </p:nvSpPr>
        <p:spPr>
          <a:xfrm>
            <a:off x="81724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C656D0E6-91E8-4896-8A90-1D5A90F853EE}"/>
              </a:ext>
            </a:extLst>
          </p:cNvPr>
          <p:cNvSpPr>
            <a:spLocks noGrp="1"/>
          </p:cNvSpPr>
          <p:nvPr/>
        </p:nvSpPr>
        <p:spPr>
          <a:xfrm>
            <a:off x="8172450" y="3429000"/>
            <a:ext cx="57150" cy="1762125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B9295359-5ACE-4D17-96B7-B8FBEBC49BA9}"/>
              </a:ext>
            </a:extLst>
          </p:cNvPr>
          <p:cNvSpPr>
            <a:spLocks noGrp="1"/>
          </p:cNvSpPr>
          <p:nvPr/>
        </p:nvSpPr>
        <p:spPr>
          <a:xfrm>
            <a:off x="84010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ПРОБЛЕМА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D1A32C0C-2E40-4C13-9EC8-21B70CE58B39}"/>
              </a:ext>
            </a:extLst>
          </p:cNvPr>
          <p:cNvSpPr>
            <a:spLocks noGrp="1"/>
          </p:cNvSpPr>
          <p:nvPr/>
        </p:nvSpPr>
        <p:spPr>
          <a:xfrm>
            <a:off x="84010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 GMP-ECM надежны, но не всегда оптимальны локально.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FB074276-07C6-4178-9197-F7FC4683658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9C03E78-18D5-4DD1-B970-274B564A5E54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8CF77100-7B7C-4B43-AAAB-44EC84BD591A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5" name="Рисунок 3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7117BAC3-927F-433D-A2B9-67E5FED48702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9CEA4B77-408E-4341-9927-484D7E75A0A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2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692497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F5C8D02-0C35-46E9-A206-112D5A0E8054}"/>
              </a:ext>
            </a:extLst>
          </p:cNvPr>
          <p:cNvSpPr>
            <a:spLocks noGrp="1"/>
          </p:cNvSpPr>
          <p:nvPr/>
        </p:nvSpPr>
        <p:spPr>
          <a:xfrm>
            <a:off x="781050" y="3766984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D5E1CB10-E4A9-47AF-BC3A-C63616034E9B}"/>
              </a:ext>
            </a:extLst>
          </p:cNvPr>
          <p:cNvSpPr>
            <a:spLocks noGrp="1"/>
          </p:cNvSpPr>
          <p:nvPr/>
        </p:nvSpPr>
        <p:spPr>
          <a:xfrm>
            <a:off x="6287131" y="4834398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61FA970C-EEC3-4F4B-AACB-826B10A1AD9F}"/>
              </a:ext>
            </a:extLst>
          </p:cNvPr>
          <p:cNvSpPr>
            <a:spLocks noGrp="1"/>
          </p:cNvSpPr>
          <p:nvPr/>
        </p:nvSpPr>
        <p:spPr>
          <a:xfrm>
            <a:off x="6287131" y="2655944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6EFC21CC-2C49-461A-AEFD-64197607F0E4}"/>
              </a:ext>
            </a:extLst>
          </p:cNvPr>
          <p:cNvSpPr>
            <a:spLocks noGrp="1"/>
          </p:cNvSpPr>
          <p:nvPr/>
        </p:nvSpPr>
        <p:spPr>
          <a:xfrm>
            <a:off x="6292048" y="3752238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5ACB215E-CDC8-4F68-A577-1D7F615C4266}"/>
              </a:ext>
            </a:extLst>
          </p:cNvPr>
          <p:cNvSpPr>
            <a:spLocks noGrp="1"/>
          </p:cNvSpPr>
          <p:nvPr/>
        </p:nvSpPr>
        <p:spPr>
          <a:xfrm>
            <a:off x="776133" y="4849144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A0D742CD-75AA-4DC9-B3C0-059E1FBD765F}"/>
              </a:ext>
            </a:extLst>
          </p:cNvPr>
          <p:cNvSpPr>
            <a:spLocks noGrp="1"/>
          </p:cNvSpPr>
          <p:nvPr/>
        </p:nvSpPr>
        <p:spPr>
          <a:xfrm>
            <a:off x="776133" y="2670690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C97D00D-F843-47A2-9458-BD30FF34427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F7A3DF9-0143-4CB2-AF2B-029689088DCD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ЦЕЛЬ И ЗАДАЧИ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D35BD71-550A-403D-933B-24B82DFB535F}"/>
              </a:ext>
            </a:extLst>
          </p:cNvPr>
          <p:cNvSpPr>
            <a:spLocks noGrp="1"/>
          </p:cNvSpPr>
          <p:nvPr/>
        </p:nvSpPr>
        <p:spPr>
          <a:xfrm>
            <a:off x="781050" y="1657350"/>
            <a:ext cx="10382250" cy="881214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A0D8153-0856-4E93-90D0-433FD81EE5B3}"/>
              </a:ext>
            </a:extLst>
          </p:cNvPr>
          <p:cNvSpPr>
            <a:spLocks noGrp="1"/>
          </p:cNvSpPr>
          <p:nvPr/>
        </p:nvSpPr>
        <p:spPr>
          <a:xfrm>
            <a:off x="781050" y="1657350"/>
            <a:ext cx="50006" cy="881214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CDDFD0A-2C23-4523-8C74-9F0BA203DCA7}"/>
              </a:ext>
            </a:extLst>
          </p:cNvPr>
          <p:cNvSpPr>
            <a:spLocks noGrp="1"/>
          </p:cNvSpPr>
          <p:nvPr/>
        </p:nvSpPr>
        <p:spPr>
          <a:xfrm>
            <a:off x="1009650" y="1690536"/>
            <a:ext cx="9925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ЦЕЛЬ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7943B55-DDDD-43A7-B786-72A51D0CC1CE}"/>
              </a:ext>
            </a:extLst>
          </p:cNvPr>
          <p:cNvSpPr>
            <a:spLocks noGrp="1"/>
          </p:cNvSpPr>
          <p:nvPr/>
        </p:nvSpPr>
        <p:spPr>
          <a:xfrm>
            <a:off x="1009650" y="1984892"/>
            <a:ext cx="9235563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Разработать и исследовать программную систему автоматического подбора параметров ECM и оценить выигрыш относительно GMP-ECM.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11CBA25-7B9C-4E8C-845D-D6BD003A903C}"/>
              </a:ext>
            </a:extLst>
          </p:cNvPr>
          <p:cNvSpPr>
            <a:spLocks noGrp="1"/>
          </p:cNvSpPr>
          <p:nvPr/>
        </p:nvSpPr>
        <p:spPr>
          <a:xfrm>
            <a:off x="948706" y="2712841"/>
            <a:ext cx="4772121" cy="26530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 1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D3B161B-6ECA-4103-8885-815830716ACC}"/>
              </a:ext>
            </a:extLst>
          </p:cNvPr>
          <p:cNvSpPr>
            <a:spLocks noGrp="1"/>
          </p:cNvSpPr>
          <p:nvPr/>
        </p:nvSpPr>
        <p:spPr>
          <a:xfrm>
            <a:off x="948707" y="3034175"/>
            <a:ext cx="4514849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Провести аналитический обзор алгоритмов факторизации и определить место ECM среди специализированных и универсальных методов.</a:t>
            </a:r>
          </a:p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 sz="150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585CC9A-C005-4240-A17F-003E5AB7254D}"/>
              </a:ext>
            </a:extLst>
          </p:cNvPr>
          <p:cNvSpPr>
            <a:spLocks noGrp="1"/>
          </p:cNvSpPr>
          <p:nvPr/>
        </p:nvSpPr>
        <p:spPr>
          <a:xfrm>
            <a:off x="6477000" y="2709566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2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50D9D933-4609-4B14-AA14-09FD5321DDCD}"/>
              </a:ext>
            </a:extLst>
          </p:cNvPr>
          <p:cNvSpPr>
            <a:spLocks noGrp="1"/>
          </p:cNvSpPr>
          <p:nvPr/>
        </p:nvSpPr>
        <p:spPr>
          <a:xfrm>
            <a:off x="6477000" y="3314700"/>
            <a:ext cx="451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3CED086-BC76-476D-9C25-42D09B51D971}"/>
              </a:ext>
            </a:extLst>
          </p:cNvPr>
          <p:cNvSpPr>
            <a:spLocks noGrp="1"/>
          </p:cNvSpPr>
          <p:nvPr/>
        </p:nvSpPr>
        <p:spPr>
          <a:xfrm>
            <a:off x="6477000" y="3792512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4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348098E7-8F7E-4285-A4D8-76AC2844EDBB}"/>
              </a:ext>
            </a:extLst>
          </p:cNvPr>
          <p:cNvSpPr>
            <a:spLocks noGrp="1"/>
          </p:cNvSpPr>
          <p:nvPr/>
        </p:nvSpPr>
        <p:spPr>
          <a:xfrm>
            <a:off x="6477000" y="4324350"/>
            <a:ext cx="451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5DD6D70-0886-445C-B40D-F26C3BFF8618}"/>
              </a:ext>
            </a:extLst>
          </p:cNvPr>
          <p:cNvSpPr>
            <a:spLocks noGrp="1"/>
          </p:cNvSpPr>
          <p:nvPr/>
        </p:nvSpPr>
        <p:spPr>
          <a:xfrm>
            <a:off x="948706" y="4894671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 5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A4F78EE-10AD-41D1-8FDF-A122E131283E}"/>
              </a:ext>
            </a:extLst>
          </p:cNvPr>
          <p:cNvSpPr>
            <a:spLocks noGrp="1"/>
          </p:cNvSpPr>
          <p:nvPr/>
        </p:nvSpPr>
        <p:spPr>
          <a:xfrm>
            <a:off x="6477000" y="4883104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6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704909F7-6AF2-462A-976E-E9A22B8C022B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A48F7F9A-A5BD-48FB-9DF8-DC99EB26F43E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D148A24-D46F-44F7-8CD6-6C752BACA339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61" name="Рисунок 3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A7E3FDB4-E0A7-4C73-B090-6104DE16E6E6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Цель работы и ключевые этапы:</a:t>
            </a:r>
            <a:br/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 анализа ECM до проверки найденных параметров</a:t>
            </a: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93C3D6E5-C277-43F9-85F9-6EA0BAABC636}"/>
              </a:ext>
            </a:extLst>
          </p:cNvPr>
          <p:cNvSpPr>
            <a:spLocks noGrp="1"/>
          </p:cNvSpPr>
          <p:nvPr/>
        </p:nvSpPr>
        <p:spPr>
          <a:xfrm>
            <a:off x="948706" y="3798491"/>
            <a:ext cx="4772120" cy="21938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 3</a:t>
            </a:r>
          </a:p>
        </p:txBody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8874CA52-DED8-4809-AD33-DDCA9F07EB41}"/>
              </a:ext>
            </a:extLst>
          </p:cNvPr>
          <p:cNvSpPr>
            <a:spLocks noGrp="1"/>
          </p:cNvSpPr>
          <p:nvPr/>
        </p:nvSpPr>
        <p:spPr>
          <a:xfrm>
            <a:off x="949325" y="4149686"/>
            <a:ext cx="4514232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Проанализировать практические подходы к выбору параметров ECM и формализовать подбор B1/B2 как стохастическую оптимизацию «черного ящика».</a:t>
            </a:r>
          </a:p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 sz="150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F8A55C1A-87D4-4B8F-BC38-854AEA69862F}"/>
              </a:ext>
            </a:extLst>
          </p:cNvPr>
          <p:cNvSpPr>
            <a:spLocks noGrp="1"/>
          </p:cNvSpPr>
          <p:nvPr/>
        </p:nvSpPr>
        <p:spPr>
          <a:xfrm>
            <a:off x="948707" y="5221176"/>
            <a:ext cx="4514850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Разработать программную систему генерации датасетов, запуска GMP-ECM, оптимизации, валидации и анализа результатов.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5718F03B-CF8C-412C-8EA5-A80ABA25A7C5}"/>
              </a:ext>
            </a:extLst>
          </p:cNvPr>
          <p:cNvSpPr>
            <a:spLocks noGrp="1"/>
          </p:cNvSpPr>
          <p:nvPr/>
        </p:nvSpPr>
        <p:spPr>
          <a:xfrm>
            <a:off x="6459703" y="3009595"/>
            <a:ext cx="4474997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Рассмотреть теоретические основы ECM и влияние параметров B1 и B2 на вероятность успеха и стоимость вычислений.</a:t>
            </a: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D6202D13-B5D8-4025-A3B8-983C29D928B2}"/>
              </a:ext>
            </a:extLst>
          </p:cNvPr>
          <p:cNvSpPr>
            <a:spLocks noGrp="1"/>
          </p:cNvSpPr>
          <p:nvPr/>
        </p:nvSpPr>
        <p:spPr>
          <a:xfrm>
            <a:off x="6459703" y="4056506"/>
            <a:ext cx="4532148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>
                <a:solidFill>
                  <a:srgbClr val="15181F"/>
                </a:solidFill>
                <a:latin typeface="Onest"/>
                <a:ea typeface="Onest"/>
                <a:cs typeface="Onest"/>
              </a:rPr>
              <a:t>Обосновать выбор эвристических методов оптимизации для настройки параметров ECM.</a:t>
            </a:r>
          </a:p>
        </p:txBody>
      </p:sp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2F5091C3-2C80-43FD-B3D2-364E90F3C683}"/>
              </a:ext>
            </a:extLst>
          </p:cNvPr>
          <p:cNvSpPr>
            <a:spLocks noGrp="1"/>
          </p:cNvSpPr>
          <p:nvPr/>
        </p:nvSpPr>
        <p:spPr>
          <a:xfrm>
            <a:off x="6459702" y="5149804"/>
            <a:ext cx="4474998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/>
              <a:t>Провести вычислительные эксперименты, сравнить найденные параметры со справочными GMP-ECM и сформулировать ограничения и рекомендации.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2FB1989-6AA4-4193-8F49-56162DCF64D8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</a:t>
            </a:r>
            <a:r>
              <a:rPr b="1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Сергеевич</a:t>
            </a:r>
            <a:endParaRPr b="1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алгоритма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факторизации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больших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чисел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с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применением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основе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эвристических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методов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оптимизации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8F7AD74-46D0-43CF-B96C-E31CA37F70D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3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753759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4AB0E7B-5317-4E9A-946E-C50B38A3827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9B0675E-6731-4209-96E8-751969149391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ОБЪЕКТ И ПРЕДМЕТ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EE70702-D6C6-4DC6-BD6D-C6640450F520}"/>
              </a:ext>
            </a:extLst>
          </p:cNvPr>
          <p:cNvSpPr>
            <a:spLocks noGrp="1"/>
          </p:cNvSpPr>
          <p:nvPr/>
        </p:nvSpPr>
        <p:spPr>
          <a:xfrm>
            <a:off x="571499" y="819150"/>
            <a:ext cx="8308297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Настраивается не вся факторизация, а два управляющих параметра ECM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2167E34-7403-4830-9615-89DE7C4C34AD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9421D01-8C1D-4D24-BCDB-82CFB66D122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7B1E3BF-61D7-4530-B6A1-849C20BB85AD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2" name="Рисунок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98EA2761-CF22-4CA3-9D9C-68207A035AD5}"/>
              </a:ext>
            </a:extLst>
          </p:cNvPr>
          <p:cNvSpPr>
            <a:spLocks noGrp="1"/>
          </p:cNvSpPr>
          <p:nvPr/>
        </p:nvSpPr>
        <p:spPr>
          <a:xfrm>
            <a:off x="781050" y="2032835"/>
            <a:ext cx="3000375" cy="223949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69DE454D-2D26-467B-AA2B-F56FEBB6C5BE}"/>
              </a:ext>
            </a:extLst>
          </p:cNvPr>
          <p:cNvSpPr>
            <a:spLocks noGrp="1"/>
          </p:cNvSpPr>
          <p:nvPr/>
        </p:nvSpPr>
        <p:spPr>
          <a:xfrm>
            <a:off x="781050" y="2032834"/>
            <a:ext cx="57150" cy="223949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E961511C-F39B-4750-8D2B-7B8D806F0174}"/>
              </a:ext>
            </a:extLst>
          </p:cNvPr>
          <p:cNvSpPr>
            <a:spLocks noGrp="1"/>
          </p:cNvSpPr>
          <p:nvPr/>
        </p:nvSpPr>
        <p:spPr>
          <a:xfrm>
            <a:off x="1009650" y="222333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ОБЪЕКТ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F7FBDCC2-5B59-4515-B50B-A8CA8C33BEB9}"/>
              </a:ext>
            </a:extLst>
          </p:cNvPr>
          <p:cNvSpPr>
            <a:spLocks noGrp="1"/>
          </p:cNvSpPr>
          <p:nvPr/>
        </p:nvSpPr>
        <p:spPr>
          <a:xfrm>
            <a:off x="1009650" y="254718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Алгоритм факторизации целых чисел методом эллиптических кривых и его реализация GMP-ECM.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0C7262AC-57AC-4E25-B6EA-48CE80CC9299}"/>
              </a:ext>
            </a:extLst>
          </p:cNvPr>
          <p:cNvSpPr>
            <a:spLocks noGrp="1"/>
          </p:cNvSpPr>
          <p:nvPr/>
        </p:nvSpPr>
        <p:spPr>
          <a:xfrm>
            <a:off x="4591050" y="2032834"/>
            <a:ext cx="3000375" cy="229124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6A890F87-B2CA-4432-B591-4AE86CD89BD5}"/>
              </a:ext>
            </a:extLst>
          </p:cNvPr>
          <p:cNvSpPr>
            <a:spLocks noGrp="1"/>
          </p:cNvSpPr>
          <p:nvPr/>
        </p:nvSpPr>
        <p:spPr>
          <a:xfrm>
            <a:off x="4591050" y="2032835"/>
            <a:ext cx="57150" cy="2291242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3C877E2F-4C48-4C65-9FDB-E6CFA7A305FC}"/>
              </a:ext>
            </a:extLst>
          </p:cNvPr>
          <p:cNvSpPr>
            <a:spLocks noGrp="1"/>
          </p:cNvSpPr>
          <p:nvPr/>
        </p:nvSpPr>
        <p:spPr>
          <a:xfrm>
            <a:off x="4819650" y="222333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ПРЕДМЕТ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E0381F37-B102-4A28-ABFE-4BAF128B4F7A}"/>
              </a:ext>
            </a:extLst>
          </p:cNvPr>
          <p:cNvSpPr>
            <a:spLocks noGrp="1"/>
          </p:cNvSpPr>
          <p:nvPr/>
        </p:nvSpPr>
        <p:spPr>
          <a:xfrm>
            <a:off x="4819650" y="254718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Автоматизированный выбор параметров B1 и B2 с применением эвристических методов оптимизации.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DC3A89BC-8CA0-4F65-A501-1D9A8DAD4653}"/>
              </a:ext>
            </a:extLst>
          </p:cNvPr>
          <p:cNvSpPr>
            <a:spLocks noGrp="1"/>
          </p:cNvSpPr>
          <p:nvPr/>
        </p:nvSpPr>
        <p:spPr>
          <a:xfrm>
            <a:off x="8401050" y="2032835"/>
            <a:ext cx="3000375" cy="2291242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3AD8DA48-AF35-48F5-86DB-3A4F2ADA9F6C}"/>
              </a:ext>
            </a:extLst>
          </p:cNvPr>
          <p:cNvSpPr>
            <a:spLocks noGrp="1"/>
          </p:cNvSpPr>
          <p:nvPr/>
        </p:nvSpPr>
        <p:spPr>
          <a:xfrm>
            <a:off x="8401050" y="2032835"/>
            <a:ext cx="57150" cy="2291242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8C47DD6B-5653-492D-9DE5-0E9B4270D547}"/>
              </a:ext>
            </a:extLst>
          </p:cNvPr>
          <p:cNvSpPr>
            <a:spLocks noGrp="1"/>
          </p:cNvSpPr>
          <p:nvPr/>
        </p:nvSpPr>
        <p:spPr>
          <a:xfrm>
            <a:off x="8629650" y="222333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ГИПОТЕЗА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491DB62F-67E6-401A-AA62-C1F8F70619AC}"/>
              </a:ext>
            </a:extLst>
          </p:cNvPr>
          <p:cNvSpPr>
            <a:spLocks noGrp="1"/>
          </p:cNvSpPr>
          <p:nvPr/>
        </p:nvSpPr>
        <p:spPr>
          <a:xfrm>
            <a:off x="8629650" y="254718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Для заданного класса чисел и среды параметры ECM можно локально настроить лучше справочных.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934F56B3-8F6D-4187-84E0-1395EBDF27C0}"/>
              </a:ext>
            </a:extLst>
          </p:cNvPr>
          <p:cNvSpPr>
            <a:spLocks noGrp="1"/>
          </p:cNvSpPr>
          <p:nvPr/>
        </p:nvSpPr>
        <p:spPr>
          <a:xfrm>
            <a:off x="2619375" y="4824331"/>
            <a:ext cx="654617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Таблицы GMP-ECM используются как сильные базовые значения.</a:t>
            </a: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D1AB98A4-9458-4BCB-BEDC-505CCD4B1156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17CCBD82-0923-4C61-9151-00C8E2B60B0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4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050062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3AA802B-BDBB-4747-BD9D-C3B70B1C2C00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3D1F29A-5CD3-4C4E-B0DF-99DDFF08BA4C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 ECM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1B43913-A7F4-4318-818E-2732D187A014}"/>
              </a:ext>
            </a:extLst>
          </p:cNvPr>
          <p:cNvSpPr>
            <a:spLocks noGrp="1"/>
          </p:cNvSpPr>
          <p:nvPr/>
        </p:nvSpPr>
        <p:spPr>
          <a:xfrm>
            <a:off x="571499" y="819150"/>
            <a:ext cx="8905875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B1 и B2 задают компромисс между шансом успеха и ценой кривой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597FCDF-76C3-49F8-BB65-4D3F13F2F84D}"/>
              </a:ext>
            </a:extLst>
          </p:cNvPr>
          <p:cNvSpPr>
            <a:spLocks noGrp="1"/>
          </p:cNvSpPr>
          <p:nvPr/>
        </p:nvSpPr>
        <p:spPr>
          <a:xfrm>
            <a:off x="1103898" y="2054560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01D109C-9EB6-42C7-8F8D-B30523C14AF8}"/>
              </a:ext>
            </a:extLst>
          </p:cNvPr>
          <p:cNvSpPr>
            <a:spLocks noGrp="1"/>
          </p:cNvSpPr>
          <p:nvPr/>
        </p:nvSpPr>
        <p:spPr>
          <a:xfrm>
            <a:off x="1103898" y="3064210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316191B-9E59-49C5-8566-A660EDB87CBF}"/>
              </a:ext>
            </a:extLst>
          </p:cNvPr>
          <p:cNvSpPr>
            <a:spLocks noGrp="1"/>
          </p:cNvSpPr>
          <p:nvPr/>
        </p:nvSpPr>
        <p:spPr>
          <a:xfrm>
            <a:off x="1237248" y="2187910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N, B1, B2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F61F5D5-69A3-431C-8027-45825654A3D2}"/>
              </a:ext>
            </a:extLst>
          </p:cNvPr>
          <p:cNvSpPr>
            <a:spLocks noGrp="1"/>
          </p:cNvSpPr>
          <p:nvPr/>
        </p:nvSpPr>
        <p:spPr>
          <a:xfrm>
            <a:off x="2656974" y="2382174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9F6508C-1C21-4828-8B73-448B9B54ABFD}"/>
              </a:ext>
            </a:extLst>
          </p:cNvPr>
          <p:cNvSpPr>
            <a:spLocks noGrp="1"/>
          </p:cNvSpPr>
          <p:nvPr/>
        </p:nvSpPr>
        <p:spPr>
          <a:xfrm>
            <a:off x="3295650" y="2054560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668642E-4478-41BD-B65F-0DAAEE188F67}"/>
              </a:ext>
            </a:extLst>
          </p:cNvPr>
          <p:cNvSpPr>
            <a:spLocks noGrp="1"/>
          </p:cNvSpPr>
          <p:nvPr/>
        </p:nvSpPr>
        <p:spPr>
          <a:xfrm>
            <a:off x="3295650" y="3064210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0ED62B9-FB5C-46BC-843B-1268EBF8E9C0}"/>
              </a:ext>
            </a:extLst>
          </p:cNvPr>
          <p:cNvSpPr>
            <a:spLocks noGrp="1"/>
          </p:cNvSpPr>
          <p:nvPr/>
        </p:nvSpPr>
        <p:spPr>
          <a:xfrm>
            <a:off x="3429000" y="2187910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лучайная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кривая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8E6806D-887B-4CE6-A850-21CFDA4E5F0E}"/>
              </a:ext>
            </a:extLst>
          </p:cNvPr>
          <p:cNvSpPr>
            <a:spLocks noGrp="1"/>
          </p:cNvSpPr>
          <p:nvPr/>
        </p:nvSpPr>
        <p:spPr>
          <a:xfrm>
            <a:off x="4800600" y="239746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C5D1328-8554-4ED8-86C2-7693124F63BA}"/>
              </a:ext>
            </a:extLst>
          </p:cNvPr>
          <p:cNvSpPr>
            <a:spLocks noGrp="1"/>
          </p:cNvSpPr>
          <p:nvPr/>
        </p:nvSpPr>
        <p:spPr>
          <a:xfrm>
            <a:off x="5391150" y="2054560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99AC0472-D72C-44F9-9A07-C921C7EDDA5B}"/>
              </a:ext>
            </a:extLst>
          </p:cNvPr>
          <p:cNvSpPr>
            <a:spLocks noGrp="1"/>
          </p:cNvSpPr>
          <p:nvPr/>
        </p:nvSpPr>
        <p:spPr>
          <a:xfrm>
            <a:off x="5391150" y="3064210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C732806E-E217-463A-9FD5-198C7E2645E3}"/>
              </a:ext>
            </a:extLst>
          </p:cNvPr>
          <p:cNvSpPr>
            <a:spLocks noGrp="1"/>
          </p:cNvSpPr>
          <p:nvPr/>
        </p:nvSpPr>
        <p:spPr>
          <a:xfrm>
            <a:off x="5524500" y="2187910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тадия 1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B1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734B5C4-7A47-418D-A383-3BCA482AE6AD}"/>
              </a:ext>
            </a:extLst>
          </p:cNvPr>
          <p:cNvSpPr>
            <a:spLocks noGrp="1"/>
          </p:cNvSpPr>
          <p:nvPr/>
        </p:nvSpPr>
        <p:spPr>
          <a:xfrm>
            <a:off x="6896100" y="239746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616D576-E831-4CD5-AAFE-DCCCF80C4E2A}"/>
              </a:ext>
            </a:extLst>
          </p:cNvPr>
          <p:cNvSpPr>
            <a:spLocks noGrp="1"/>
          </p:cNvSpPr>
          <p:nvPr/>
        </p:nvSpPr>
        <p:spPr>
          <a:xfrm>
            <a:off x="7486650" y="2054560"/>
            <a:ext cx="1428750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69E8B9A9-5FC2-4701-B556-BB7252047262}"/>
              </a:ext>
            </a:extLst>
          </p:cNvPr>
          <p:cNvSpPr>
            <a:spLocks noGrp="1"/>
          </p:cNvSpPr>
          <p:nvPr/>
        </p:nvSpPr>
        <p:spPr>
          <a:xfrm>
            <a:off x="7486650" y="3064210"/>
            <a:ext cx="1428750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23C2F8DE-B5C9-456C-926C-305554619E0A}"/>
              </a:ext>
            </a:extLst>
          </p:cNvPr>
          <p:cNvSpPr>
            <a:spLocks noGrp="1"/>
          </p:cNvSpPr>
          <p:nvPr/>
        </p:nvSpPr>
        <p:spPr>
          <a:xfrm>
            <a:off x="7620000" y="2187910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тадия 2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B2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03AD400C-3DD5-4899-9469-1EE6C130A00A}"/>
              </a:ext>
            </a:extLst>
          </p:cNvPr>
          <p:cNvSpPr>
            <a:spLocks noGrp="1"/>
          </p:cNvSpPr>
          <p:nvPr/>
        </p:nvSpPr>
        <p:spPr>
          <a:xfrm>
            <a:off x="9023684" y="238969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66AEFE2-9403-4760-BB96-0B4E8A92B786}"/>
              </a:ext>
            </a:extLst>
          </p:cNvPr>
          <p:cNvSpPr>
            <a:spLocks noGrp="1"/>
          </p:cNvSpPr>
          <p:nvPr/>
        </p:nvSpPr>
        <p:spPr>
          <a:xfrm>
            <a:off x="9630276" y="2054560"/>
            <a:ext cx="14287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5CD034FE-41E8-4F44-A334-764858627031}"/>
              </a:ext>
            </a:extLst>
          </p:cNvPr>
          <p:cNvSpPr>
            <a:spLocks noGrp="1"/>
          </p:cNvSpPr>
          <p:nvPr/>
        </p:nvSpPr>
        <p:spPr>
          <a:xfrm>
            <a:off x="9630276" y="3064210"/>
            <a:ext cx="14287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DDB30B76-EDDE-4D65-9290-4478F93758E8}"/>
              </a:ext>
            </a:extLst>
          </p:cNvPr>
          <p:cNvSpPr>
            <a:spLocks noGrp="1"/>
          </p:cNvSpPr>
          <p:nvPr/>
        </p:nvSpPr>
        <p:spPr>
          <a:xfrm>
            <a:off x="9763626" y="2187910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Делитель/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новая кривая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DFA5B8C4-47EE-4F4D-B9FF-311875C147C2}"/>
              </a:ext>
            </a:extLst>
          </p:cNvPr>
          <p:cNvSpPr>
            <a:spLocks noGrp="1"/>
          </p:cNvSpPr>
          <p:nvPr/>
        </p:nvSpPr>
        <p:spPr>
          <a:xfrm>
            <a:off x="1143000" y="3755276"/>
            <a:ext cx="4762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A2889BC1-E061-49AE-BAB2-18C12F8A60E4}"/>
              </a:ext>
            </a:extLst>
          </p:cNvPr>
          <p:cNvSpPr>
            <a:spLocks noGrp="1"/>
          </p:cNvSpPr>
          <p:nvPr/>
        </p:nvSpPr>
        <p:spPr>
          <a:xfrm>
            <a:off x="1143000" y="3755276"/>
            <a:ext cx="57150" cy="8763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28193FF9-8FB3-4F21-B4A4-E727D677CCF6}"/>
              </a:ext>
            </a:extLst>
          </p:cNvPr>
          <p:cNvSpPr>
            <a:spLocks noGrp="1"/>
          </p:cNvSpPr>
          <p:nvPr/>
        </p:nvSpPr>
        <p:spPr>
          <a:xfrm>
            <a:off x="1371600" y="3917201"/>
            <a:ext cx="4286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B1/B2 ВЫШЕ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A1D1EF4-2DD8-4AD3-84E6-098669A8D971}"/>
              </a:ext>
            </a:extLst>
          </p:cNvPr>
          <p:cNvSpPr>
            <a:spLocks noGrp="1"/>
          </p:cNvSpPr>
          <p:nvPr/>
        </p:nvSpPr>
        <p:spPr>
          <a:xfrm>
            <a:off x="1371600" y="4212476"/>
            <a:ext cx="4286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Растет вероятность успеха.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D00FBC1D-44A7-4E6E-986F-78FEE10BA884}"/>
              </a:ext>
            </a:extLst>
          </p:cNvPr>
          <p:cNvSpPr>
            <a:spLocks noGrp="1"/>
          </p:cNvSpPr>
          <p:nvPr/>
        </p:nvSpPr>
        <p:spPr>
          <a:xfrm>
            <a:off x="6286500" y="3755276"/>
            <a:ext cx="4762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C790FAE0-FF3E-43F6-AEA1-3C7F8A2A0656}"/>
              </a:ext>
            </a:extLst>
          </p:cNvPr>
          <p:cNvSpPr>
            <a:spLocks noGrp="1"/>
          </p:cNvSpPr>
          <p:nvPr/>
        </p:nvSpPr>
        <p:spPr>
          <a:xfrm>
            <a:off x="6286500" y="3755276"/>
            <a:ext cx="57150" cy="8763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5D4CA0F-DBB4-4E15-B933-486C16E4DB48}"/>
              </a:ext>
            </a:extLst>
          </p:cNvPr>
          <p:cNvSpPr>
            <a:spLocks noGrp="1"/>
          </p:cNvSpPr>
          <p:nvPr/>
        </p:nvSpPr>
        <p:spPr>
          <a:xfrm>
            <a:off x="6515100" y="3917201"/>
            <a:ext cx="4286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B1/B2 НИЖЕ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5985F839-79A9-47EB-83F4-A4C5B9317064}"/>
              </a:ext>
            </a:extLst>
          </p:cNvPr>
          <p:cNvSpPr>
            <a:spLocks noGrp="1"/>
          </p:cNvSpPr>
          <p:nvPr/>
        </p:nvSpPr>
        <p:spPr>
          <a:xfrm>
            <a:off x="6515100" y="4212476"/>
            <a:ext cx="4286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Дешевле одна попытка.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94D1E805-231F-4F24-97AF-50D263F14812}"/>
              </a:ext>
            </a:extLst>
          </p:cNvPr>
          <p:cNvSpPr>
            <a:spLocks noGrp="1"/>
          </p:cNvSpPr>
          <p:nvPr/>
        </p:nvSpPr>
        <p:spPr>
          <a:xfrm>
            <a:off x="1418223" y="5127827"/>
            <a:ext cx="9279354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Оптимум находится между этими двумя режимами и зависит от практических требований.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FF61226F-D133-4E82-A3E2-B052BDE40A6C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31BA0F1A-6D86-4B20-BD56-DCA163E136AC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C096E5A1-C5A3-4B67-BB6A-AAC37A9F2460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7" name="Рисунок 3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0BF7C523-41B2-42CD-96CF-019BE0A6928D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6239BA9A-866E-404D-A280-9B8147B05BB4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5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26371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810D058-CF6E-4288-AF67-0A37857A188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BD20B86-4140-4029-B75F-761673EEA35C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ПОСТАНОВКА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B7DB1DA-9D07-4CC0-94F5-3C0C4AB8DCAC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7654293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Настройка B1/B2 сведена к оптимизации «черного ящика» с ограничениями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D0709A8-F67A-48D5-ADAA-DD0257E346B0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143250" cy="22669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8E8C847-45A7-43EB-A921-2EF9034514FF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57150" cy="22669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EE4DB96-327A-4822-ADFD-7B379310887B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ПЕРЕМЕННЫЕ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CE665802-A4A7-4DEC-9F07-1AC4E7044AD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14400" y="2324100"/>
                <a:ext cx="2914650" cy="1406071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 lIns="0" tIns="0" rIns="0" bIns="0" anchor="t"/>
              <a:lstStyle/>
              <a:p>
                <a:pPr>
                  <a:buNone/>
                  <a:defRPr sz="1800" b="0">
                    <a:solidFill>
                      <a:srgbClr val="15181F"/>
                    </a:solidFill>
                    <a:latin typeface="Onest"/>
                    <a:ea typeface="Onest"/>
                    <a:cs typeface="Onest"/>
                  </a:defRPr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ru-RU" b="1" i="1">
                          <a:latin typeface="Cambria Math"/>
                          <a:ea typeface="Cambria Math"/>
                          <a:cs typeface="Cambria Math"/>
                        </a:rPr>
                        <m:t>𝒙</m:t>
                      </m:r>
                      <m:r>
                        <a:rPr lang="ru-RU" b="1"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ru-RU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ru-RU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𝒍𝒐𝒈</m:t>
                                  </m:r>
                                </m:e>
                                <m:sub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𝟏𝟎</m:t>
                                  </m:r>
                                </m:sub>
                              </m:sSub>
                            </m:fName>
                            <m:e>
                              <m:d>
                                <m:d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ru-RU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𝟏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ru-RU" b="1"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func>
                            <m:funcPr>
                              <m:ctrlPr>
                                <a:rPr lang="ru-RU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𝒍𝒐𝒈</m:t>
                                  </m:r>
                                </m:e>
                                <m:sub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𝟏𝟎</m:t>
                                  </m:r>
                                </m:sub>
                              </m:sSub>
                            </m:fName>
                            <m:e>
                              <m:d>
                                <m:d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ru-RU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𝟐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ru-RU" b="1">
                          <a:latin typeface="Cambria Math"/>
                          <a:ea typeface="Cambria Math"/>
                          <a:cs typeface="Cambria Math"/>
                        </a:rPr>
                        <m:t>.</m:t>
                      </m:r>
                    </m:oMath>
                  </m:oMathPara>
                </a14:m>
                <a:endParaRPr/>
              </a:p>
              <a:p>
                <a:pPr algn="l">
                  <a:buNone/>
                  <a:defRPr sz="1800" b="0">
                    <a:solidFill>
                      <a:srgbClr val="15181F"/>
                    </a:solidFill>
                    <a:latin typeface="Onest"/>
                    <a:ea typeface="Onest"/>
                    <a:cs typeface="Onest"/>
                  </a:defRPr>
                </a:pPr>
                <a:br/>
                <a:r>
                  <a:rPr sz="1800" b="0">
                    <a:solidFill>
                      <a:srgbClr val="15181F"/>
                    </a:solidFill>
                    <a:latin typeface="Onest"/>
                    <a:ea typeface="Onest"/>
                    <a:cs typeface="Onest"/>
                  </a:rPr>
                  <a:t>Переменные алгоритма с ростом делителя растут на порядки.</a:t>
                </a:r>
              </a:p>
            </p:txBody>
          </p:sp>
        </mc:Choice>
        <mc:Fallback xmlns=""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CE665802-A4A7-4DEC-9F07-1AC4E7044A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2324100"/>
                <a:ext cx="2914650" cy="1406071"/>
              </a:xfrm>
              <a:prstGeom prst="rect">
                <a:avLst/>
              </a:prstGeom>
              <a:blipFill>
                <a:blip r:embed="rId3"/>
                <a:stretch>
                  <a:fillRect l="-4802" t="-862" b="-7328"/>
                </a:stretch>
              </a:blip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B943919-1204-432A-A251-3A63A6E1102E}"/>
              </a:ext>
            </a:extLst>
          </p:cNvPr>
          <p:cNvSpPr>
            <a:spLocks noGrp="1"/>
          </p:cNvSpPr>
          <p:nvPr/>
        </p:nvSpPr>
        <p:spPr>
          <a:xfrm>
            <a:off x="4524375" y="1809750"/>
            <a:ext cx="3143250" cy="22669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A5393C6-B760-42AD-A0B4-AE2F7F750787}"/>
              </a:ext>
            </a:extLst>
          </p:cNvPr>
          <p:cNvSpPr>
            <a:spLocks noGrp="1"/>
          </p:cNvSpPr>
          <p:nvPr/>
        </p:nvSpPr>
        <p:spPr>
          <a:xfrm>
            <a:off x="4524375" y="1809750"/>
            <a:ext cx="45719" cy="22669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5E78C97-920E-4FEE-9B64-46B616FB3834}"/>
              </a:ext>
            </a:extLst>
          </p:cNvPr>
          <p:cNvSpPr>
            <a:spLocks noGrp="1"/>
          </p:cNvSpPr>
          <p:nvPr/>
        </p:nvSpPr>
        <p:spPr>
          <a:xfrm>
            <a:off x="4752975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ОГРАНИЧЕНИЯ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2000B72-C7D2-4B79-B824-E9E0C2A71C38}"/>
              </a:ext>
            </a:extLst>
          </p:cNvPr>
          <p:cNvSpPr>
            <a:spLocks noGrp="1"/>
          </p:cNvSpPr>
          <p:nvPr/>
        </p:nvSpPr>
        <p:spPr>
          <a:xfrm>
            <a:off x="8362950" y="1809750"/>
            <a:ext cx="3143250" cy="22669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CF87A53C-DE5D-488F-8900-ED931E1D7ACB}"/>
              </a:ext>
            </a:extLst>
          </p:cNvPr>
          <p:cNvSpPr>
            <a:spLocks noGrp="1"/>
          </p:cNvSpPr>
          <p:nvPr/>
        </p:nvSpPr>
        <p:spPr>
          <a:xfrm>
            <a:off x="8362950" y="1809750"/>
            <a:ext cx="57150" cy="22669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3409BB3-73E1-4F06-8E6B-05A15B54C3D6}"/>
              </a:ext>
            </a:extLst>
          </p:cNvPr>
          <p:cNvSpPr>
            <a:spLocks noGrp="1"/>
          </p:cNvSpPr>
          <p:nvPr/>
        </p:nvSpPr>
        <p:spPr>
          <a:xfrm>
            <a:off x="8591550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ОЦЕНКА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4CBBDFBE-210D-4366-84D3-A4B43E89CDA9}"/>
              </a:ext>
            </a:extLst>
          </p:cNvPr>
          <p:cNvSpPr>
            <a:spLocks noGrp="1"/>
          </p:cNvSpPr>
          <p:nvPr/>
        </p:nvSpPr>
        <p:spPr>
          <a:xfrm>
            <a:off x="8591550" y="2324100"/>
            <a:ext cx="2743200" cy="11144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Одна точка = серия запусков GMP-ECM с измерением успеха, времени и кривых.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890E2F8F-25EC-4D59-A37B-18D7FF1EEA2D}"/>
              </a:ext>
            </a:extLst>
          </p:cNvPr>
          <p:cNvSpPr>
            <a:spLocks noGrp="1"/>
          </p:cNvSpPr>
          <p:nvPr/>
        </p:nvSpPr>
        <p:spPr>
          <a:xfrm>
            <a:off x="685800" y="4455694"/>
            <a:ext cx="10820400" cy="952500"/>
          </a:xfrm>
          <a:prstGeom prst="rect">
            <a:avLst/>
          </a:prstGeom>
          <a:solidFill>
            <a:srgbClr val="E8F5E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32562B7-F7A3-459A-A5CD-501A7512D2B5}"/>
              </a:ext>
            </a:extLst>
          </p:cNvPr>
          <p:cNvSpPr>
            <a:spLocks noGrp="1"/>
          </p:cNvSpPr>
          <p:nvPr/>
        </p:nvSpPr>
        <p:spPr>
          <a:xfrm>
            <a:off x="1266825" y="4627144"/>
            <a:ext cx="9715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Аналитической формулы качества нет:</a:t>
            </a:r>
          </a:p>
          <a:p>
            <a:pPr algn="ctr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оптимизатор видит GMP-ECM как внешнюю функцию, дающую шумные эмпирические оценки.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B92F0A4D-BCCD-4DB9-ADFD-2F5EDDC587D1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A1323C8-BA41-45F4-BC22-F92D5B4E33ED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BA13E9F4-5EF1-4259-9376-632741D23EC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3" name="Рисунок 2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C34CF234-E1EC-4FE2-A5D3-55F6B3621D1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840956" y="2371165"/>
                <a:ext cx="2433888" cy="143321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type m:val="noBar"/>
                          <m:ctrlPr>
                            <a:rPr lang="ru-RU" sz="2400" b="1" i="1" smtClean="0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f>
                            <m:fPr>
                              <m:type m:val="noBar"/>
                              <m:ctrlPr>
                                <a:rPr lang="ru-RU" sz="24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  <m:r>
                                    <a:rPr lang="ru-RU" sz="2400" b="1" i="0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𝒎𝒊𝒏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  <m:r>
                                    <a:rPr lang="ru-RU" sz="2400" b="1" i="1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𝒎𝒂𝒙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  <m:r>
                                    <a:rPr lang="ru-RU" sz="2400" b="1" i="1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𝒎𝒊𝒏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  <m:r>
                                    <a:rPr lang="ru-RU" sz="2400" b="1" i="1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𝒎𝒂𝒙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</m:den>
                          </m:f>
                        </m:num>
                        <m:den>
                          <m:f>
                            <m:fPr>
                              <m:type m:val="noBar"/>
                              <m:ctrlPr>
                                <a:rPr lang="ru-RU" sz="24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</m:num>
                            <m:den>
                              <m:f>
                                <m:f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ru-RU" sz="2400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2400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sz="2400" b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𝟐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ru-RU" sz="2400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2400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sz="2400" b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𝟏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𝑹</m:t>
                                  </m:r>
                                </m:e>
                                <m:sub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𝒎𝒂𝒙</m:t>
                                  </m:r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.</m:t>
                                  </m:r>
                                </m:sub>
                              </m:sSub>
                            </m:den>
                          </m:f>
                        </m:den>
                      </m:f>
                    </m:oMath>
                  </m:oMathPara>
                </a14:m>
                <a:endParaRPr sz="2400" dirty="0"/>
              </a:p>
            </p:txBody>
          </p:sp>
        </mc:Choice>
        <mc:Fallback xmlns=""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C34CF234-E1EC-4FE2-A5D3-55F6B3621D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0956" y="2371165"/>
                <a:ext cx="2433888" cy="143321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17D71387-F694-405A-96DF-4435C213E69B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65445ED-70E4-4B56-9B19-E561243E941C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6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0886963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F610680-817F-47F0-992B-28EE706B53A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D38D43A-1B3F-4624-B83C-87BB1FCC4D81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МЕТРИКА И ВАЛИДАЦИЯ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3BE64E3-1B7B-4A49-82A8-51EFC41D1966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6627576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Control-набор защищает результат от переоценки на функции дающей зашумленный результат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03EB9BA-E44B-4964-A003-13D9B8116415}"/>
              </a:ext>
            </a:extLst>
          </p:cNvPr>
          <p:cNvSpPr>
            <a:spLocks noGrp="1"/>
          </p:cNvSpPr>
          <p:nvPr/>
        </p:nvSpPr>
        <p:spPr>
          <a:xfrm>
            <a:off x="270304" y="2381165"/>
            <a:ext cx="1612328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1123022-ECAF-42AB-87F2-7AD4B762AF86}"/>
              </a:ext>
            </a:extLst>
          </p:cNvPr>
          <p:cNvSpPr>
            <a:spLocks noGrp="1"/>
          </p:cNvSpPr>
          <p:nvPr/>
        </p:nvSpPr>
        <p:spPr>
          <a:xfrm>
            <a:off x="270304" y="3390815"/>
            <a:ext cx="1612328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EB27AE8-4E2A-46A7-9305-201BF15E2864}"/>
              </a:ext>
            </a:extLst>
          </p:cNvPr>
          <p:cNvSpPr>
            <a:spLocks noGrp="1"/>
          </p:cNvSpPr>
          <p:nvPr/>
        </p:nvSpPr>
        <p:spPr>
          <a:xfrm>
            <a:off x="403654" y="2514515"/>
            <a:ext cx="13683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train-набор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78F1F03-C8B8-45AF-AE1D-054A7CEB225E}"/>
              </a:ext>
            </a:extLst>
          </p:cNvPr>
          <p:cNvSpPr>
            <a:spLocks noGrp="1"/>
          </p:cNvSpPr>
          <p:nvPr/>
        </p:nvSpPr>
        <p:spPr>
          <a:xfrm>
            <a:off x="1808819" y="2709424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9A7995D-31F5-4A7C-9247-9EDA055CC38D}"/>
              </a:ext>
            </a:extLst>
          </p:cNvPr>
          <p:cNvSpPr>
            <a:spLocks noGrp="1"/>
          </p:cNvSpPr>
          <p:nvPr/>
        </p:nvSpPr>
        <p:spPr>
          <a:xfrm>
            <a:off x="2304085" y="2367349"/>
            <a:ext cx="1639813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442119E-0DB3-45D3-93DA-1586A7530F23}"/>
              </a:ext>
            </a:extLst>
          </p:cNvPr>
          <p:cNvSpPr>
            <a:spLocks noGrp="1"/>
          </p:cNvSpPr>
          <p:nvPr/>
        </p:nvSpPr>
        <p:spPr>
          <a:xfrm>
            <a:off x="2304085" y="3376999"/>
            <a:ext cx="1639813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1255C6D-F8F9-4AE5-9FCA-1B5B40B93F5B}"/>
              </a:ext>
            </a:extLst>
          </p:cNvPr>
          <p:cNvSpPr>
            <a:spLocks noGrp="1"/>
          </p:cNvSpPr>
          <p:nvPr/>
        </p:nvSpPr>
        <p:spPr>
          <a:xfrm>
            <a:off x="2437436" y="2500699"/>
            <a:ext cx="1456153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оптимизатор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RS / DE / GA / PSO / BO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EA4994D8-F869-4894-9830-9CA6B5EA0DA3}"/>
              </a:ext>
            </a:extLst>
          </p:cNvPr>
          <p:cNvSpPr>
            <a:spLocks noGrp="1"/>
          </p:cNvSpPr>
          <p:nvPr/>
        </p:nvSpPr>
        <p:spPr>
          <a:xfrm>
            <a:off x="3930454" y="2697265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ABA5A99-40A0-4FEA-8E41-B4248D608D2C}"/>
              </a:ext>
            </a:extLst>
          </p:cNvPr>
          <p:cNvSpPr>
            <a:spLocks noGrp="1"/>
          </p:cNvSpPr>
          <p:nvPr/>
        </p:nvSpPr>
        <p:spPr>
          <a:xfrm>
            <a:off x="4365351" y="2366524"/>
            <a:ext cx="1639813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A02915D-C4DF-4C83-92B5-4302471DFF7E}"/>
              </a:ext>
            </a:extLst>
          </p:cNvPr>
          <p:cNvSpPr>
            <a:spLocks noGrp="1"/>
          </p:cNvSpPr>
          <p:nvPr/>
        </p:nvSpPr>
        <p:spPr>
          <a:xfrm>
            <a:off x="4365351" y="3376174"/>
            <a:ext cx="1639813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1FF49F41-165F-4FAF-B518-78733DE4E141}"/>
              </a:ext>
            </a:extLst>
          </p:cNvPr>
          <p:cNvSpPr>
            <a:spLocks noGrp="1"/>
          </p:cNvSpPr>
          <p:nvPr/>
        </p:nvSpPr>
        <p:spPr>
          <a:xfrm>
            <a:off x="4498701" y="2499874"/>
            <a:ext cx="139815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найденные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B1/B2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A093E63-531F-4009-B26B-E416B8B4570F}"/>
              </a:ext>
            </a:extLst>
          </p:cNvPr>
          <p:cNvSpPr>
            <a:spLocks noGrp="1"/>
          </p:cNvSpPr>
          <p:nvPr/>
        </p:nvSpPr>
        <p:spPr>
          <a:xfrm>
            <a:off x="692819" y="3922646"/>
            <a:ext cx="20002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512D0C02-E545-4511-A2C4-92A60E268557}"/>
              </a:ext>
            </a:extLst>
          </p:cNvPr>
          <p:cNvSpPr>
            <a:spLocks noGrp="1"/>
          </p:cNvSpPr>
          <p:nvPr/>
        </p:nvSpPr>
        <p:spPr>
          <a:xfrm>
            <a:off x="692819" y="4932296"/>
            <a:ext cx="20002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169BAE61-718E-4248-87B8-F17351A7AA86}"/>
              </a:ext>
            </a:extLst>
          </p:cNvPr>
          <p:cNvSpPr>
            <a:spLocks noGrp="1"/>
          </p:cNvSpPr>
          <p:nvPr/>
        </p:nvSpPr>
        <p:spPr>
          <a:xfrm>
            <a:off x="826169" y="4055996"/>
            <a:ext cx="17335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control-набор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A4413F1B-F0F9-43BE-AD3D-ECE605D53B2F}"/>
              </a:ext>
            </a:extLst>
          </p:cNvPr>
          <p:cNvSpPr>
            <a:spLocks noGrp="1"/>
          </p:cNvSpPr>
          <p:nvPr/>
        </p:nvSpPr>
        <p:spPr>
          <a:xfrm>
            <a:off x="2747963" y="425917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0553ACA2-F4D7-411A-BC08-FF37C6BCF02B}"/>
              </a:ext>
            </a:extLst>
          </p:cNvPr>
          <p:cNvSpPr>
            <a:spLocks noGrp="1"/>
          </p:cNvSpPr>
          <p:nvPr/>
        </p:nvSpPr>
        <p:spPr>
          <a:xfrm>
            <a:off x="3317207" y="3934176"/>
            <a:ext cx="20002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E9E25AF-65B1-4C00-B16D-AC30AE645E0A}"/>
              </a:ext>
            </a:extLst>
          </p:cNvPr>
          <p:cNvSpPr>
            <a:spLocks noGrp="1"/>
          </p:cNvSpPr>
          <p:nvPr/>
        </p:nvSpPr>
        <p:spPr>
          <a:xfrm>
            <a:off x="3317207" y="4943826"/>
            <a:ext cx="20002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EBF5A014-9AA4-4EC2-ABC1-07FC0D1EB03A}"/>
              </a:ext>
            </a:extLst>
          </p:cNvPr>
          <p:cNvSpPr>
            <a:spLocks noGrp="1"/>
          </p:cNvSpPr>
          <p:nvPr/>
        </p:nvSpPr>
        <p:spPr>
          <a:xfrm>
            <a:off x="3450557" y="4067526"/>
            <a:ext cx="1776222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независимая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валидация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134A13B7-7B7E-4404-A7DF-648200678231}"/>
              </a:ext>
            </a:extLst>
          </p:cNvPr>
          <p:cNvSpPr>
            <a:spLocks noGrp="1"/>
          </p:cNvSpPr>
          <p:nvPr/>
        </p:nvSpPr>
        <p:spPr>
          <a:xfrm>
            <a:off x="6373166" y="1760114"/>
            <a:ext cx="5304483" cy="249905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CEA6EA72-AF05-48F3-A4D9-845DADC00BBC}"/>
              </a:ext>
            </a:extLst>
          </p:cNvPr>
          <p:cNvSpPr>
            <a:spLocks noGrp="1"/>
          </p:cNvSpPr>
          <p:nvPr/>
        </p:nvSpPr>
        <p:spPr>
          <a:xfrm>
            <a:off x="6373166" y="1760113"/>
            <a:ext cx="57151" cy="249905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1647DC3-DC0C-4408-A02A-DFDAAE23BB45}"/>
              </a:ext>
            </a:extLst>
          </p:cNvPr>
          <p:cNvSpPr>
            <a:spLocks noGrp="1"/>
          </p:cNvSpPr>
          <p:nvPr/>
        </p:nvSpPr>
        <p:spPr>
          <a:xfrm>
            <a:off x="6717283" y="1818168"/>
            <a:ext cx="4286250" cy="513447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SCORE</a:t>
            </a:r>
          </a:p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4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(композитная метрика) 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8E32EDCA-FB93-4B03-B8DB-BA0006E2402F}"/>
              </a:ext>
            </a:extLst>
          </p:cNvPr>
          <p:cNvSpPr>
            <a:spLocks noGrp="1"/>
          </p:cNvSpPr>
          <p:nvPr/>
        </p:nvSpPr>
        <p:spPr>
          <a:xfrm>
            <a:off x="6373167" y="4402320"/>
            <a:ext cx="5304482" cy="1300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D88397A-4C73-44A4-85FA-69A7AC508BDC}"/>
              </a:ext>
            </a:extLst>
          </p:cNvPr>
          <p:cNvSpPr>
            <a:spLocks noGrp="1"/>
          </p:cNvSpPr>
          <p:nvPr/>
        </p:nvSpPr>
        <p:spPr>
          <a:xfrm>
            <a:off x="6373166" y="4402320"/>
            <a:ext cx="58367" cy="130012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942DA5F0-5884-4981-8287-78F1C87813A6}"/>
              </a:ext>
            </a:extLst>
          </p:cNvPr>
          <p:cNvSpPr>
            <a:spLocks noGrp="1"/>
          </p:cNvSpPr>
          <p:nvPr/>
        </p:nvSpPr>
        <p:spPr>
          <a:xfrm>
            <a:off x="6718499" y="4483232"/>
            <a:ext cx="4169518" cy="59626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GAIN</a:t>
            </a: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, </a:t>
            </a: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%</a:t>
            </a:r>
          </a:p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4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(метрика улучшения)</a:t>
            </a:r>
          </a:p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endParaRPr sz="1400" b="1">
              <a:solidFill>
                <a:srgbClr val="522878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C4B0A2E-084C-4160-AEDE-D519CB4F655D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AA95DCDB-A513-4AB2-A83D-8ADC3714F6E7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9CDA7283-6D87-47F0-AC62-4EC374539BDB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5" name="Рисунок 3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6" name="Прямоугольник 35">
                <a:extLst>
                  <a:ext uri="{FF2B5EF4-FFF2-40B4-BE49-F238E27FC236}">
                    <a16:creationId xmlns:a16="http://schemas.microsoft.com/office/drawing/2014/main" id="{5C94B1A4-E4DA-4BE7-8D65-3924E791C96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942187" y="5049601"/>
                <a:ext cx="3758401" cy="59202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ru-RU" sz="1600" b="1" i="1">
                              <a:latin typeface="Cambria Math"/>
                              <a:ea typeface="Cambria Math"/>
                              <a:cs typeface="Cambria Math"/>
                            </a:rPr>
                            <m:t>𝒔𝒄𝒐𝒓</m:t>
                          </m:r>
                          <m:sSub>
                            <m:sSub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𝑏𝑎𝑠𝑒𝑙𝑖𝑛𝑒</m:t>
                              </m:r>
                            </m:sub>
                          </m:sSub>
                          <m:r>
                            <a:rPr lang="ru-RU" sz="1600" b="1" i="0"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ru-RU" sz="1600" b="1" i="1">
                              <a:latin typeface="Cambria Math"/>
                              <a:ea typeface="Cambria Math"/>
                              <a:cs typeface="Cambria Math"/>
                            </a:rPr>
                            <m:t>𝒔𝒄𝒐𝒓</m:t>
                          </m:r>
                          <m:sSub>
                            <m:sSub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𝑚𝑒𝑡</m:t>
                              </m:r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𝑜𝑑</m:t>
                              </m:r>
                            </m:sub>
                          </m:sSub>
                        </m:num>
                        <m:den>
                          <m:r>
                            <a:rPr lang="ru-RU" sz="1600" b="1" i="1">
                              <a:latin typeface="Cambria Math"/>
                              <a:ea typeface="Cambria Math"/>
                              <a:cs typeface="Cambria Math"/>
                            </a:rPr>
                            <m:t>𝒔𝒄𝒐𝒓</m:t>
                          </m:r>
                          <m:sSub>
                            <m:sSub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𝑏𝑎𝑠𝑒𝑙𝑖𝑛𝑒</m:t>
                              </m:r>
                            </m:sub>
                          </m:sSub>
                        </m:den>
                      </m:f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𝟏𝟎𝟎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%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6" name="Прямоугольник 35">
                <a:extLst>
                  <a:ext uri="{FF2B5EF4-FFF2-40B4-BE49-F238E27FC236}">
                    <a16:creationId xmlns:a16="http://schemas.microsoft.com/office/drawing/2014/main" id="{5C94B1A4-E4DA-4BE7-8D65-3924E791C9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2187" y="5049601"/>
                <a:ext cx="3758401" cy="59202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Прямоугольник 39">
                <a:extLst>
                  <a:ext uri="{FF2B5EF4-FFF2-40B4-BE49-F238E27FC236}">
                    <a16:creationId xmlns:a16="http://schemas.microsoft.com/office/drawing/2014/main" id="{97036A10-FA8A-48C1-A467-11151069279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649490" y="2686303"/>
                <a:ext cx="4818708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600" b="1" i="1">
                          <a:latin typeface="Cambria Math"/>
                          <a:ea typeface="Cambria Math"/>
                          <a:cs typeface="Cambria Math"/>
                        </a:rPr>
                        <m:t>𝟐𝟎𝟎𝟎𝟎𝟎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func>
                        <m:funcPr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a:rPr lang="ru-RU" sz="1600" b="1" i="0">
                              <a:latin typeface="Cambria Math"/>
                              <a:ea typeface="Cambria Math"/>
                              <a:cs typeface="Cambria Math"/>
                            </a:rPr>
                            <m:t>𝐦𝐚𝐱</m:t>
                          </m:r>
                        </m:fName>
                        <m:e>
                          <m:d>
                            <m:d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𝟎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, 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𝟎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.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𝟗𝟎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ru-RU" sz="16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a:rPr lang="ru-RU" sz="1600" b="1" i="1">
                                      <a:solidFill>
                                        <a:srgbClr val="DA492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𝒑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+ 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𝟏𝟎𝟎𝟎𝟎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a:rPr lang="ru-RU" sz="1600" b="1" i="1">
                              <a:solidFill>
                                <a:srgbClr val="37B34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𝒕</m:t>
                          </m:r>
                        </m:e>
                      </m:acc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+ 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𝟓𝟎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a:rPr lang="ru-RU" sz="1600" b="1" i="1">
                              <a:solidFill>
                                <a:srgbClr val="522878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𝒄</m:t>
                          </m:r>
                        </m:e>
                      </m:acc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40" name="Прямоугольник 39">
                <a:extLst>
                  <a:ext uri="{FF2B5EF4-FFF2-40B4-BE49-F238E27FC236}">
                    <a16:creationId xmlns:a16="http://schemas.microsoft.com/office/drawing/2014/main" id="{97036A10-FA8A-48C1-A467-1115106927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9490" y="2686303"/>
                <a:ext cx="4818708" cy="338554"/>
              </a:xfrm>
              <a:prstGeom prst="rect">
                <a:avLst/>
              </a:prstGeom>
              <a:blipFill>
                <a:blip r:embed="rId5"/>
                <a:stretch>
                  <a:fillRect r="-2152" b="-36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581662DF-2770-4E58-925C-12C009689F1F}"/>
              </a:ext>
            </a:extLst>
          </p:cNvPr>
          <p:cNvSpPr>
            <a:spLocks noGrp="1"/>
          </p:cNvSpPr>
          <p:nvPr/>
        </p:nvSpPr>
        <p:spPr>
          <a:xfrm>
            <a:off x="6809432" y="2699067"/>
            <a:ext cx="2542615" cy="325790"/>
          </a:xfrm>
          <a:prstGeom prst="rect">
            <a:avLst/>
          </a:prstGeom>
          <a:noFill/>
          <a:ln w="9525">
            <a:solidFill>
              <a:srgbClr val="DA4927"/>
            </a:solidFill>
            <a:prstDash val="solid"/>
          </a:ln>
        </p:spPr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BA3A581C-0FD0-4E25-9ECE-8FDE803E6881}"/>
              </a:ext>
            </a:extLst>
          </p:cNvPr>
          <p:cNvSpPr>
            <a:spLocks noGrp="1"/>
          </p:cNvSpPr>
          <p:nvPr/>
        </p:nvSpPr>
        <p:spPr>
          <a:xfrm>
            <a:off x="6665850" y="2320701"/>
            <a:ext cx="31164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Штраф за недобор успеха (ниже 90%)</a:t>
            </a:r>
          </a:p>
        </p:txBody>
      </p:sp>
      <p:cxnSp>
        <p:nvCxnSpPr>
          <p:cNvPr id="45" name="Прямая соединительная линия 45"/>
          <p:cNvCxnSpPr>
            <a:stCxn id="44" idx="1"/>
            <a:endCxn id="42" idx="1"/>
          </p:cNvCxnSpPr>
          <p:nvPr/>
        </p:nvCxnSpPr>
        <p:spPr>
          <a:xfrm>
            <a:off x="6665850" y="2474590"/>
            <a:ext cx="143582" cy="387372"/>
          </a:xfrm>
          <a:prstGeom prst="line">
            <a:avLst/>
          </a:prstGeom>
          <a:ln>
            <a:solidFill>
              <a:srgbClr val="DA49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C5A61A20-0D8A-45A4-83D8-6295F98DB333}"/>
              </a:ext>
            </a:extLst>
          </p:cNvPr>
          <p:cNvSpPr>
            <a:spLocks noGrp="1"/>
          </p:cNvSpPr>
          <p:nvPr/>
        </p:nvSpPr>
        <p:spPr>
          <a:xfrm>
            <a:off x="9571219" y="2692141"/>
            <a:ext cx="968906" cy="325790"/>
          </a:xfrm>
          <a:prstGeom prst="rect">
            <a:avLst/>
          </a:prstGeom>
          <a:noFill/>
          <a:ln w="9525">
            <a:solidFill>
              <a:srgbClr val="37B34A"/>
            </a:solidFill>
            <a:prstDash val="solid"/>
          </a:ln>
        </p:spPr>
      </p:sp>
      <p:sp>
        <p:nvSpPr>
          <p:cNvPr id="51" name="Прямоугольник 50">
            <a:extLst>
              <a:ext uri="{FF2B5EF4-FFF2-40B4-BE49-F238E27FC236}">
                <a16:creationId xmlns:a16="http://schemas.microsoft.com/office/drawing/2014/main" id="{F620A3B3-4ADC-4254-AD71-F7F2D3DB4D37}"/>
              </a:ext>
            </a:extLst>
          </p:cNvPr>
          <p:cNvSpPr>
            <a:spLocks noGrp="1"/>
          </p:cNvSpPr>
          <p:nvPr/>
        </p:nvSpPr>
        <p:spPr>
          <a:xfrm>
            <a:off x="7616930" y="3133530"/>
            <a:ext cx="167892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Взвешенное время</a:t>
            </a:r>
          </a:p>
        </p:txBody>
      </p:sp>
      <p:cxnSp>
        <p:nvCxnSpPr>
          <p:cNvPr id="52" name="Прямая соединительная линия 52"/>
          <p:cNvCxnSpPr>
            <a:stCxn id="51" idx="3"/>
            <a:endCxn id="50" idx="1"/>
          </p:cNvCxnSpPr>
          <p:nvPr/>
        </p:nvCxnSpPr>
        <p:spPr>
          <a:xfrm flipV="1">
            <a:off x="9295851" y="2855036"/>
            <a:ext cx="275368" cy="432383"/>
          </a:xfrm>
          <a:prstGeom prst="line">
            <a:avLst/>
          </a:prstGeom>
          <a:ln>
            <a:solidFill>
              <a:srgbClr val="37B34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Прямоугольник 54">
            <a:extLst>
              <a:ext uri="{FF2B5EF4-FFF2-40B4-BE49-F238E27FC236}">
                <a16:creationId xmlns:a16="http://schemas.microsoft.com/office/drawing/2014/main" id="{FA44951E-0CAA-4B83-A4A7-C515925DD0D6}"/>
              </a:ext>
            </a:extLst>
          </p:cNvPr>
          <p:cNvSpPr>
            <a:spLocks noGrp="1"/>
          </p:cNvSpPr>
          <p:nvPr/>
        </p:nvSpPr>
        <p:spPr>
          <a:xfrm>
            <a:off x="9352048" y="3140507"/>
            <a:ext cx="226376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Взвешенное число кривых</a:t>
            </a:r>
          </a:p>
        </p:txBody>
      </p: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7E46AC83-DD7A-4E1C-84DE-54C7F7AAAD79}"/>
              </a:ext>
            </a:extLst>
          </p:cNvPr>
          <p:cNvSpPr>
            <a:spLocks noGrp="1"/>
          </p:cNvSpPr>
          <p:nvPr/>
        </p:nvSpPr>
        <p:spPr>
          <a:xfrm>
            <a:off x="10738645" y="2697265"/>
            <a:ext cx="674273" cy="315141"/>
          </a:xfrm>
          <a:prstGeom prst="rect">
            <a:avLst/>
          </a:prstGeom>
          <a:noFill/>
          <a:ln w="9525">
            <a:solidFill>
              <a:srgbClr val="522878"/>
            </a:solidFill>
            <a:prstDash val="solid"/>
          </a:ln>
        </p:spPr>
      </p:sp>
      <p:cxnSp>
        <p:nvCxnSpPr>
          <p:cNvPr id="57" name="Прямая соединительная линия 57"/>
          <p:cNvCxnSpPr>
            <a:stCxn id="55" idx="0"/>
            <a:endCxn id="56" idx="1"/>
          </p:cNvCxnSpPr>
          <p:nvPr/>
        </p:nvCxnSpPr>
        <p:spPr>
          <a:xfrm flipV="1">
            <a:off x="10483929" y="2854836"/>
            <a:ext cx="254716" cy="285671"/>
          </a:xfrm>
          <a:prstGeom prst="line">
            <a:avLst/>
          </a:prstGeom>
          <a:ln>
            <a:solidFill>
              <a:srgbClr val="5228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8" name="Прямоугольник 67">
                <a:extLst>
                  <a:ext uri="{FF2B5EF4-FFF2-40B4-BE49-F238E27FC236}">
                    <a16:creationId xmlns:a16="http://schemas.microsoft.com/office/drawing/2014/main" id="{E9E207A7-2A99-48BD-8624-59C7D4BB43B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737641" y="3110013"/>
                <a:ext cx="3184069" cy="11197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sz="1400" b="1" dirty="0" err="1">
                    <a:latin typeface="Onest"/>
                    <a:ea typeface="Onest"/>
                    <a:cs typeface="Onest"/>
                  </a:rPr>
                  <a:t>где</a:t>
                </a:r>
                <a:endParaRPr sz="1400" b="1" dirty="0">
                  <a:latin typeface="Onest"/>
                  <a:ea typeface="Onest"/>
                  <a:cs typeface="Onest"/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ru-RU" b="1" i="1" smtClean="0">
                            <a:solidFill>
                              <a:srgbClr val="DA4927"/>
                            </a:solidFill>
                          </a:rPr>
                        </m:ctrlPr>
                      </m:accPr>
                      <m:e>
                        <m:r>
                          <a:rPr lang="ru-RU" b="1" i="1">
                            <a:solidFill>
                              <a:srgbClr val="DA4927"/>
                            </a:solidFill>
                          </a:rPr>
                          <m:t>𝒑</m:t>
                        </m:r>
                      </m:e>
                    </m:acc>
                  </m:oMath>
                </a14:m>
                <a:r>
                  <a:rPr lang="en-US" b="1" dirty="0">
                    <a:solidFill>
                      <a:srgbClr val="DA4927"/>
                    </a:solidFill>
                  </a:rPr>
                  <a:t> 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—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средняя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доля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успеха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,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ru-RU" b="1" i="1" smtClean="0">
                            <a:solidFill>
                              <a:srgbClr val="37B34A"/>
                            </a:solidFill>
                          </a:rPr>
                        </m:ctrlPr>
                      </m:accPr>
                      <m:e>
                        <m:r>
                          <a:rPr lang="en-US" b="1" i="1">
                            <a:solidFill>
                              <a:srgbClr val="37B34A"/>
                            </a:solidFill>
                          </a:rPr>
                          <m:t>𝒕</m:t>
                        </m:r>
                      </m:e>
                    </m:acc>
                  </m:oMath>
                </a14:m>
                <a:r>
                  <a:rPr lang="en-US" sz="1400" b="1" dirty="0">
                    <a:solidFill>
                      <a:srgbClr val="37B34A"/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—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среднее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время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,</a:t>
                </a:r>
                <a:br>
                  <a:rPr dirty="0"/>
                </a:b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ar-AE" b="1" i="1" smtClean="0">
                            <a:solidFill>
                              <a:srgbClr val="522878"/>
                            </a:solidFill>
                          </a:rPr>
                        </m:ctrlPr>
                      </m:accPr>
                      <m:e>
                        <m:r>
                          <a:rPr lang="ar-AE" b="1" i="1">
                            <a:solidFill>
                              <a:srgbClr val="522878"/>
                            </a:solidFill>
                          </a:rPr>
                          <m:t>𝒄</m:t>
                        </m:r>
                      </m:e>
                    </m:acc>
                  </m:oMath>
                </a14:m>
                <a:r>
                  <a:rPr lang="ar-AE" sz="1400" b="1" dirty="0">
                    <a:solidFill>
                      <a:srgbClr val="522878"/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—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среднее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число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кривых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.</a:t>
                </a:r>
              </a:p>
            </p:txBody>
          </p:sp>
        </mc:Choice>
        <mc:Fallback>
          <p:sp>
            <p:nvSpPr>
              <p:cNvPr id="68" name="Прямоугольник 67">
                <a:extLst>
                  <a:ext uri="{FF2B5EF4-FFF2-40B4-BE49-F238E27FC236}">
                    <a16:creationId xmlns:a16="http://schemas.microsoft.com/office/drawing/2014/main" id="{E9E207A7-2A99-48BD-8624-59C7D4BB43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7641" y="3110013"/>
                <a:ext cx="3184069" cy="1119730"/>
              </a:xfrm>
              <a:prstGeom prst="rect">
                <a:avLst/>
              </a:prstGeom>
              <a:blipFill>
                <a:blip r:embed="rId6"/>
                <a:stretch>
                  <a:fillRect l="-574" t="-1087" b="-543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51BC16A4-D1FE-4488-87DD-B3E108F12B27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995A44E0-B4E1-467A-B8ED-81677A1D43F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7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8061662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CCB46D4-526C-4618-90D0-E74383F5C68E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0DAF425-5067-4A2B-9FE6-BD9FDCC9AE37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МЕТОДЫ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E07ADE5-8D52-4F70-BB05-9C47CE93518A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Пять оптимизаторов покрывают разные стратегии поиска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59EA06FA-57CE-406B-BDC9-B0EEEB781D20}"/>
              </a:ext>
            </a:extLst>
          </p:cNvPr>
          <p:cNvSpPr>
            <a:spLocks noGrp="1"/>
          </p:cNvSpPr>
          <p:nvPr/>
        </p:nvSpPr>
        <p:spPr>
          <a:xfrm>
            <a:off x="1178844" y="5314391"/>
            <a:ext cx="9834312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Сравнение идет в едином pipeline: одни ограничения, одна метрика, один протокол валидации.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E3FB8E77-500D-4315-9CEA-EDBC78D52F64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47D42072-519D-4450-9FAC-9E369546472E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20BB17BA-7F9A-4FC6-B4D2-56AE65856FC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4" name="Рисунок 3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A3843F03-D27B-4DA4-AB46-B1397F92269E}"/>
              </a:ext>
            </a:extLst>
          </p:cNvPr>
          <p:cNvSpPr>
            <a:spLocks noGrp="1"/>
          </p:cNvSpPr>
          <p:nvPr/>
        </p:nvSpPr>
        <p:spPr>
          <a:xfrm>
            <a:off x="786063" y="1295400"/>
            <a:ext cx="9834312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Таблица 1 – Методы оптимизации</a:t>
            </a:r>
          </a:p>
        </p:txBody>
      </p:sp>
      <p:graphicFrame>
        <p:nvGraphicFramePr>
          <p:cNvPr id="41" name="Таблица 38"/>
          <p:cNvGraphicFramePr/>
          <p:nvPr/>
        </p:nvGraphicFramePr>
        <p:xfrm>
          <a:off x="752475" y="1661328"/>
          <a:ext cx="10382250" cy="34709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9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93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68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Метод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T w="12700" cmpd="sng">
                      <a:noFill/>
                      <a:prstDash val="solid"/>
                    </a:lnT>
                    <a:solidFill>
                      <a:srgbClr val="5228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Тип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5228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Роль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solidFill>
                      <a:srgbClr val="5228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RS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Случайный поиск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Базовый ориентир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DE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Дифференциальная эволюция</a:t>
                      </a:r>
                    </a:p>
                  </a:txBody>
                  <a:tcPr anchor="ctr"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Популяционный направленный поиск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rgbClr val="EEE8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GA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Генетический алгоритм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Эволюционный поиск с элитизмом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PSO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Роевой алгоритм</a:t>
                      </a:r>
                    </a:p>
                  </a:txBody>
                  <a:tcPr anchor="ctr"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Личный и коллективный опыт частиц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rgbClr val="EEE8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BO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B w="12700" cmpd="sng">
                      <a:noFill/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Байесовская оптимизация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Суррогатная модель дорогой функции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B w="12700" cmpd="sng">
                      <a:noFill/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3B9948BF-B012-4978-AAAC-55DCA9A3CB93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5E36DBD-A3C3-40D5-8CC5-79B3D3AFEF3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8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121852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2AD3698-8F76-4BB4-BD6A-150841612BDD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CF46983-36F6-4EC8-AF2E-283C98686FA0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АРХИТЕКТУРА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61622D3-AB6E-4D2A-9F99-39FEF5AB88DA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Разработанная система воспроизводит полный цикл эксперимента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1B2C063-6998-45BB-9A21-5A09E2CA4326}"/>
              </a:ext>
            </a:extLst>
          </p:cNvPr>
          <p:cNvSpPr>
            <a:spLocks noGrp="1"/>
          </p:cNvSpPr>
          <p:nvPr/>
        </p:nvSpPr>
        <p:spPr>
          <a:xfrm>
            <a:off x="388285" y="2747119"/>
            <a:ext cx="603440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40BA4C9-3409-4444-A427-C25A84311BDD}"/>
              </a:ext>
            </a:extLst>
          </p:cNvPr>
          <p:cNvSpPr>
            <a:spLocks noGrp="1"/>
          </p:cNvSpPr>
          <p:nvPr/>
        </p:nvSpPr>
        <p:spPr>
          <a:xfrm>
            <a:off x="388285" y="3756769"/>
            <a:ext cx="603440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FB26FD2-71A4-4699-8327-68B0701643A1}"/>
              </a:ext>
            </a:extLst>
          </p:cNvPr>
          <p:cNvSpPr>
            <a:spLocks noGrp="1"/>
          </p:cNvSpPr>
          <p:nvPr/>
        </p:nvSpPr>
        <p:spPr>
          <a:xfrm>
            <a:off x="384907" y="2880469"/>
            <a:ext cx="473468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CLI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79015DA-9671-4F6C-9769-7F090D28BAA8}"/>
              </a:ext>
            </a:extLst>
          </p:cNvPr>
          <p:cNvSpPr>
            <a:spLocks noGrp="1"/>
          </p:cNvSpPr>
          <p:nvPr/>
        </p:nvSpPr>
        <p:spPr>
          <a:xfrm>
            <a:off x="906000" y="3125601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4009E9C-0656-44AF-85CC-901ADE589917}"/>
              </a:ext>
            </a:extLst>
          </p:cNvPr>
          <p:cNvSpPr>
            <a:spLocks noGrp="1"/>
          </p:cNvSpPr>
          <p:nvPr/>
        </p:nvSpPr>
        <p:spPr>
          <a:xfrm>
            <a:off x="1327346" y="2030226"/>
            <a:ext cx="1375518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0A663D8-5A85-4255-B46F-AA0B63555AE1}"/>
              </a:ext>
            </a:extLst>
          </p:cNvPr>
          <p:cNvSpPr>
            <a:spLocks noGrp="1"/>
          </p:cNvSpPr>
          <p:nvPr/>
        </p:nvSpPr>
        <p:spPr>
          <a:xfrm>
            <a:off x="1327346" y="3039876"/>
            <a:ext cx="1375518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705709A-C0AA-4BB6-80C6-352D002079D8}"/>
              </a:ext>
            </a:extLst>
          </p:cNvPr>
          <p:cNvSpPr>
            <a:spLocks noGrp="1"/>
          </p:cNvSpPr>
          <p:nvPr/>
        </p:nvSpPr>
        <p:spPr>
          <a:xfrm>
            <a:off x="1426102" y="2163576"/>
            <a:ext cx="117800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generate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датасеты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F68259DC-BC0E-4847-8C78-499BCE84BA11}"/>
              </a:ext>
            </a:extLst>
          </p:cNvPr>
          <p:cNvSpPr>
            <a:spLocks noGrp="1"/>
          </p:cNvSpPr>
          <p:nvPr/>
        </p:nvSpPr>
        <p:spPr>
          <a:xfrm>
            <a:off x="2648519" y="2350992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3AE4400-C75C-432F-B19A-21806B303AAE}"/>
              </a:ext>
            </a:extLst>
          </p:cNvPr>
          <p:cNvSpPr>
            <a:spLocks noGrp="1"/>
          </p:cNvSpPr>
          <p:nvPr/>
        </p:nvSpPr>
        <p:spPr>
          <a:xfrm>
            <a:off x="3131276" y="2037228"/>
            <a:ext cx="1425045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A08F623-23E9-4F53-99B4-6128FEFBECD9}"/>
              </a:ext>
            </a:extLst>
          </p:cNvPr>
          <p:cNvSpPr>
            <a:spLocks noGrp="1"/>
          </p:cNvSpPr>
          <p:nvPr/>
        </p:nvSpPr>
        <p:spPr>
          <a:xfrm>
            <a:off x="3131276" y="3046878"/>
            <a:ext cx="1425045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5A51E998-343B-4FEA-9FE6-0DC9BB3057A0}"/>
              </a:ext>
            </a:extLst>
          </p:cNvPr>
          <p:cNvSpPr>
            <a:spLocks noGrp="1"/>
          </p:cNvSpPr>
          <p:nvPr/>
        </p:nvSpPr>
        <p:spPr>
          <a:xfrm>
            <a:off x="3192567" y="2170578"/>
            <a:ext cx="123040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optimize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fitness + </a:t>
            </a:r>
            <a:br/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GMP-ECM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785D6C1-45F3-4922-80B9-0C5E709D8AA5}"/>
              </a:ext>
            </a:extLst>
          </p:cNvPr>
          <p:cNvSpPr>
            <a:spLocks noGrp="1"/>
          </p:cNvSpPr>
          <p:nvPr/>
        </p:nvSpPr>
        <p:spPr>
          <a:xfrm>
            <a:off x="1327346" y="3506601"/>
            <a:ext cx="1375518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26A0980-F5FF-4575-9EE0-DBC52F113B94}"/>
              </a:ext>
            </a:extLst>
          </p:cNvPr>
          <p:cNvSpPr>
            <a:spLocks noGrp="1"/>
          </p:cNvSpPr>
          <p:nvPr/>
        </p:nvSpPr>
        <p:spPr>
          <a:xfrm>
            <a:off x="1327346" y="4516251"/>
            <a:ext cx="1375518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A592F2B1-3E8C-46FB-801B-B77E90139424}"/>
              </a:ext>
            </a:extLst>
          </p:cNvPr>
          <p:cNvSpPr>
            <a:spLocks noGrp="1"/>
          </p:cNvSpPr>
          <p:nvPr/>
        </p:nvSpPr>
        <p:spPr>
          <a:xfrm>
            <a:off x="1426102" y="3639951"/>
            <a:ext cx="117800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validate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control-проверка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F9DA266A-8667-433B-B8F6-D2EF60D10BAA}"/>
              </a:ext>
            </a:extLst>
          </p:cNvPr>
          <p:cNvSpPr>
            <a:spLocks noGrp="1"/>
          </p:cNvSpPr>
          <p:nvPr/>
        </p:nvSpPr>
        <p:spPr>
          <a:xfrm>
            <a:off x="2648519" y="3827367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FB9DC58C-8B24-4960-9D5E-111DA9E02A1A}"/>
              </a:ext>
            </a:extLst>
          </p:cNvPr>
          <p:cNvSpPr>
            <a:spLocks noGrp="1"/>
          </p:cNvSpPr>
          <p:nvPr/>
        </p:nvSpPr>
        <p:spPr>
          <a:xfrm>
            <a:off x="3131276" y="3513603"/>
            <a:ext cx="1425045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AE527B8B-05D5-40FC-BCAD-5EC3CAB34E1E}"/>
              </a:ext>
            </a:extLst>
          </p:cNvPr>
          <p:cNvSpPr>
            <a:spLocks noGrp="1"/>
          </p:cNvSpPr>
          <p:nvPr/>
        </p:nvSpPr>
        <p:spPr>
          <a:xfrm>
            <a:off x="3131276" y="4523253"/>
            <a:ext cx="1425045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CF5E0E3-FD78-4E5C-9746-119B757992AB}"/>
              </a:ext>
            </a:extLst>
          </p:cNvPr>
          <p:cNvSpPr>
            <a:spLocks noGrp="1"/>
          </p:cNvSpPr>
          <p:nvPr/>
        </p:nvSpPr>
        <p:spPr>
          <a:xfrm>
            <a:off x="3192567" y="3646953"/>
            <a:ext cx="123040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analyze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таблицы и графики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39AB1957-58D4-47A2-BA45-9E97F6F9138E}"/>
              </a:ext>
            </a:extLst>
          </p:cNvPr>
          <p:cNvSpPr>
            <a:spLocks noGrp="1"/>
          </p:cNvSpPr>
          <p:nvPr/>
        </p:nvSpPr>
        <p:spPr>
          <a:xfrm>
            <a:off x="4741854" y="2419350"/>
            <a:ext cx="1525115" cy="1809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0CE32CE4-F840-417E-BF89-BC5C70350217}"/>
              </a:ext>
            </a:extLst>
          </p:cNvPr>
          <p:cNvSpPr>
            <a:spLocks noGrp="1"/>
          </p:cNvSpPr>
          <p:nvPr/>
        </p:nvSpPr>
        <p:spPr>
          <a:xfrm>
            <a:off x="4741854" y="2419350"/>
            <a:ext cx="57150" cy="18097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5D1A41DF-51E9-4B91-8E68-69C273EA7E2D}"/>
              </a:ext>
            </a:extLst>
          </p:cNvPr>
          <p:cNvSpPr>
            <a:spLocks noGrp="1"/>
          </p:cNvSpPr>
          <p:nvPr/>
        </p:nvSpPr>
        <p:spPr>
          <a:xfrm>
            <a:off x="4970454" y="2609850"/>
            <a:ext cx="1790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АРТЕФАКТЫ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8AB9053C-E03C-4E9D-A4AA-4AF96FED20E1}"/>
              </a:ext>
            </a:extLst>
          </p:cNvPr>
          <p:cNvSpPr>
            <a:spLocks noGrp="1"/>
          </p:cNvSpPr>
          <p:nvPr/>
        </p:nvSpPr>
        <p:spPr>
          <a:xfrm>
            <a:off x="4970454" y="2933700"/>
            <a:ext cx="1790700" cy="1257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JSON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CSV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PNG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Markdown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E5C20A28-9917-4749-8585-07579869829C}"/>
              </a:ext>
            </a:extLst>
          </p:cNvPr>
          <p:cNvSpPr>
            <a:spLocks noGrp="1"/>
          </p:cNvSpPr>
          <p:nvPr/>
        </p:nvSpPr>
        <p:spPr>
          <a:xfrm>
            <a:off x="384907" y="5026116"/>
            <a:ext cx="5833485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Оптимизатор не вычисляет GMP-ECM напрямую:</a:t>
            </a:r>
          </a:p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все кандидаты проходят через единый fitness evaluator.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142CD541-A347-4DC2-B671-F5898E14D93E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7CB47720-6D49-4B10-86BD-CCA0375E08E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AA0956CF-464B-4C75-9D33-025B1071E42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2" name="Рисунок 3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pic>
        <p:nvPicPr>
          <p:cNvPr id="33" name="Рисунок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1984" y="1194778"/>
            <a:ext cx="5171043" cy="4403984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1BBFE164-49B9-43BE-B1FB-2E9D0A23C0D3}"/>
              </a:ext>
            </a:extLst>
          </p:cNvPr>
          <p:cNvSpPr>
            <a:spLocks noGrp="1"/>
          </p:cNvSpPr>
          <p:nvPr/>
        </p:nvSpPr>
        <p:spPr>
          <a:xfrm>
            <a:off x="7236468" y="5549384"/>
            <a:ext cx="382207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1. Архитектурная схема системы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5930679E-35F6-4C82-9A6C-D0406A16B95A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BCF38E3D-F854-4DD2-95BD-0F5B29E9200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9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23361978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9EDBC86-3DF2-4DA1-B371-1A5A2649DC81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6700DB7-3410-4AAC-81C9-763AEB789D85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ЭКСПЕРИМЕНТ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3A58F23-4413-43AA-A5C3-166D9C6E5F63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Дизайн разделяет поиск параметров и их валидацию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33CF719-AC29-4C5F-AF7E-D448D91D66B5}"/>
              </a:ext>
            </a:extLst>
          </p:cNvPr>
          <p:cNvSpPr>
            <a:spLocks noGrp="1"/>
          </p:cNvSpPr>
          <p:nvPr/>
        </p:nvSpPr>
        <p:spPr>
          <a:xfrm>
            <a:off x="1018171" y="1982834"/>
            <a:ext cx="2381250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04BF8CA-3A72-4782-A1AE-7CF50C59B292}"/>
              </a:ext>
            </a:extLst>
          </p:cNvPr>
          <p:cNvSpPr>
            <a:spLocks noGrp="1"/>
          </p:cNvSpPr>
          <p:nvPr/>
        </p:nvSpPr>
        <p:spPr>
          <a:xfrm>
            <a:off x="1208671" y="2116184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20 цифр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D7CA22A-CE36-465B-AE4D-6CB6D621E402}"/>
              </a:ext>
            </a:extLst>
          </p:cNvPr>
          <p:cNvSpPr>
            <a:spLocks noGrp="1"/>
          </p:cNvSpPr>
          <p:nvPr/>
        </p:nvSpPr>
        <p:spPr>
          <a:xfrm>
            <a:off x="1208671" y="2478133"/>
            <a:ext cx="2095500" cy="67550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целевой простой делитель p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35D0C64C-FE53-4072-89C0-F142C3D3EC43}"/>
              </a:ext>
            </a:extLst>
          </p:cNvPr>
          <p:cNvSpPr>
            <a:spLocks noGrp="1"/>
          </p:cNvSpPr>
          <p:nvPr/>
        </p:nvSpPr>
        <p:spPr>
          <a:xfrm>
            <a:off x="3494671" y="1982833"/>
            <a:ext cx="2251912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1EC8D083-50CF-41C7-A17E-41C432A4C0AE}"/>
              </a:ext>
            </a:extLst>
          </p:cNvPr>
          <p:cNvSpPr>
            <a:spLocks noGrp="1"/>
          </p:cNvSpPr>
          <p:nvPr/>
        </p:nvSpPr>
        <p:spPr>
          <a:xfrm>
            <a:off x="3685171" y="2116184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30 цифр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784B6592-6757-47B0-8913-310B768AD590}"/>
              </a:ext>
            </a:extLst>
          </p:cNvPr>
          <p:cNvSpPr>
            <a:spLocks noGrp="1"/>
          </p:cNvSpPr>
          <p:nvPr/>
        </p:nvSpPr>
        <p:spPr>
          <a:xfrm>
            <a:off x="3685171" y="2478134"/>
            <a:ext cx="1619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кофактор q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4A72AEA-F7AE-44ED-BD19-E7DC4D70F45E}"/>
              </a:ext>
            </a:extLst>
          </p:cNvPr>
          <p:cNvSpPr>
            <a:spLocks noGrp="1"/>
          </p:cNvSpPr>
          <p:nvPr/>
        </p:nvSpPr>
        <p:spPr>
          <a:xfrm>
            <a:off x="6079958" y="1982833"/>
            <a:ext cx="2177213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AF154D9-2BAA-4C9E-9FFA-1EFAB85FFFC1}"/>
              </a:ext>
            </a:extLst>
          </p:cNvPr>
          <p:cNvSpPr>
            <a:spLocks noGrp="1"/>
          </p:cNvSpPr>
          <p:nvPr/>
        </p:nvSpPr>
        <p:spPr>
          <a:xfrm>
            <a:off x="6297205" y="2116183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80 + 80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7281C76F-F4CC-45A1-B3A7-7D720E39F964}"/>
              </a:ext>
            </a:extLst>
          </p:cNvPr>
          <p:cNvSpPr>
            <a:spLocks noGrp="1"/>
          </p:cNvSpPr>
          <p:nvPr/>
        </p:nvSpPr>
        <p:spPr>
          <a:xfrm>
            <a:off x="6297205" y="2478133"/>
            <a:ext cx="1619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train и control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DB597B2-5192-439A-9B58-96C528B16D21}"/>
              </a:ext>
            </a:extLst>
          </p:cNvPr>
          <p:cNvSpPr>
            <a:spLocks noGrp="1"/>
          </p:cNvSpPr>
          <p:nvPr/>
        </p:nvSpPr>
        <p:spPr>
          <a:xfrm>
            <a:off x="8383503" y="1982833"/>
            <a:ext cx="2381250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F301074-0B3C-48FE-A405-F5266431770F}"/>
              </a:ext>
            </a:extLst>
          </p:cNvPr>
          <p:cNvSpPr>
            <a:spLocks noGrp="1"/>
          </p:cNvSpPr>
          <p:nvPr/>
        </p:nvSpPr>
        <p:spPr>
          <a:xfrm>
            <a:off x="8574003" y="2116184"/>
            <a:ext cx="2000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3062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3062"/>
                </a:solidFill>
                <a:latin typeface="Onest"/>
                <a:ea typeface="Onest"/>
                <a:cs typeface="Onest"/>
              </a:rPr>
              <a:t>11000 / 1900000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EEFD14B-7DC9-41A6-9B2F-91A1650A5D75}"/>
              </a:ext>
            </a:extLst>
          </p:cNvPr>
          <p:cNvSpPr>
            <a:spLocks noGrp="1"/>
          </p:cNvSpPr>
          <p:nvPr/>
        </p:nvSpPr>
        <p:spPr>
          <a:xfrm>
            <a:off x="8574003" y="2478134"/>
            <a:ext cx="2000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эталон GMP-ECM B1/B2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3DE9491-628F-429C-931F-4B4520CCA5FE}"/>
              </a:ext>
            </a:extLst>
          </p:cNvPr>
          <p:cNvSpPr>
            <a:spLocks noGrp="1"/>
          </p:cNvSpPr>
          <p:nvPr/>
        </p:nvSpPr>
        <p:spPr>
          <a:xfrm>
            <a:off x="1041983" y="3446138"/>
            <a:ext cx="4704600" cy="1680187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C25CAF14-92AF-4D04-A460-9CD9B2A070A7}"/>
              </a:ext>
            </a:extLst>
          </p:cNvPr>
          <p:cNvSpPr>
            <a:spLocks noGrp="1"/>
          </p:cNvSpPr>
          <p:nvPr/>
        </p:nvSpPr>
        <p:spPr>
          <a:xfrm>
            <a:off x="1041983" y="3446139"/>
            <a:ext cx="57150" cy="1680186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83640706-5386-4CA8-9F90-64CA69A4900F}"/>
              </a:ext>
            </a:extLst>
          </p:cNvPr>
          <p:cNvSpPr>
            <a:spLocks noGrp="1"/>
          </p:cNvSpPr>
          <p:nvPr/>
        </p:nvSpPr>
        <p:spPr>
          <a:xfrm>
            <a:off x="1270583" y="3636639"/>
            <a:ext cx="3743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ЭТАП 1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6BFED0C3-0929-442D-BFF0-1865A3800145}"/>
              </a:ext>
            </a:extLst>
          </p:cNvPr>
          <p:cNvSpPr>
            <a:spLocks noGrp="1"/>
          </p:cNvSpPr>
          <p:nvPr/>
        </p:nvSpPr>
        <p:spPr>
          <a:xfrm>
            <a:off x="1270583" y="3960489"/>
            <a:ext cx="3743325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Широкие границы поиска для локализации перспективной области параметров.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F6D08A7-CD61-47A4-9DC7-A7D93B5B0BDF}"/>
              </a:ext>
            </a:extLst>
          </p:cNvPr>
          <p:cNvSpPr>
            <a:spLocks noGrp="1"/>
          </p:cNvSpPr>
          <p:nvPr/>
        </p:nvSpPr>
        <p:spPr>
          <a:xfrm>
            <a:off x="6079958" y="3447920"/>
            <a:ext cx="4704600" cy="168018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6D6977B-8BDC-46FE-A36B-27D84AA03A46}"/>
              </a:ext>
            </a:extLst>
          </p:cNvPr>
          <p:cNvSpPr>
            <a:spLocks noGrp="1"/>
          </p:cNvSpPr>
          <p:nvPr/>
        </p:nvSpPr>
        <p:spPr>
          <a:xfrm>
            <a:off x="6079958" y="3447919"/>
            <a:ext cx="57150" cy="168018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E6C6C6CA-A4C8-497D-9AA9-F37BC1768EF2}"/>
              </a:ext>
            </a:extLst>
          </p:cNvPr>
          <p:cNvSpPr>
            <a:spLocks noGrp="1"/>
          </p:cNvSpPr>
          <p:nvPr/>
        </p:nvSpPr>
        <p:spPr>
          <a:xfrm>
            <a:off x="6308558" y="3638420"/>
            <a:ext cx="3743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ЭТАП 2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57D2201-3E08-41D5-ADCB-C7811215E9C0}"/>
              </a:ext>
            </a:extLst>
          </p:cNvPr>
          <p:cNvSpPr>
            <a:spLocks noGrp="1"/>
          </p:cNvSpPr>
          <p:nvPr/>
        </p:nvSpPr>
        <p:spPr>
          <a:xfrm>
            <a:off x="6308558" y="3962270"/>
            <a:ext cx="3743325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Уточненные границы и ограничение B2/B1 &lt;= 1000 для практичных конфигураций.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E46F158-0CFE-42EA-BCB8-F1E4751DA8D0}"/>
              </a:ext>
            </a:extLst>
          </p:cNvPr>
          <p:cNvSpPr>
            <a:spLocks noGrp="1"/>
          </p:cNvSpPr>
          <p:nvPr/>
        </p:nvSpPr>
        <p:spPr>
          <a:xfrm>
            <a:off x="1790700" y="5372932"/>
            <a:ext cx="8610600" cy="363071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Основной расчет выполнен на ресурсах СКЦ СПбПУ с использованием SLURM.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D0EF8EC-12A1-4CC5-9C80-CE3C2228D312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B715A148-6D56-429A-9BE1-3FBC6EBDFCA2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6B82710F-A76C-4348-9573-147C515C3A07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0" name="Рисунок 3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0D0C7E8E-503A-48C2-AEE7-695D5F918771}"/>
              </a:ext>
            </a:extLst>
          </p:cNvPr>
          <p:cNvSpPr>
            <a:spLocks noGrp="1"/>
          </p:cNvSpPr>
          <p:nvPr/>
        </p:nvSpPr>
        <p:spPr>
          <a:xfrm>
            <a:off x="1018172" y="1256093"/>
            <a:ext cx="9735052" cy="5804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  <p:txBody>
          <a:bodyPr/>
          <a:lstStyle/>
          <a:p>
            <a:pPr algn="ctr">
              <a:buNone/>
            </a:pPr>
            <a:r>
              <a:rPr sz="2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N </a:t>
            </a:r>
            <a:r>
              <a:rPr sz="2800" b="1">
                <a:solidFill>
                  <a:srgbClr val="373062"/>
                </a:solidFill>
                <a:latin typeface="Onest"/>
                <a:ea typeface="Onest"/>
                <a:cs typeface="Onest"/>
              </a:rPr>
              <a:t>= </a:t>
            </a:r>
            <a:r>
              <a:rPr sz="2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p</a:t>
            </a:r>
            <a:r>
              <a:rPr sz="2800" b="1">
                <a:solidFill>
                  <a:srgbClr val="373062"/>
                </a:solidFill>
                <a:latin typeface="Onest"/>
                <a:ea typeface="Onest"/>
                <a:cs typeface="Onest"/>
              </a:rPr>
              <a:t> </a:t>
            </a:r>
            <a:r>
              <a:rPr sz="2800"/>
              <a:t>⋅ </a:t>
            </a:r>
            <a:r>
              <a:rPr sz="2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q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84751F59-5699-4248-96FB-03BD9AA66222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39EDA3A-4992-4FE4-9E9B-EAAAFD36EC08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10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9157410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8231" y="1113285"/>
            <a:ext cx="5046891" cy="2523446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830DCEF-813E-43F6-835F-CC0AC515271F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1B89BBE-994A-4EDE-B87D-BF78B2A2335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ШИРОКИЙ ПОИСК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12ABAD3-8D78-4054-938F-32143F16DAB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Первый этап нашел область параметров лучше справочной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235122" y="1456381"/>
            <a:ext cx="5318579" cy="3656523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D3E74D8-6D7E-46A4-9E42-3168157EEE14}"/>
              </a:ext>
            </a:extLst>
          </p:cNvPr>
          <p:cNvSpPr>
            <a:spLocks noGrp="1"/>
          </p:cNvSpPr>
          <p:nvPr/>
        </p:nvSpPr>
        <p:spPr>
          <a:xfrm>
            <a:off x="5484182" y="5069421"/>
            <a:ext cx="4762046" cy="56076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3. Выигрыш валидационной метрики по методам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D88304E-6FCB-4861-B6B1-2CA3C98D9166}"/>
              </a:ext>
            </a:extLst>
          </p:cNvPr>
          <p:cNvSpPr>
            <a:spLocks noGrp="1"/>
          </p:cNvSpPr>
          <p:nvPr/>
        </p:nvSpPr>
        <p:spPr>
          <a:xfrm>
            <a:off x="10553700" y="1584999"/>
            <a:ext cx="1304925" cy="1217132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0D84C4-1DAE-4E03-8021-15A09A755F04}"/>
              </a:ext>
            </a:extLst>
          </p:cNvPr>
          <p:cNvSpPr>
            <a:spLocks noGrp="1"/>
          </p:cNvSpPr>
          <p:nvPr/>
        </p:nvSpPr>
        <p:spPr>
          <a:xfrm>
            <a:off x="10744200" y="1718349"/>
            <a:ext cx="904875" cy="2426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20-23%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B198D3A4-CC6E-419F-9C8A-6C5AB6161A6B}"/>
              </a:ext>
            </a:extLst>
          </p:cNvPr>
          <p:cNvSpPr>
            <a:spLocks noGrp="1"/>
          </p:cNvSpPr>
          <p:nvPr/>
        </p:nvSpPr>
        <p:spPr>
          <a:xfrm>
            <a:off x="10744200" y="2080299"/>
            <a:ext cx="1085396" cy="6665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 </a:t>
            </a: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метрики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69DFBF0C-0F2A-4445-A561-091B395C8AB4}"/>
              </a:ext>
            </a:extLst>
          </p:cNvPr>
          <p:cNvSpPr>
            <a:spLocks noGrp="1"/>
          </p:cNvSpPr>
          <p:nvPr/>
        </p:nvSpPr>
        <p:spPr>
          <a:xfrm>
            <a:off x="10553700" y="2936266"/>
            <a:ext cx="1304925" cy="1217132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7D606645-4002-4EB0-9DAF-FC4288F21B56}"/>
              </a:ext>
            </a:extLst>
          </p:cNvPr>
          <p:cNvSpPr>
            <a:spLocks noGrp="1"/>
          </p:cNvSpPr>
          <p:nvPr/>
        </p:nvSpPr>
        <p:spPr>
          <a:xfrm>
            <a:off x="10744200" y="3069616"/>
            <a:ext cx="1114425" cy="2426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18-19%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97BC8A1C-B307-4003-824E-BDF2A0979D0F}"/>
              </a:ext>
            </a:extLst>
          </p:cNvPr>
          <p:cNvSpPr>
            <a:spLocks noGrp="1"/>
          </p:cNvSpPr>
          <p:nvPr/>
        </p:nvSpPr>
        <p:spPr>
          <a:xfrm>
            <a:off x="10744200" y="3431566"/>
            <a:ext cx="1114425" cy="66401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800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 </a:t>
            </a: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времени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A2DBEF0-C31E-4B58-A723-DE628AECA033}"/>
              </a:ext>
            </a:extLst>
          </p:cNvPr>
          <p:cNvSpPr>
            <a:spLocks noGrp="1"/>
          </p:cNvSpPr>
          <p:nvPr/>
        </p:nvSpPr>
        <p:spPr>
          <a:xfrm>
            <a:off x="10553700" y="4284960"/>
            <a:ext cx="1304925" cy="1217131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A55910D-4565-415E-8D87-64F99395058B}"/>
              </a:ext>
            </a:extLst>
          </p:cNvPr>
          <p:cNvSpPr>
            <a:spLocks noGrp="1"/>
          </p:cNvSpPr>
          <p:nvPr/>
        </p:nvSpPr>
        <p:spPr>
          <a:xfrm>
            <a:off x="10744200" y="4418311"/>
            <a:ext cx="933450" cy="24611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35-52%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BE7BF99-CC14-4FF3-8450-ECB48DEA23EB}"/>
              </a:ext>
            </a:extLst>
          </p:cNvPr>
          <p:cNvSpPr>
            <a:spLocks noGrp="1"/>
          </p:cNvSpPr>
          <p:nvPr/>
        </p:nvSpPr>
        <p:spPr>
          <a:xfrm>
            <a:off x="10744200" y="4780261"/>
            <a:ext cx="1085396" cy="61511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 </a:t>
            </a: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кривых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0C3C1886-E79D-4D21-9B17-1B1B43321C94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B9CFA2E9-15C7-4298-AB09-144DCB368548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071059F-CAB2-42B8-B35C-21123DC1850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2" name="Рисунок 24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792" y="3544832"/>
            <a:ext cx="5046891" cy="2102872"/>
          </a:xfrm>
          <a:prstGeom prst="rect">
            <a:avLst/>
          </a:prstGeom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12EA9BA-4E43-48D3-B197-4474FC2CD783}"/>
              </a:ext>
            </a:extLst>
          </p:cNvPr>
          <p:cNvSpPr>
            <a:spLocks noGrp="1"/>
          </p:cNvSpPr>
          <p:nvPr/>
        </p:nvSpPr>
        <p:spPr>
          <a:xfrm>
            <a:off x="400080" y="5586897"/>
            <a:ext cx="4623191" cy="32816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2. Траектория поиска GA в пространстве B1/B2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8B9B237B-DD96-4D16-842A-25C70257854C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E22D0547-B8AC-4593-88FC-2E1CFCED3E47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11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213747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5DEB16E-70DB-41AF-9F7B-9781E7D7A94C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797C8F3-9A40-4745-922E-90DA10D6720B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УТОЧНЕННЫЙ ПОИСК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D209C5D-9627-4554-85F5-D174BE1403F9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6005763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GA дал лучший баланс метрики и времени; PSO сильнее всего сократил кривые</a:t>
            </a:r>
          </a:p>
        </p:txBody>
      </p:sp>
      <p:pic>
        <p:nvPicPr>
          <p:cNvPr id="5" name="Рисунок 6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63729" y="3153810"/>
            <a:ext cx="3731876" cy="2565664"/>
          </a:xfrm>
          <a:prstGeom prst="rect">
            <a:avLst/>
          </a:prstGeom>
        </p:spPr>
      </p:pic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EE0485FF-064E-40EA-8B44-20E75BD68DA9}"/>
              </a:ext>
            </a:extLst>
          </p:cNvPr>
          <p:cNvSpPr>
            <a:spLocks noGrp="1"/>
          </p:cNvSpPr>
          <p:nvPr/>
        </p:nvSpPr>
        <p:spPr>
          <a:xfrm>
            <a:off x="293774" y="4833687"/>
            <a:ext cx="2896103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C739B9E4-F63C-422F-80E5-665FCB61CF0C}"/>
              </a:ext>
            </a:extLst>
          </p:cNvPr>
          <p:cNvSpPr>
            <a:spLocks noGrp="1"/>
          </p:cNvSpPr>
          <p:nvPr/>
        </p:nvSpPr>
        <p:spPr>
          <a:xfrm>
            <a:off x="293774" y="4967037"/>
            <a:ext cx="2896104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-25,14%</a:t>
            </a: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C12769DC-651E-455E-AA07-E7A222DCDC83}"/>
              </a:ext>
            </a:extLst>
          </p:cNvPr>
          <p:cNvSpPr>
            <a:spLocks noGrp="1"/>
          </p:cNvSpPr>
          <p:nvPr/>
        </p:nvSpPr>
        <p:spPr>
          <a:xfrm>
            <a:off x="293774" y="5363136"/>
            <a:ext cx="2896104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GA </a:t>
            </a:r>
            <a:r>
              <a:rPr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метрики</a:t>
            </a:r>
          </a:p>
        </p:txBody>
      </p:sp>
      <p:sp>
        <p:nvSpPr>
          <p:cNvPr id="69" name="Прямоугольник 68">
            <a:extLst>
              <a:ext uri="{FF2B5EF4-FFF2-40B4-BE49-F238E27FC236}">
                <a16:creationId xmlns:a16="http://schemas.microsoft.com/office/drawing/2014/main" id="{697DAF5B-3196-4E01-8C7E-C55223882C8A}"/>
              </a:ext>
            </a:extLst>
          </p:cNvPr>
          <p:cNvSpPr>
            <a:spLocks noGrp="1"/>
          </p:cNvSpPr>
          <p:nvPr/>
        </p:nvSpPr>
        <p:spPr>
          <a:xfrm>
            <a:off x="3621007" y="4833687"/>
            <a:ext cx="3092617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26EDCF55-4B08-4B0A-9B0F-F69DCF68877D}"/>
              </a:ext>
            </a:extLst>
          </p:cNvPr>
          <p:cNvSpPr>
            <a:spLocks noGrp="1"/>
          </p:cNvSpPr>
          <p:nvPr/>
        </p:nvSpPr>
        <p:spPr>
          <a:xfrm>
            <a:off x="3621006" y="4967036"/>
            <a:ext cx="3092617" cy="323851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-62,42%</a:t>
            </a:r>
          </a:p>
        </p:txBody>
      </p:sp>
      <p:sp>
        <p:nvSpPr>
          <p:cNvPr id="71" name="Прямоугольник 70">
            <a:extLst>
              <a:ext uri="{FF2B5EF4-FFF2-40B4-BE49-F238E27FC236}">
                <a16:creationId xmlns:a16="http://schemas.microsoft.com/office/drawing/2014/main" id="{B5CE3D25-A12C-4EDE-8BCF-D1070F5A37D5}"/>
              </a:ext>
            </a:extLst>
          </p:cNvPr>
          <p:cNvSpPr>
            <a:spLocks noGrp="1"/>
          </p:cNvSpPr>
          <p:nvPr/>
        </p:nvSpPr>
        <p:spPr>
          <a:xfrm>
            <a:off x="3621007" y="5328987"/>
            <a:ext cx="3092616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PSO кривые</a:t>
            </a:r>
          </a:p>
        </p:txBody>
      </p:sp>
      <p:sp>
        <p:nvSpPr>
          <p:cNvPr id="73" name="Прямоугольник 72">
            <a:extLst>
              <a:ext uri="{FF2B5EF4-FFF2-40B4-BE49-F238E27FC236}">
                <a16:creationId xmlns:a16="http://schemas.microsoft.com/office/drawing/2014/main" id="{F4A21C37-E413-4C67-B6A2-3D2EF159A33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74" name="Прямоугольник 73">
            <a:extLst>
              <a:ext uri="{FF2B5EF4-FFF2-40B4-BE49-F238E27FC236}">
                <a16:creationId xmlns:a16="http://schemas.microsoft.com/office/drawing/2014/main" id="{F54425C7-D4B4-41F6-B8E6-D85465506F0A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5" name="Прямоугольник 74">
            <a:extLst>
              <a:ext uri="{FF2B5EF4-FFF2-40B4-BE49-F238E27FC236}">
                <a16:creationId xmlns:a16="http://schemas.microsoft.com/office/drawing/2014/main" id="{21AC0E6C-A7B1-4363-98F8-DD373E49B9E2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76" name="Рисунок 78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81" name="Прямоугольник 80">
            <a:extLst>
              <a:ext uri="{FF2B5EF4-FFF2-40B4-BE49-F238E27FC236}">
                <a16:creationId xmlns:a16="http://schemas.microsoft.com/office/drawing/2014/main" id="{06CC70C2-78D6-4E17-B447-5982BEF6A6BA}"/>
              </a:ext>
            </a:extLst>
          </p:cNvPr>
          <p:cNvSpPr>
            <a:spLocks noGrp="1"/>
          </p:cNvSpPr>
          <p:nvPr/>
        </p:nvSpPr>
        <p:spPr>
          <a:xfrm>
            <a:off x="253167" y="1728314"/>
            <a:ext cx="4732421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Таблица 2 – Результаты оптимизации</a:t>
            </a:r>
          </a:p>
        </p:txBody>
      </p:sp>
      <p:sp>
        <p:nvSpPr>
          <p:cNvPr id="82" name="Прямоугольник 81">
            <a:extLst>
              <a:ext uri="{FF2B5EF4-FFF2-40B4-BE49-F238E27FC236}">
                <a16:creationId xmlns:a16="http://schemas.microsoft.com/office/drawing/2014/main" id="{57B4BB96-BC59-4E3C-B7B6-DDEBA8F3A15E}"/>
              </a:ext>
            </a:extLst>
          </p:cNvPr>
          <p:cNvSpPr>
            <a:spLocks noGrp="1"/>
          </p:cNvSpPr>
          <p:nvPr/>
        </p:nvSpPr>
        <p:spPr>
          <a:xfrm>
            <a:off x="7536680" y="5571286"/>
            <a:ext cx="4988179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5</a:t>
            </a:r>
            <a:r>
              <a:rPr sz="1600">
                <a:solidFill>
                  <a:srgbClr val="58606B"/>
                </a:solidFill>
                <a:latin typeface="Onest"/>
                <a:ea typeface="Onest"/>
                <a:cs typeface="Onest"/>
              </a:rPr>
              <a:t>. Выигрыш метрики по методам</a:t>
            </a:r>
          </a:p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endParaRPr sz="160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pic>
        <p:nvPicPr>
          <p:cNvPr id="83" name="Рисунок 8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4198" y="952670"/>
            <a:ext cx="4864028" cy="2026938"/>
          </a:xfrm>
          <a:prstGeom prst="rect">
            <a:avLst/>
          </a:prstGeom>
        </p:spPr>
      </p:pic>
      <p:sp>
        <p:nvSpPr>
          <p:cNvPr id="84" name="Прямоугольник 83">
            <a:extLst>
              <a:ext uri="{FF2B5EF4-FFF2-40B4-BE49-F238E27FC236}">
                <a16:creationId xmlns:a16="http://schemas.microsoft.com/office/drawing/2014/main" id="{B56A0F26-2EA8-4AF2-945C-7874F82D13D0}"/>
              </a:ext>
            </a:extLst>
          </p:cNvPr>
          <p:cNvSpPr>
            <a:spLocks noGrp="1"/>
          </p:cNvSpPr>
          <p:nvPr/>
        </p:nvSpPr>
        <p:spPr>
          <a:xfrm>
            <a:off x="7441986" y="2873030"/>
            <a:ext cx="4988179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4</a:t>
            </a:r>
            <a:r>
              <a:rPr sz="1600">
                <a:solidFill>
                  <a:srgbClr val="58606B"/>
                </a:solidFill>
                <a:latin typeface="Onest"/>
                <a:ea typeface="Onest"/>
                <a:cs typeface="Onest"/>
              </a:rPr>
              <a:t>. Проверенные B1/B2 алгоритмом GA</a:t>
            </a:r>
          </a:p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endParaRPr sz="160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graphicFrame>
        <p:nvGraphicFramePr>
          <p:cNvPr id="85" name="Таблица 38"/>
          <p:cNvGraphicFramePr/>
          <p:nvPr/>
        </p:nvGraphicFramePr>
        <p:xfrm>
          <a:off x="217573" y="2072245"/>
          <a:ext cx="6488027" cy="24155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5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18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7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66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30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428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Метод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B1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B2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Метрика, %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Время, %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Кривые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BO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20510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636495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-13,70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-14,30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-9,71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DE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33716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3003081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-22,35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-17,92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-51,69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rgbClr val="E8F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PSO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52298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2726216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-24,46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-18,75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-62,42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GA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32609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2737437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-25,14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-21,04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-52,14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21D61B7E-74D0-4013-B77B-D6C5DA87351D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C49C1813-8C44-435F-970D-14698C833DB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12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6917269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B77F278-BB6E-4329-8CC9-4AF13102C933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99ED3D8-CAE8-4DF5-AED8-33955E290CF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ИНТЕРПРЕТАЦИЯ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F8D6BE0-5C94-4AA7-BB24-F6041A6C487C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Разные методы полезны для разных практических целей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4986" y="1156062"/>
            <a:ext cx="3960000" cy="297000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117016" y="1364128"/>
            <a:ext cx="3960000" cy="2475001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7C8DC13-7BF1-4F3C-983A-4EF82F194335}"/>
              </a:ext>
            </a:extLst>
          </p:cNvPr>
          <p:cNvSpPr>
            <a:spLocks noGrp="1"/>
          </p:cNvSpPr>
          <p:nvPr/>
        </p:nvSpPr>
        <p:spPr>
          <a:xfrm>
            <a:off x="-190500" y="4101177"/>
            <a:ext cx="4381500" cy="59547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6. Компромисс между временем оптимизации и выигрышем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1F479FA-208E-4AA2-A267-E51C1E1AC7E8}"/>
              </a:ext>
            </a:extLst>
          </p:cNvPr>
          <p:cNvSpPr>
            <a:spLocks noGrp="1"/>
          </p:cNvSpPr>
          <p:nvPr/>
        </p:nvSpPr>
        <p:spPr>
          <a:xfrm>
            <a:off x="4064256" y="4104677"/>
            <a:ext cx="4063488" cy="2404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7. PSO: распределение числа кривых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D1038DD-45DF-4D26-97F2-36D07292AF52}"/>
              </a:ext>
            </a:extLst>
          </p:cNvPr>
          <p:cNvSpPr>
            <a:spLocks noGrp="1"/>
          </p:cNvSpPr>
          <p:nvPr/>
        </p:nvSpPr>
        <p:spPr>
          <a:xfrm>
            <a:off x="762000" y="4821154"/>
            <a:ext cx="1809749" cy="952497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69355355-8A28-41CE-9504-90420E5F8E39}"/>
              </a:ext>
            </a:extLst>
          </p:cNvPr>
          <p:cNvSpPr>
            <a:spLocks noGrp="1"/>
          </p:cNvSpPr>
          <p:nvPr/>
        </p:nvSpPr>
        <p:spPr>
          <a:xfrm>
            <a:off x="857250" y="4851063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GA:</a:t>
            </a:r>
            <a:br/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score + время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5C20E8A-C521-4A46-96B8-FD9AEFEE61A1}"/>
              </a:ext>
            </a:extLst>
          </p:cNvPr>
          <p:cNvSpPr>
            <a:spLocks noGrp="1"/>
          </p:cNvSpPr>
          <p:nvPr/>
        </p:nvSpPr>
        <p:spPr>
          <a:xfrm>
            <a:off x="2952750" y="4821154"/>
            <a:ext cx="1809750" cy="952498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9EDE485C-77F6-40A8-A3ED-A7C71C15A8C6}"/>
              </a:ext>
            </a:extLst>
          </p:cNvPr>
          <p:cNvSpPr>
            <a:spLocks noGrp="1"/>
          </p:cNvSpPr>
          <p:nvPr/>
        </p:nvSpPr>
        <p:spPr>
          <a:xfrm>
            <a:off x="304800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PSO:</a:t>
            </a:r>
            <a:br/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кривые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66B4A82-7310-4FF4-93C8-9AC5A05AE343}"/>
              </a:ext>
            </a:extLst>
          </p:cNvPr>
          <p:cNvSpPr>
            <a:spLocks noGrp="1"/>
          </p:cNvSpPr>
          <p:nvPr/>
        </p:nvSpPr>
        <p:spPr>
          <a:xfrm>
            <a:off x="5143500" y="4821155"/>
            <a:ext cx="1809750" cy="952498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C770DEF-7C0A-4FEF-A175-601235324065}"/>
              </a:ext>
            </a:extLst>
          </p:cNvPr>
          <p:cNvSpPr>
            <a:spLocks noGrp="1"/>
          </p:cNvSpPr>
          <p:nvPr/>
        </p:nvSpPr>
        <p:spPr>
          <a:xfrm>
            <a:off x="523875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DE:</a:t>
            </a:r>
          </a:p>
          <a:p>
            <a:pPr algn="ctr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компромисс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3D233FDF-1B34-47EA-91C6-72CA4E4E06CB}"/>
              </a:ext>
            </a:extLst>
          </p:cNvPr>
          <p:cNvSpPr>
            <a:spLocks noGrp="1"/>
          </p:cNvSpPr>
          <p:nvPr/>
        </p:nvSpPr>
        <p:spPr>
          <a:xfrm>
            <a:off x="7334250" y="4821154"/>
            <a:ext cx="1809750" cy="952499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0228640-98B1-41AC-9013-ABE5EF2741A8}"/>
              </a:ext>
            </a:extLst>
          </p:cNvPr>
          <p:cNvSpPr>
            <a:spLocks noGrp="1"/>
          </p:cNvSpPr>
          <p:nvPr/>
        </p:nvSpPr>
        <p:spPr>
          <a:xfrm>
            <a:off x="742950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BO:</a:t>
            </a:r>
            <a:br/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разведка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F28D2A9-C230-4DA1-A49F-CF1035573524}"/>
              </a:ext>
            </a:extLst>
          </p:cNvPr>
          <p:cNvSpPr>
            <a:spLocks noGrp="1"/>
          </p:cNvSpPr>
          <p:nvPr/>
        </p:nvSpPr>
        <p:spPr>
          <a:xfrm>
            <a:off x="9525000" y="4821154"/>
            <a:ext cx="1809750" cy="9525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0A7B7D6-0363-43F8-9787-8E977B79C96C}"/>
              </a:ext>
            </a:extLst>
          </p:cNvPr>
          <p:cNvSpPr>
            <a:spLocks noGrp="1"/>
          </p:cNvSpPr>
          <p:nvPr/>
        </p:nvSpPr>
        <p:spPr>
          <a:xfrm>
            <a:off x="962025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RS:</a:t>
            </a:r>
            <a:br/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быстрая разведка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DC0FFB95-28C6-45E5-A93C-0D9BDF95C471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820C243-BB08-44E3-A633-74F91E3097E4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D99E3D1F-67D3-4077-A3D0-8EA2DF41893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3" name="Рисунок 25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7014" y="1372775"/>
            <a:ext cx="3960000" cy="2475000"/>
          </a:xfrm>
          <a:prstGeom prst="rect">
            <a:avLst/>
          </a:prstGeom>
        </p:spPr>
      </p:pic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E8CAF72-DB98-4DFB-BDA8-5DC465853F68}"/>
              </a:ext>
            </a:extLst>
          </p:cNvPr>
          <p:cNvSpPr>
            <a:spLocks noGrp="1"/>
          </p:cNvSpPr>
          <p:nvPr/>
        </p:nvSpPr>
        <p:spPr>
          <a:xfrm>
            <a:off x="8369742" y="4055630"/>
            <a:ext cx="356084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8. GA: распределение по времени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632EF6D0-2D42-4187-806A-42DCAD252DB4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DC316EA0-3B1F-49B0-AA52-2D5D47727D9E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13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39858475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EC96F83-29DA-42EC-B2A6-5FFDD2EA2B1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9F85A12-2F68-41BC-AE33-E1ABF1E9B490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НОВИЗНА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8362C32-09AB-477A-9D7B-4F45359266F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Выбор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B1/B2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рассмотрен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как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воспроизводимая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black-box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оптимизация</a:t>
            </a:r>
            <a:endParaRPr sz="2325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482BA44-6727-43ED-AFCC-1094291BFEF8}"/>
              </a:ext>
            </a:extLst>
          </p:cNvPr>
          <p:cNvSpPr>
            <a:spLocks noGrp="1"/>
          </p:cNvSpPr>
          <p:nvPr/>
        </p:nvSpPr>
        <p:spPr>
          <a:xfrm>
            <a:off x="857250" y="1952625"/>
            <a:ext cx="2952750" cy="2133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62F8D35-35F4-4FFB-927B-CF6985AB9F4C}"/>
              </a:ext>
            </a:extLst>
          </p:cNvPr>
          <p:cNvSpPr>
            <a:spLocks noGrp="1"/>
          </p:cNvSpPr>
          <p:nvPr/>
        </p:nvSpPr>
        <p:spPr>
          <a:xfrm>
            <a:off x="857250" y="1952625"/>
            <a:ext cx="57150" cy="2133598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B85418A-DC2E-4A0D-A2F0-03105FB596FA}"/>
              </a:ext>
            </a:extLst>
          </p:cNvPr>
          <p:cNvSpPr>
            <a:spLocks noGrp="1"/>
          </p:cNvSpPr>
          <p:nvPr/>
        </p:nvSpPr>
        <p:spPr>
          <a:xfrm>
            <a:off x="1085850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ФОРМАЛИЗАЦИЯ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9DA31D9-4203-40AF-BC34-362733075A73}"/>
              </a:ext>
            </a:extLst>
          </p:cNvPr>
          <p:cNvSpPr>
            <a:spLocks noGrp="1"/>
          </p:cNvSpPr>
          <p:nvPr/>
        </p:nvSpPr>
        <p:spPr>
          <a:xfrm>
            <a:off x="1085850" y="2466975"/>
            <a:ext cx="2552700" cy="150361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B1/B2 задаются как переменные задачи «черного ящика» с ограничениями с шумной эмпирической оценкой.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474168E-572F-426A-B04D-B09124D4CD5A}"/>
              </a:ext>
            </a:extLst>
          </p:cNvPr>
          <p:cNvSpPr>
            <a:spLocks noGrp="1"/>
          </p:cNvSpPr>
          <p:nvPr/>
        </p:nvSpPr>
        <p:spPr>
          <a:xfrm>
            <a:off x="4619625" y="1952624"/>
            <a:ext cx="2952750" cy="2133599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F64FEAD-ED60-4345-8012-8B8215EF3A2B}"/>
              </a:ext>
            </a:extLst>
          </p:cNvPr>
          <p:cNvSpPr>
            <a:spLocks noGrp="1"/>
          </p:cNvSpPr>
          <p:nvPr/>
        </p:nvSpPr>
        <p:spPr>
          <a:xfrm>
            <a:off x="4619625" y="1952625"/>
            <a:ext cx="57150" cy="2133598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13756D0-E3A7-4C7C-AC11-BE5A9C151C67}"/>
              </a:ext>
            </a:extLst>
          </p:cNvPr>
          <p:cNvSpPr>
            <a:spLocks noGrp="1"/>
          </p:cNvSpPr>
          <p:nvPr/>
        </p:nvSpPr>
        <p:spPr>
          <a:xfrm>
            <a:off x="4848225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СРАВНЕНИЕ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2E8A05F-EB27-4332-BEF2-AB11BAFF08D5}"/>
              </a:ext>
            </a:extLst>
          </p:cNvPr>
          <p:cNvSpPr>
            <a:spLocks noGrp="1"/>
          </p:cNvSpPr>
          <p:nvPr/>
        </p:nvSpPr>
        <p:spPr>
          <a:xfrm>
            <a:off x="4848225" y="2466974"/>
            <a:ext cx="2552700" cy="1503617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Пять эвристических методов сопоставлены в едином воспроизводимом pipeline.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EC549AC-6166-4019-AF54-3724F771C24A}"/>
              </a:ext>
            </a:extLst>
          </p:cNvPr>
          <p:cNvSpPr>
            <a:spLocks noGrp="1"/>
          </p:cNvSpPr>
          <p:nvPr/>
        </p:nvSpPr>
        <p:spPr>
          <a:xfrm>
            <a:off x="8382000" y="1952624"/>
            <a:ext cx="2952750" cy="2133599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73E2D4A-A49F-4113-AEEB-E54F4C55B23E}"/>
              </a:ext>
            </a:extLst>
          </p:cNvPr>
          <p:cNvSpPr>
            <a:spLocks noGrp="1"/>
          </p:cNvSpPr>
          <p:nvPr/>
        </p:nvSpPr>
        <p:spPr>
          <a:xfrm>
            <a:off x="8382000" y="1952625"/>
            <a:ext cx="57150" cy="2133598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9E8EC51-847E-44BF-907A-53C922CD1E25}"/>
              </a:ext>
            </a:extLst>
          </p:cNvPr>
          <p:cNvSpPr>
            <a:spLocks noGrp="1"/>
          </p:cNvSpPr>
          <p:nvPr/>
        </p:nvSpPr>
        <p:spPr>
          <a:xfrm>
            <a:off x="8610600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ВАЛИДАЦИЯ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BA4E880B-F199-4458-9D7F-579166E0AB9F}"/>
              </a:ext>
            </a:extLst>
          </p:cNvPr>
          <p:cNvSpPr>
            <a:spLocks noGrp="1"/>
          </p:cNvSpPr>
          <p:nvPr/>
        </p:nvSpPr>
        <p:spPr>
          <a:xfrm>
            <a:off x="8610600" y="2466975"/>
            <a:ext cx="2552700" cy="136479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Итоговые параметры проверены на независимой контрольной выборке.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C2074A35-BD24-44DE-BAA8-48A9A05A10CA}"/>
              </a:ext>
            </a:extLst>
          </p:cNvPr>
          <p:cNvSpPr>
            <a:spLocks noGrp="1"/>
          </p:cNvSpPr>
          <p:nvPr/>
        </p:nvSpPr>
        <p:spPr>
          <a:xfrm>
            <a:off x="857250" y="4476750"/>
            <a:ext cx="10477500" cy="922592"/>
          </a:xfrm>
          <a:prstGeom prst="rect">
            <a:avLst/>
          </a:prstGeom>
          <a:solidFill>
            <a:srgbClr val="E8F5EA"/>
          </a:solidFill>
          <a:ln w="0">
            <a:solidFill>
              <a:srgbClr val="E8F5EA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C53D8AF-18F7-4615-BE24-9CB7206216FF}"/>
              </a:ext>
            </a:extLst>
          </p:cNvPr>
          <p:cNvSpPr>
            <a:spLocks noGrp="1"/>
          </p:cNvSpPr>
          <p:nvPr/>
        </p:nvSpPr>
        <p:spPr>
          <a:xfrm>
            <a:off x="1571625" y="4629150"/>
            <a:ext cx="9048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Теоретическая значимость:</a:t>
            </a:r>
            <a:br/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параметры ECM описаны как объект автоматической конфигурации алгоритма.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E12DB43-CB50-42CD-A87D-8335B8C0527C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CA4F499-4934-4F14-A50F-7C4436BB9D4F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36BC7E0D-2E54-4A0A-8C63-ED4351C0C878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3" name="Рисунок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9F85F7B5-FDD6-4BEC-8C04-D819D3551D61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7132A296-8C6C-4284-9B3C-350A176B3AC3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14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78582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E964A30-ECC9-4EE1-8DCC-D0F9897BCB6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6EB00EC-E0D4-4A0B-9929-3C5EFD53817D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ПРАКТИЧЕСКАЯ ЗНАЧИМОСТЬ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17A2C2D-0944-4BA0-92F5-9314C5C1E981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Результат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работы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—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процедура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инструмент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локальной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настройки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AC82362-F237-45DD-9F08-D4604F0CA917}"/>
              </a:ext>
            </a:extLst>
          </p:cNvPr>
          <p:cNvSpPr>
            <a:spLocks noGrp="1"/>
          </p:cNvSpPr>
          <p:nvPr/>
        </p:nvSpPr>
        <p:spPr>
          <a:xfrm>
            <a:off x="1066800" y="1944006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15E99C7-61B4-451D-A08D-EDE19F53F0FF}"/>
              </a:ext>
            </a:extLst>
          </p:cNvPr>
          <p:cNvSpPr>
            <a:spLocks noGrp="1"/>
          </p:cNvSpPr>
          <p:nvPr/>
        </p:nvSpPr>
        <p:spPr>
          <a:xfrm>
            <a:off x="1295400" y="1809750"/>
            <a:ext cx="4953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 Python-пакет ecm_optimizer.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24B5819-3CA7-4A70-BC75-17A55CFD859B}"/>
              </a:ext>
            </a:extLst>
          </p:cNvPr>
          <p:cNvSpPr>
            <a:spLocks noGrp="1"/>
          </p:cNvSpPr>
          <p:nvPr/>
        </p:nvSpPr>
        <p:spPr>
          <a:xfrm>
            <a:off x="1066800" y="2729590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3DE5B02-BCD7-4A7F-96ED-B5865740F932}"/>
              </a:ext>
            </a:extLst>
          </p:cNvPr>
          <p:cNvSpPr>
            <a:spLocks noGrp="1"/>
          </p:cNvSpPr>
          <p:nvPr/>
        </p:nvSpPr>
        <p:spPr>
          <a:xfrm>
            <a:off x="1295400" y="2609848"/>
            <a:ext cx="45910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Поддержаны generate, optimize, validate, run-plan и analyze.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1B37790-8F07-411A-9F9D-B5D33289CC9B}"/>
              </a:ext>
            </a:extLst>
          </p:cNvPr>
          <p:cNvSpPr>
            <a:spLocks noGrp="1"/>
          </p:cNvSpPr>
          <p:nvPr/>
        </p:nvSpPr>
        <p:spPr>
          <a:xfrm>
            <a:off x="1066800" y="3593856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4BA5C4A-E861-4E7C-A3DA-7E9C0BF93C03}"/>
              </a:ext>
            </a:extLst>
          </p:cNvPr>
          <p:cNvSpPr>
            <a:spLocks noGrp="1"/>
          </p:cNvSpPr>
          <p:nvPr/>
        </p:nvSpPr>
        <p:spPr>
          <a:xfrm>
            <a:off x="1295400" y="3474113"/>
            <a:ext cx="4953000" cy="63778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Сохраняются JSON, CSV, PNG и Markdown-артефакты.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5D7CC9C-1F47-4AE0-9EB7-F0E414E5326F}"/>
              </a:ext>
            </a:extLst>
          </p:cNvPr>
          <p:cNvSpPr>
            <a:spLocks noGrp="1"/>
          </p:cNvSpPr>
          <p:nvPr/>
        </p:nvSpPr>
        <p:spPr>
          <a:xfrm>
            <a:off x="1066800" y="4554374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DC64333-88C8-48C9-8F6D-074A7C729E9A}"/>
              </a:ext>
            </a:extLst>
          </p:cNvPr>
          <p:cNvSpPr>
            <a:spLocks noGrp="1"/>
          </p:cNvSpPr>
          <p:nvPr/>
        </p:nvSpPr>
        <p:spPr>
          <a:xfrm>
            <a:off x="1295400" y="4434632"/>
            <a:ext cx="4953000" cy="70886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Процедура переносима на новые классы чисел после проверки.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B53E74F-3BD9-464F-BC45-0E21BB9A93D8}"/>
              </a:ext>
            </a:extLst>
          </p:cNvPr>
          <p:cNvSpPr>
            <a:spLocks noGrp="1"/>
          </p:cNvSpPr>
          <p:nvPr/>
        </p:nvSpPr>
        <p:spPr>
          <a:xfrm>
            <a:off x="6857999" y="1714500"/>
            <a:ext cx="4810125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ADE0E0E-2854-453F-B6C6-E91B389DC19C}"/>
              </a:ext>
            </a:extLst>
          </p:cNvPr>
          <p:cNvSpPr>
            <a:spLocks noGrp="1"/>
          </p:cNvSpPr>
          <p:nvPr/>
        </p:nvSpPr>
        <p:spPr>
          <a:xfrm>
            <a:off x="6858000" y="1714500"/>
            <a:ext cx="57150" cy="10477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A538A80-F652-4729-BF13-26FCBEAD3EEC}"/>
              </a:ext>
            </a:extLst>
          </p:cNvPr>
          <p:cNvSpPr>
            <a:spLocks noGrp="1"/>
          </p:cNvSpPr>
          <p:nvPr/>
        </p:nvSpPr>
        <p:spPr>
          <a:xfrm>
            <a:off x="7086600" y="1905000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РЕКОМЕНДАЦИЯ 1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0D48EA-83D6-44C4-B401-11B3DCA9D66B}"/>
              </a:ext>
            </a:extLst>
          </p:cNvPr>
          <p:cNvSpPr>
            <a:spLocks noGrp="1"/>
          </p:cNvSpPr>
          <p:nvPr/>
        </p:nvSpPr>
        <p:spPr>
          <a:xfrm>
            <a:off x="7086599" y="2245891"/>
            <a:ext cx="4423229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 GMP-ECM как стартовый эталон.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88FD73F1-E22E-4C8C-9FF0-9FF4D6887F47}"/>
              </a:ext>
            </a:extLst>
          </p:cNvPr>
          <p:cNvSpPr>
            <a:spLocks noGrp="1"/>
          </p:cNvSpPr>
          <p:nvPr/>
        </p:nvSpPr>
        <p:spPr>
          <a:xfrm>
            <a:off x="6858000" y="3000375"/>
            <a:ext cx="4810124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50F33EE-5733-4253-9DD6-5ABE1E17239A}"/>
              </a:ext>
            </a:extLst>
          </p:cNvPr>
          <p:cNvSpPr>
            <a:spLocks noGrp="1"/>
          </p:cNvSpPr>
          <p:nvPr/>
        </p:nvSpPr>
        <p:spPr>
          <a:xfrm>
            <a:off x="6858000" y="3000375"/>
            <a:ext cx="57150" cy="10477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DDA814B0-DC16-4D62-87BE-AAE5A9157C08}"/>
              </a:ext>
            </a:extLst>
          </p:cNvPr>
          <p:cNvSpPr>
            <a:spLocks noGrp="1"/>
          </p:cNvSpPr>
          <p:nvPr/>
        </p:nvSpPr>
        <p:spPr>
          <a:xfrm>
            <a:off x="7086600" y="3190875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РЕКОМЕНДАЦИЯ 2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9D44E28D-FEBC-4216-908A-EAC5C7BC3EEB}"/>
              </a:ext>
            </a:extLst>
          </p:cNvPr>
          <p:cNvSpPr>
            <a:spLocks noGrp="1"/>
          </p:cNvSpPr>
          <p:nvPr/>
        </p:nvSpPr>
        <p:spPr>
          <a:xfrm>
            <a:off x="7086600" y="3514724"/>
            <a:ext cx="4581524" cy="6000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Сначала широкий поиск, затем уточнение.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C069477E-E14A-49E5-AE6C-0AE65F9BA199}"/>
              </a:ext>
            </a:extLst>
          </p:cNvPr>
          <p:cNvSpPr>
            <a:spLocks noGrp="1"/>
          </p:cNvSpPr>
          <p:nvPr/>
        </p:nvSpPr>
        <p:spPr>
          <a:xfrm>
            <a:off x="6858000" y="4286250"/>
            <a:ext cx="48196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35CE5750-6B8A-4A54-9D47-DCA12521F02B}"/>
              </a:ext>
            </a:extLst>
          </p:cNvPr>
          <p:cNvSpPr>
            <a:spLocks noGrp="1"/>
          </p:cNvSpPr>
          <p:nvPr/>
        </p:nvSpPr>
        <p:spPr>
          <a:xfrm>
            <a:off x="6858000" y="4286249"/>
            <a:ext cx="57150" cy="1181099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F40A4066-5337-47C8-B015-2A3935BF807A}"/>
              </a:ext>
            </a:extLst>
          </p:cNvPr>
          <p:cNvSpPr>
            <a:spLocks noGrp="1"/>
          </p:cNvSpPr>
          <p:nvPr/>
        </p:nvSpPr>
        <p:spPr>
          <a:xfrm>
            <a:off x="7086600" y="4476750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РЕКОМЕНДАЦИЯ 3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9681ECC-C077-4FB6-98B6-295C04B1559B}"/>
              </a:ext>
            </a:extLst>
          </p:cNvPr>
          <p:cNvSpPr>
            <a:spLocks noGrp="1"/>
          </p:cNvSpPr>
          <p:nvPr/>
        </p:nvSpPr>
        <p:spPr>
          <a:xfrm>
            <a:off x="7086600" y="4800600"/>
            <a:ext cx="4423228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Проверять параметры на control-наборе.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61C32905-761B-45CF-9045-C71868D56E83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AE398689-39E2-4088-847A-22578AE104D0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3D882D09-0C15-4CEB-92D0-410F33A4B41B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9" name="Рисунок 3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B61C5BA3-DEF7-45DE-BADF-24C5236E1F37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EE6A2FDC-4E41-497D-9717-3A0BC9C1BCAD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15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821230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1C684AB-4109-4FA0-82D7-2D18AB78A57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B60B9AF-C13A-4FBC-89F9-218E971B1ACE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АПРОБАЦИЯ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C7CEAC7-8F64-4CF9-94F4-AEB677C5431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Апробация результатов является экспериментальной и программной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38B09DF-EFBC-440A-AB52-94B47FBD97DA}"/>
              </a:ext>
            </a:extLst>
          </p:cNvPr>
          <p:cNvSpPr>
            <a:spLocks noGrp="1"/>
          </p:cNvSpPr>
          <p:nvPr/>
        </p:nvSpPr>
        <p:spPr>
          <a:xfrm>
            <a:off x="1033211" y="2148451"/>
            <a:ext cx="4572000" cy="2895117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7D5C35F-6A68-41E3-B36E-3C0FBDA7A143}"/>
              </a:ext>
            </a:extLst>
          </p:cNvPr>
          <p:cNvSpPr>
            <a:spLocks noGrp="1"/>
          </p:cNvSpPr>
          <p:nvPr/>
        </p:nvSpPr>
        <p:spPr>
          <a:xfrm>
            <a:off x="1033210" y="2148452"/>
            <a:ext cx="57151" cy="2880748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0076F0E-7B58-4307-8CC1-797B06245005}"/>
              </a:ext>
            </a:extLst>
          </p:cNvPr>
          <p:cNvSpPr>
            <a:spLocks noGrp="1"/>
          </p:cNvSpPr>
          <p:nvPr/>
        </p:nvSpPr>
        <p:spPr>
          <a:xfrm>
            <a:off x="1261811" y="2338952"/>
            <a:ext cx="4171950" cy="7970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0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ЭКСПЕРИМЕНТАЛЬНАЯ АПРОБАЦИЯ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FFD46AE-55AF-4B6E-99D7-D98B3B27E6CC}"/>
              </a:ext>
            </a:extLst>
          </p:cNvPr>
          <p:cNvSpPr>
            <a:spLocks noGrp="1"/>
          </p:cNvSpPr>
          <p:nvPr/>
        </p:nvSpPr>
        <p:spPr>
          <a:xfrm>
            <a:off x="1261811" y="2999370"/>
            <a:ext cx="4171950" cy="1352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50000"/>
              </a:lnSpc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Запуски выполнены на ресурсах СКЦ СПбПУ в среде SLURM. Параметры проверены на независимой выборке.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47B4BE4-DDD4-41BC-9A2D-C81BBA734905}"/>
              </a:ext>
            </a:extLst>
          </p:cNvPr>
          <p:cNvSpPr>
            <a:spLocks noGrp="1"/>
          </p:cNvSpPr>
          <p:nvPr/>
        </p:nvSpPr>
        <p:spPr>
          <a:xfrm>
            <a:off x="6319586" y="2148452"/>
            <a:ext cx="4572000" cy="289511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23890C6-98FD-4F08-AB7C-D5FFA70A7168}"/>
              </a:ext>
            </a:extLst>
          </p:cNvPr>
          <p:cNvSpPr>
            <a:spLocks noGrp="1"/>
          </p:cNvSpPr>
          <p:nvPr/>
        </p:nvSpPr>
        <p:spPr>
          <a:xfrm>
            <a:off x="6319586" y="2148452"/>
            <a:ext cx="57150" cy="2895116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305DE06A-628E-4694-BA04-11AE340D371A}"/>
              </a:ext>
            </a:extLst>
          </p:cNvPr>
          <p:cNvSpPr>
            <a:spLocks noGrp="1"/>
          </p:cNvSpPr>
          <p:nvPr/>
        </p:nvSpPr>
        <p:spPr>
          <a:xfrm>
            <a:off x="6548186" y="2338951"/>
            <a:ext cx="4171950" cy="91138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4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ПРОГРАММНАЯ АПРОБАЦИЯ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17F1A92-0541-45F0-A652-4FDEE70F0D18}"/>
              </a:ext>
            </a:extLst>
          </p:cNvPr>
          <p:cNvSpPr>
            <a:spLocks noGrp="1"/>
          </p:cNvSpPr>
          <p:nvPr/>
        </p:nvSpPr>
        <p:spPr>
          <a:xfrm>
            <a:off x="6591300" y="2912551"/>
            <a:ext cx="4171950" cy="1352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50000"/>
              </a:lnSpc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Конвейр проверен от генерации данных до анализа. Сохраняются seed, параметры, отчеты, таблицы и графики.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914E4CB-03D7-4846-BEED-5B020B399CB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11079585-13E8-4A3D-923C-BB1F3F06AE3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7E2583A-3BDB-4966-AB99-5113D6D48BF0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19" name="Рисунок 2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47DEDCC6-A7F7-41B9-8CEE-E88567DC3A07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4FC3AC85-6C64-4930-9625-F4ABC7E4397A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16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387171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EBD6283-F1AC-4FD6-B664-6BA35901EDB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BD2FE32-BAF9-4F02-9A97-61D3D370DF19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ЗАКЛЮЧЕНИЕ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07C35F88-342C-41CB-995F-07C7A6C1C453}"/>
              </a:ext>
            </a:extLst>
          </p:cNvPr>
          <p:cNvSpPr>
            <a:spLocks noGrp="1"/>
          </p:cNvSpPr>
          <p:nvPr/>
        </p:nvSpPr>
        <p:spPr>
          <a:xfrm>
            <a:off x="571500" y="800100"/>
            <a:ext cx="8191500" cy="800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3250"/>
          </a:bodyPr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результатам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исследования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цель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ВКР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достигнута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: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экспериментально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проверена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воспроизводимая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система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автоматизированного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ECM,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позволяющая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снижать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эмпирическую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оценку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ожидаемой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стоимости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относительно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GMP-ECM.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5FE162E-1B4A-4184-82AE-85BFA06EFB73}"/>
              </a:ext>
            </a:extLst>
          </p:cNvPr>
          <p:cNvSpPr>
            <a:spLocks noGrp="1"/>
          </p:cNvSpPr>
          <p:nvPr/>
        </p:nvSpPr>
        <p:spPr>
          <a:xfrm>
            <a:off x="9048750" y="1428750"/>
            <a:ext cx="2714625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A83FF3C-9944-462F-8C1C-1051C19E281C}"/>
              </a:ext>
            </a:extLst>
          </p:cNvPr>
          <p:cNvSpPr>
            <a:spLocks noGrp="1"/>
          </p:cNvSpPr>
          <p:nvPr/>
        </p:nvSpPr>
        <p:spPr>
          <a:xfrm>
            <a:off x="9239250" y="1581150"/>
            <a:ext cx="2190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025"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-25,14%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521DE97-6813-41FD-B523-9522A5D86097}"/>
              </a:ext>
            </a:extLst>
          </p:cNvPr>
          <p:cNvSpPr>
            <a:spLocks noGrp="1"/>
          </p:cNvSpPr>
          <p:nvPr/>
        </p:nvSpPr>
        <p:spPr>
          <a:xfrm>
            <a:off x="9239250" y="1952625"/>
            <a:ext cx="2190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9605" lnSpcReduction="10000"/>
          </a:bodyPr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валидационной</a:t>
            </a:r>
            <a:r>
              <a:rPr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метрики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F8E3A5C-A152-4C30-B027-26C5D037AAD0}"/>
              </a:ext>
            </a:extLst>
          </p:cNvPr>
          <p:cNvSpPr>
            <a:spLocks noGrp="1"/>
          </p:cNvSpPr>
          <p:nvPr/>
        </p:nvSpPr>
        <p:spPr>
          <a:xfrm>
            <a:off x="9048750" y="2619375"/>
            <a:ext cx="2714625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5FBAAA5-47C8-434E-8532-97B08817C4B6}"/>
              </a:ext>
            </a:extLst>
          </p:cNvPr>
          <p:cNvSpPr>
            <a:spLocks noGrp="1"/>
          </p:cNvSpPr>
          <p:nvPr/>
        </p:nvSpPr>
        <p:spPr>
          <a:xfrm>
            <a:off x="9239250" y="2771775"/>
            <a:ext cx="2190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02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-21,04%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1E4CA3C-DDEA-4CBB-BD41-597C27E01FFD}"/>
              </a:ext>
            </a:extLst>
          </p:cNvPr>
          <p:cNvSpPr>
            <a:spLocks noGrp="1"/>
          </p:cNvSpPr>
          <p:nvPr/>
        </p:nvSpPr>
        <p:spPr>
          <a:xfrm>
            <a:off x="9239250" y="3143250"/>
            <a:ext cx="2190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9605" lnSpcReduction="10000"/>
          </a:bodyPr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среднего</a:t>
            </a:r>
            <a:r>
              <a:rPr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времени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32CCA7D-F89A-49B8-B429-736877868A79}"/>
              </a:ext>
            </a:extLst>
          </p:cNvPr>
          <p:cNvSpPr>
            <a:spLocks noGrp="1"/>
          </p:cNvSpPr>
          <p:nvPr/>
        </p:nvSpPr>
        <p:spPr>
          <a:xfrm>
            <a:off x="9048750" y="3810000"/>
            <a:ext cx="2714625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9AC4A33-21F4-4751-9AD6-BF1FDC56518C}"/>
              </a:ext>
            </a:extLst>
          </p:cNvPr>
          <p:cNvSpPr>
            <a:spLocks noGrp="1"/>
          </p:cNvSpPr>
          <p:nvPr/>
        </p:nvSpPr>
        <p:spPr>
          <a:xfrm>
            <a:off x="9239250" y="3962400"/>
            <a:ext cx="2190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02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-62,42%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1346C3BF-2CDA-4AC4-94F4-961144A0CD0C}"/>
              </a:ext>
            </a:extLst>
          </p:cNvPr>
          <p:cNvSpPr>
            <a:spLocks noGrp="1"/>
          </p:cNvSpPr>
          <p:nvPr/>
        </p:nvSpPr>
        <p:spPr>
          <a:xfrm>
            <a:off x="9239250" y="4333875"/>
            <a:ext cx="2190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9605" lnSpcReduction="10000"/>
          </a:bodyPr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числа</a:t>
            </a:r>
            <a:r>
              <a:rPr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кривых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4D5C477B-4266-4814-8039-7D5E19B5CCBD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01CAFF5-87ED-454D-898B-A04247D8C279}"/>
              </a:ext>
            </a:extLst>
          </p:cNvPr>
          <p:cNvSpPr>
            <a:spLocks noGrp="1"/>
          </p:cNvSpPr>
          <p:nvPr/>
        </p:nvSpPr>
        <p:spPr>
          <a:xfrm>
            <a:off x="547687" y="1852803"/>
            <a:ext cx="80962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РЕШЕННЫ ЗАДАЧИ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88D92FFD-1FFF-46BF-BDB1-D1E8F265B23C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7FBFAE7-C777-4CA7-B0A0-A89199A1FAEB}"/>
              </a:ext>
            </a:extLst>
          </p:cNvPr>
          <p:cNvSpPr>
            <a:spLocks noGrp="1"/>
          </p:cNvSpPr>
          <p:nvPr/>
        </p:nvSpPr>
        <p:spPr>
          <a:xfrm>
            <a:off x="571499" y="2195704"/>
            <a:ext cx="8096250" cy="207149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/>
          </a:bodyPr>
          <a:lstStyle/>
          <a:p>
            <a:pPr marL="342900" indent="-342900" algn="l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Выполнен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аналитический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обзор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методов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;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определено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место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 в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практическом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конвейере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Рассмотрены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стадии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влияние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B1/B2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вероятность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успеха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время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число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Подбор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B1/B2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формализован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как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стохастическая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black-box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задача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с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ограничениями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  <a:endParaRPr lang="ru-RU" sz="14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Обоснован набор эвристических методов: RS, DE, GA, PSO и BO.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Разработана </a:t>
            </a:r>
            <a:r>
              <a:rPr lang="ru-RU" sz="14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Python</a:t>
            </a: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-система: </a:t>
            </a:r>
            <a:r>
              <a:rPr lang="ru-RU" sz="14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датасеты</a:t>
            </a: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GMP-ECM, оптимизация, валидация и анализ.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Проведены эксперименты, независимая контрольная валидация, анализ ограничений и рекомендации.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 sz="14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86072E17-1CD4-4E62-9ECA-203DDB01A3DE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DA10AC8-9324-4BD2-8E56-65BC60008E56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71A8147-8051-418D-9D8E-64B6E5247D79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CB813009-DDF6-4511-999E-C45BBD77A887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CC26639-6D68-4105-8A8D-5DE02947AC3F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1489836-3DA8-4197-85E3-D463D8A6CD9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6" name="Рисунок 2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1D05F42-72F0-488A-AC60-927D1036981C}"/>
              </a:ext>
            </a:extLst>
          </p:cNvPr>
          <p:cNvSpPr>
            <a:spLocks noGrp="1"/>
          </p:cNvSpPr>
          <p:nvPr/>
        </p:nvSpPr>
        <p:spPr>
          <a:xfrm>
            <a:off x="571500" y="4286250"/>
            <a:ext cx="80962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ПЕРСПЕКТИВЫ РАЗВИТИЯ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8637D8A9-290E-4B07-A97C-2CD7D98DF8EE}"/>
              </a:ext>
            </a:extLst>
          </p:cNvPr>
          <p:cNvSpPr>
            <a:spLocks noGrp="1"/>
          </p:cNvSpPr>
          <p:nvPr/>
        </p:nvSpPr>
        <p:spPr>
          <a:xfrm>
            <a:off x="571500" y="4629150"/>
            <a:ext cx="24765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35E26153-5844-4129-8B32-76BDBE7AB548}"/>
              </a:ext>
            </a:extLst>
          </p:cNvPr>
          <p:cNvSpPr>
            <a:spLocks noGrp="1"/>
          </p:cNvSpPr>
          <p:nvPr/>
        </p:nvSpPr>
        <p:spPr>
          <a:xfrm>
            <a:off x="571500" y="4629150"/>
            <a:ext cx="57150" cy="9906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6F463B43-8ACA-4054-9E7F-C205EF37CD1C}"/>
              </a:ext>
            </a:extLst>
          </p:cNvPr>
          <p:cNvSpPr>
            <a:spLocks noGrp="1"/>
          </p:cNvSpPr>
          <p:nvPr/>
        </p:nvSpPr>
        <p:spPr>
          <a:xfrm>
            <a:off x="781050" y="478155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2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МАСШТАБ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5B8363E2-0D69-4AF1-8B6B-B7ED0479711D}"/>
              </a:ext>
            </a:extLst>
          </p:cNvPr>
          <p:cNvSpPr>
            <a:spLocks noGrp="1"/>
          </p:cNvSpPr>
          <p:nvPr/>
        </p:nvSpPr>
        <p:spPr>
          <a:xfrm>
            <a:off x="781050" y="5067300"/>
            <a:ext cx="20955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25-, 30-, 35-значные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более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крупные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делители</a:t>
            </a:r>
            <a:r>
              <a:rPr lang="ru-RU"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  <a:endParaRPr sz="14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C1BE02B3-4F07-4E74-A2C5-ED02E43A9C15}"/>
              </a:ext>
            </a:extLst>
          </p:cNvPr>
          <p:cNvSpPr>
            <a:spLocks noGrp="1"/>
          </p:cNvSpPr>
          <p:nvPr/>
        </p:nvSpPr>
        <p:spPr>
          <a:xfrm>
            <a:off x="6057900" y="4629150"/>
            <a:ext cx="24765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D47CB82A-E417-4368-B003-B19209609B11}"/>
              </a:ext>
            </a:extLst>
          </p:cNvPr>
          <p:cNvSpPr>
            <a:spLocks noGrp="1"/>
          </p:cNvSpPr>
          <p:nvPr/>
        </p:nvSpPr>
        <p:spPr>
          <a:xfrm>
            <a:off x="6057900" y="4629150"/>
            <a:ext cx="57150" cy="9906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33CA7032-C3A2-44FD-A2E4-9EF6D96A6D72}"/>
              </a:ext>
            </a:extLst>
          </p:cNvPr>
          <p:cNvSpPr>
            <a:spLocks noGrp="1"/>
          </p:cNvSpPr>
          <p:nvPr/>
        </p:nvSpPr>
        <p:spPr>
          <a:xfrm>
            <a:off x="6267450" y="478155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2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МЕТОДИКА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3649E3BA-A5E9-4F52-B37E-FCF2EA89C319}"/>
              </a:ext>
            </a:extLst>
          </p:cNvPr>
          <p:cNvSpPr>
            <a:spLocks noGrp="1"/>
          </p:cNvSpPr>
          <p:nvPr/>
        </p:nvSpPr>
        <p:spPr>
          <a:xfrm>
            <a:off x="6267450" y="4953000"/>
            <a:ext cx="22669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ополнительные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seed/control-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наборы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CPU-hour,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адаптивная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остановка</a:t>
            </a:r>
            <a:r>
              <a:rPr lang="ru-RU"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  <a:endParaRPr sz="14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E18121CC-3EBC-44BA-A48F-F40773F2F1DE}"/>
              </a:ext>
            </a:extLst>
          </p:cNvPr>
          <p:cNvSpPr>
            <a:spLocks noGrp="1"/>
          </p:cNvSpPr>
          <p:nvPr/>
        </p:nvSpPr>
        <p:spPr>
          <a:xfrm>
            <a:off x="3314700" y="4629150"/>
            <a:ext cx="24765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608C9F03-663A-45C1-A1FD-E0DFD65A01AE}"/>
              </a:ext>
            </a:extLst>
          </p:cNvPr>
          <p:cNvSpPr>
            <a:spLocks noGrp="1"/>
          </p:cNvSpPr>
          <p:nvPr/>
        </p:nvSpPr>
        <p:spPr>
          <a:xfrm>
            <a:off x="3314700" y="4629150"/>
            <a:ext cx="57150" cy="99060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CC2EAB03-AD67-4561-A1DC-AFD70A0B05B8}"/>
              </a:ext>
            </a:extLst>
          </p:cNvPr>
          <p:cNvSpPr>
            <a:spLocks noGrp="1"/>
          </p:cNvSpPr>
          <p:nvPr/>
        </p:nvSpPr>
        <p:spPr>
          <a:xfrm>
            <a:off x="3524250" y="478155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2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ПЕРЕНОСИМОСТЬ</a:t>
            </a: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543FED70-71F0-4975-BE85-7F0E4FE291F9}"/>
              </a:ext>
            </a:extLst>
          </p:cNvPr>
          <p:cNvSpPr>
            <a:spLocks noGrp="1"/>
          </p:cNvSpPr>
          <p:nvPr/>
        </p:nvSpPr>
        <p:spPr>
          <a:xfrm>
            <a:off x="3429001" y="5067300"/>
            <a:ext cx="2333623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латформы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версии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GMP-ECM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специальные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классы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чисел</a:t>
            </a:r>
            <a:r>
              <a:rPr lang="ru-RU"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  <a:endParaRPr sz="14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C24853C-3B40-4031-B7A1-03BE080A79A0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A6C6A536-1153-45DB-9232-C0F1EFB6853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17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78432253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2007</Words>
  <Application>Microsoft Office PowerPoint</Application>
  <DocSecurity>0</DocSecurity>
  <PresentationFormat>Широкоэкранный</PresentationFormat>
  <Paragraphs>362</Paragraphs>
  <Slides>17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1" baseType="lpstr">
      <vt:lpstr>Calibri</vt:lpstr>
      <vt:lpstr>Cambria Math</vt:lpstr>
      <vt:lpstr>Onest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Егор Плеханов</cp:lastModifiedBy>
  <cp:revision>7</cp:revision>
  <dcterms:created xsi:type="dcterms:W3CDTF">2026-05-26T20:05:52Z</dcterms:created>
  <dcterms:modified xsi:type="dcterms:W3CDTF">2026-05-26T21:11:54Z</dcterms:modified>
</cp:coreProperties>
</file>