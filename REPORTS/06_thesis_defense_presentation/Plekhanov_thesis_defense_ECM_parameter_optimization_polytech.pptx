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5D3"/>
    <a:srgbClr val="37B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68" autoAdjust="0"/>
    <p:restoredTop sz="63518" autoAdjust="0"/>
  </p:normalViewPr>
  <p:slideViewPr>
    <p:cSldViewPr snapToGrid="0">
      <p:cViewPr varScale="1">
        <p:scale>
          <a:sx n="66" d="100"/>
          <a:sy n="66" d="100"/>
        </p:scale>
        <p:origin x="6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0D4C83-66B6-4CA9-AD09-B92761E525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0050" cy="68580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5E46D7-5A3F-4B84-871B-9D9398BE0AF7}"/>
              </a:ext>
            </a:extLst>
          </p:cNvPr>
          <p:cNvSpPr>
            <a:spLocks noGrp="1"/>
          </p:cNvSpPr>
          <p:nvPr/>
        </p:nvSpPr>
        <p:spPr>
          <a:xfrm>
            <a:off x="400050" y="0"/>
            <a:ext cx="114300" cy="68580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05750" y="381000"/>
            <a:ext cx="4029795" cy="151520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DD4DEC-16F2-4006-A19F-E41AFF159B75}"/>
              </a:ext>
            </a:extLst>
          </p:cNvPr>
          <p:cNvSpPr>
            <a:spLocks noGrp="1"/>
          </p:cNvSpPr>
          <p:nvPr/>
        </p:nvSpPr>
        <p:spPr>
          <a:xfrm>
            <a:off x="1047749" y="1684072"/>
            <a:ext cx="7925921" cy="250563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с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применением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на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32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3200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32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F1100F-7541-4CDA-8C19-B6BC76A9E580}"/>
              </a:ext>
            </a:extLst>
          </p:cNvPr>
          <p:cNvSpPr>
            <a:spLocks noGrp="1"/>
          </p:cNvSpPr>
          <p:nvPr/>
        </p:nvSpPr>
        <p:spPr>
          <a:xfrm>
            <a:off x="1047749" y="5338762"/>
            <a:ext cx="3429000" cy="6667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D9F593-5D71-483D-BD5C-59798A2B07A3}"/>
              </a:ext>
            </a:extLst>
          </p:cNvPr>
          <p:cNvSpPr>
            <a:spLocks noGrp="1"/>
          </p:cNvSpPr>
          <p:nvPr/>
        </p:nvSpPr>
        <p:spPr>
          <a:xfrm>
            <a:off x="4476749" y="5386388"/>
            <a:ext cx="2047875" cy="66675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602CF4-7FEA-4BBF-B328-846071FEF652}"/>
              </a:ext>
            </a:extLst>
          </p:cNvPr>
          <p:cNvSpPr>
            <a:spLocks noGrp="1"/>
          </p:cNvSpPr>
          <p:nvPr/>
        </p:nvSpPr>
        <p:spPr>
          <a:xfrm>
            <a:off x="6524624" y="5338762"/>
            <a:ext cx="1381125" cy="66675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4E0E27B-FCA5-4943-AD63-187E75425235}"/>
              </a:ext>
            </a:extLst>
          </p:cNvPr>
          <p:cNvSpPr>
            <a:spLocks noGrp="1"/>
          </p:cNvSpPr>
          <p:nvPr/>
        </p:nvSpPr>
        <p:spPr>
          <a:xfrm>
            <a:off x="1047750" y="5600700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Плеханов Егор Сергеевич, группа 5140203/40101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25BE762-59E5-4D34-857D-506A8C32438B}"/>
              </a:ext>
            </a:extLst>
          </p:cNvPr>
          <p:cNvSpPr>
            <a:spLocks noGrp="1"/>
          </p:cNvSpPr>
          <p:nvPr/>
        </p:nvSpPr>
        <p:spPr>
          <a:xfrm>
            <a:off x="1047750" y="5905500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Научный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руководитель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:</a:t>
            </a:r>
            <a:r>
              <a:rPr lang="ru-RU"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к.ф.-м.н.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Пак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В. Г.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2695797-F3E3-4B6B-8FA9-9148B1235FB2}"/>
              </a:ext>
            </a:extLst>
          </p:cNvPr>
          <p:cNvSpPr>
            <a:spLocks noGrp="1"/>
          </p:cNvSpPr>
          <p:nvPr/>
        </p:nvSpPr>
        <p:spPr>
          <a:xfrm>
            <a:off x="1047750" y="62103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Санкт-Петербургский</a:t>
            </a:r>
            <a:r>
              <a:rPr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политехнический</a:t>
            </a:r>
            <a:r>
              <a:rPr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университет</a:t>
            </a:r>
            <a:r>
              <a:rPr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Петра</a:t>
            </a:r>
            <a:r>
              <a:rPr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Великого</a:t>
            </a:r>
            <a:r>
              <a:rPr lang="ru-RU"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, 2026 г.</a:t>
            </a:r>
            <a:endParaRPr sz="18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2B8BD0B-C193-425C-80EA-9A26C01A5F64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53B347C-372C-4322-96B2-3260EDD44B20}"/>
              </a:ext>
            </a:extLst>
          </p:cNvPr>
          <p:cNvSpPr>
            <a:spLocks noGrp="1"/>
          </p:cNvSpPr>
          <p:nvPr/>
        </p:nvSpPr>
        <p:spPr>
          <a:xfrm>
            <a:off x="2619375" y="67056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C9027FB-5BF1-40E8-A696-1F9B88BA41DE}"/>
              </a:ext>
            </a:extLst>
          </p:cNvPr>
          <p:cNvSpPr>
            <a:spLocks noGrp="1"/>
          </p:cNvSpPr>
          <p:nvPr/>
        </p:nvSpPr>
        <p:spPr>
          <a:xfrm>
            <a:off x="5762625" y="67056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025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213C5E-A5A9-4C04-A94A-1AF94DFBBBE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395A6B-9788-4277-831F-99334925AB3F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АКТУАЛЬНОСТЬ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A33090-92A4-407C-BB83-4644F065C8B3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ECM важен там, где факторизация выполняется сериями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BFD5E77-1250-419D-8334-DDFA56E2645A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952625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AA8B26B-14ED-4544-B433-40F205A43B2B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1952625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69AA19-9AC2-49BF-AA74-D3685AE69369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16859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составное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число 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0DCF7A-17F4-4AF5-883C-FC8AA965DA65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6B086F6-001D-4927-B159-5237ADEF831F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2333625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4BF542-F975-43A1-931C-1357B2BEACCA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2333625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8778D9-D766-4633-9A54-6D1A1037B2C9}"/>
              </a:ext>
            </a:extLst>
          </p:cNvPr>
          <p:cNvSpPr>
            <a:spLocks noGrp="1"/>
          </p:cNvSpPr>
          <p:nvPr/>
        </p:nvSpPr>
        <p:spPr>
          <a:xfrm>
            <a:off x="3848100" y="2019300"/>
            <a:ext cx="20669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малые / средние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делители: ECM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1047DFD-C5BD-4FBE-BE5C-769DE05A3CE5}"/>
              </a:ext>
            </a:extLst>
          </p:cNvPr>
          <p:cNvSpPr>
            <a:spLocks noGrp="1"/>
          </p:cNvSpPr>
          <p:nvPr/>
        </p:nvSpPr>
        <p:spPr>
          <a:xfrm>
            <a:off x="6334125" y="21526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FD6C32-24F2-4D47-BEDF-31CDE77E0FFA}"/>
              </a:ext>
            </a:extLst>
          </p:cNvPr>
          <p:cNvSpPr>
            <a:spLocks noGrp="1"/>
          </p:cNvSpPr>
          <p:nvPr/>
        </p:nvSpPr>
        <p:spPr>
          <a:xfrm>
            <a:off x="7524750" y="1885950"/>
            <a:ext cx="2333625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27A9300-38F0-4C27-A58E-A99975438BC4}"/>
              </a:ext>
            </a:extLst>
          </p:cNvPr>
          <p:cNvSpPr>
            <a:spLocks noGrp="1"/>
          </p:cNvSpPr>
          <p:nvPr/>
        </p:nvSpPr>
        <p:spPr>
          <a:xfrm>
            <a:off x="7524750" y="2895600"/>
            <a:ext cx="2333625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62AB87E-8802-47EC-97D8-C77BA7385562}"/>
              </a:ext>
            </a:extLst>
          </p:cNvPr>
          <p:cNvSpPr>
            <a:spLocks noGrp="1"/>
          </p:cNvSpPr>
          <p:nvPr/>
        </p:nvSpPr>
        <p:spPr>
          <a:xfrm>
            <a:off x="7658100" y="2019300"/>
            <a:ext cx="20669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кофактор: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QS / GNFS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63C0937-AF2B-4B4B-BBE1-EF9280D21902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3048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0DE94B-7DD0-43CB-8CC5-58CF4F6127C0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57150" cy="1762125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6ED997-2DC1-46EE-8472-E09C4AB10E8B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КОНТЕКСТ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0B9E97F-1135-4461-99F9-F7969985B8E8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2647950" cy="1209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Факторизация связана со стойкостью RSA и расчетами теории чисел.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BD4C73C-C52E-4118-A668-EF613165364D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3048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73EA99-6CCA-4705-A739-88C9E02AE98A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57150" cy="17621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91B687A-E4C4-4448-B93A-3203050319C9}"/>
              </a:ext>
            </a:extLst>
          </p:cNvPr>
          <p:cNvSpPr>
            <a:spLocks noGrp="1"/>
          </p:cNvSpPr>
          <p:nvPr/>
        </p:nvSpPr>
        <p:spPr>
          <a:xfrm>
            <a:off x="4705350" y="36195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РЕСУРСЫ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88A674B-CAF6-49A7-8C1F-4B77C518062B}"/>
              </a:ext>
            </a:extLst>
          </p:cNvPr>
          <p:cNvSpPr>
            <a:spLocks noGrp="1"/>
          </p:cNvSpPr>
          <p:nvPr/>
        </p:nvSpPr>
        <p:spPr>
          <a:xfrm>
            <a:off x="4705350" y="3943350"/>
            <a:ext cx="2647950" cy="1209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Массовые ECM-запуски дороги: меньше времени и кривых — меньше вычислений.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2188393-981B-49A1-A024-6934B5718A10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3048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656D0E6-91E8-4896-8A90-1D5A90F853EE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57150" cy="1762125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9295359-5ACE-4D17-96B7-B8FBEBC49BA9}"/>
              </a:ext>
            </a:extLst>
          </p:cNvPr>
          <p:cNvSpPr>
            <a:spLocks noGrp="1"/>
          </p:cNvSpPr>
          <p:nvPr/>
        </p:nvSpPr>
        <p:spPr>
          <a:xfrm>
            <a:off x="8401050" y="36195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ПРОБЛЕМА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1A32C0C-2E40-4C13-9EC8-21B70CE58B39}"/>
              </a:ext>
            </a:extLst>
          </p:cNvPr>
          <p:cNvSpPr>
            <a:spLocks noGrp="1"/>
          </p:cNvSpPr>
          <p:nvPr/>
        </p:nvSpPr>
        <p:spPr>
          <a:xfrm>
            <a:off x="8401050" y="3943350"/>
            <a:ext cx="2647950" cy="1209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Параметры GMP-ECM надежны, но не всегда оптимальны локально.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6B73600-4146-42CE-977F-D42220B30B51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B074276-07C6-4178-9197-F7FC4683658A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9C03E78-18D5-4DD1-B970-274B564A5E54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CF77100-7B7C-4B43-AAAB-44EC84BD591A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476CB7B-56D6-4387-A3E4-071AF41488EF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</a:t>
            </a:r>
            <a:r>
              <a:rPr sz="18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Сергеевич</a:t>
            </a:r>
            <a:endParaRPr sz="18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0C7E719-CCD4-4805-9182-0F8CE2B1D088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F5B0B60-6DF3-4CBF-A0E5-53C6BED05D1D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2/1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9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97D00D-F843-47A2-9458-BD30FF34427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7A3DF9-0143-4CB2-AF2B-029689088DCD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ЦЕЛЬ И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280B76-C09F-49F2-AA80-F38754D6025A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4490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Работа</a:t>
            </a:r>
            <a:r>
              <a:rPr sz="2325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связывает</a:t>
            </a:r>
            <a:r>
              <a:rPr sz="2325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постановку</a:t>
            </a:r>
            <a:r>
              <a:rPr sz="2325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, </a:t>
            </a: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систему</a:t>
            </a:r>
            <a:r>
              <a:rPr sz="2325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и </a:t>
            </a: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независимую</a:t>
            </a:r>
            <a:r>
              <a:rPr sz="2325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2325" b="1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проверку</a:t>
            </a:r>
            <a:endParaRPr sz="2325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35BD71-550A-403D-933B-24B82DFB535F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494736" cy="1104901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A0D8153-0856-4E93-90D0-433FD81EE5B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5719" cy="1085851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DDFD0A-2C23-4523-8C74-9F0BA203DCA7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4100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ЦЕЛЬ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943B55-DDDD-43A7-B786-72A51D0CC1CE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9867900" cy="5715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Разработать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и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исследовать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систему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автоматического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ECM и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оценить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выигрыш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относительно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GMP-ECM.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E204A8-3EF1-4FE8-B0EE-11E34EF78FAF}"/>
              </a:ext>
            </a:extLst>
          </p:cNvPr>
          <p:cNvSpPr>
            <a:spLocks noGrp="1"/>
          </p:cNvSpPr>
          <p:nvPr/>
        </p:nvSpPr>
        <p:spPr>
          <a:xfrm>
            <a:off x="785813" y="3162301"/>
            <a:ext cx="49768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1CBA25-7B9C-4E8C-845D-D6BD003A903C}"/>
              </a:ext>
            </a:extLst>
          </p:cNvPr>
          <p:cNvSpPr>
            <a:spLocks noGrp="1"/>
          </p:cNvSpPr>
          <p:nvPr/>
        </p:nvSpPr>
        <p:spPr>
          <a:xfrm>
            <a:off x="957263" y="3295651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Задача 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3B161B-6ECA-4103-8885-815830716ACC}"/>
              </a:ext>
            </a:extLst>
          </p:cNvPr>
          <p:cNvSpPr>
            <a:spLocks noGrp="1"/>
          </p:cNvSpPr>
          <p:nvPr/>
        </p:nvSpPr>
        <p:spPr>
          <a:xfrm>
            <a:off x="957263" y="354330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обзор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и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роли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ECM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3EB76B-90E1-4042-9875-BD63CCF7E438}"/>
              </a:ext>
            </a:extLst>
          </p:cNvPr>
          <p:cNvSpPr>
            <a:spLocks noGrp="1"/>
          </p:cNvSpPr>
          <p:nvPr/>
        </p:nvSpPr>
        <p:spPr>
          <a:xfrm>
            <a:off x="6696529" y="3086101"/>
            <a:ext cx="4319814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585CC9A-C005-4240-A17F-003E5AB7254D}"/>
              </a:ext>
            </a:extLst>
          </p:cNvPr>
          <p:cNvSpPr>
            <a:spLocks noGrp="1"/>
          </p:cNvSpPr>
          <p:nvPr/>
        </p:nvSpPr>
        <p:spPr>
          <a:xfrm>
            <a:off x="6867979" y="3219451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Задача 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D9D933-4609-4B14-AA14-09FD5321DDCD}"/>
              </a:ext>
            </a:extLst>
          </p:cNvPr>
          <p:cNvSpPr>
            <a:spLocks noGrp="1"/>
          </p:cNvSpPr>
          <p:nvPr/>
        </p:nvSpPr>
        <p:spPr>
          <a:xfrm>
            <a:off x="6867979" y="346710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анализ влияния B1 и B2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F5C8D02-0C35-46E9-A206-112D5A0E8054}"/>
              </a:ext>
            </a:extLst>
          </p:cNvPr>
          <p:cNvSpPr>
            <a:spLocks noGrp="1"/>
          </p:cNvSpPr>
          <p:nvPr/>
        </p:nvSpPr>
        <p:spPr>
          <a:xfrm>
            <a:off x="785812" y="4095751"/>
            <a:ext cx="4976811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34FF56-657B-48BA-9C92-DC1BFE1A55E6}"/>
              </a:ext>
            </a:extLst>
          </p:cNvPr>
          <p:cNvSpPr>
            <a:spLocks noGrp="1"/>
          </p:cNvSpPr>
          <p:nvPr/>
        </p:nvSpPr>
        <p:spPr>
          <a:xfrm>
            <a:off x="957263" y="4229101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Задача 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E87D147-F60A-4AB9-A46C-9DE80F1B8E08}"/>
              </a:ext>
            </a:extLst>
          </p:cNvPr>
          <p:cNvSpPr>
            <a:spLocks noGrp="1"/>
          </p:cNvSpPr>
          <p:nvPr/>
        </p:nvSpPr>
        <p:spPr>
          <a:xfrm>
            <a:off x="957263" y="447675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black-box постановка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F2E7F2-32F3-4AB5-915F-C4855DD54CD9}"/>
              </a:ext>
            </a:extLst>
          </p:cNvPr>
          <p:cNvSpPr>
            <a:spLocks noGrp="1"/>
          </p:cNvSpPr>
          <p:nvPr/>
        </p:nvSpPr>
        <p:spPr>
          <a:xfrm>
            <a:off x="6696528" y="4019551"/>
            <a:ext cx="4066721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CED086-BC76-476D-9C25-42D09B51D971}"/>
              </a:ext>
            </a:extLst>
          </p:cNvPr>
          <p:cNvSpPr>
            <a:spLocks noGrp="1"/>
          </p:cNvSpPr>
          <p:nvPr/>
        </p:nvSpPr>
        <p:spPr>
          <a:xfrm>
            <a:off x="6867979" y="4152901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Задача 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8098E7-8F7E-4285-A4D8-76AC2844EDBB}"/>
              </a:ext>
            </a:extLst>
          </p:cNvPr>
          <p:cNvSpPr>
            <a:spLocks noGrp="1"/>
          </p:cNvSpPr>
          <p:nvPr/>
        </p:nvSpPr>
        <p:spPr>
          <a:xfrm>
            <a:off x="6867979" y="440055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реализация pipeline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3858F1-2E24-4FE6-830A-E43279D7316C}"/>
              </a:ext>
            </a:extLst>
          </p:cNvPr>
          <p:cNvSpPr>
            <a:spLocks noGrp="1"/>
          </p:cNvSpPr>
          <p:nvPr/>
        </p:nvSpPr>
        <p:spPr>
          <a:xfrm>
            <a:off x="785813" y="5029201"/>
            <a:ext cx="497681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5DD6D70-0886-445C-B40D-F26C3BFF8618}"/>
              </a:ext>
            </a:extLst>
          </p:cNvPr>
          <p:cNvSpPr>
            <a:spLocks noGrp="1"/>
          </p:cNvSpPr>
          <p:nvPr/>
        </p:nvSpPr>
        <p:spPr>
          <a:xfrm>
            <a:off x="957263" y="5162550"/>
            <a:ext cx="1847850" cy="9524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Задача 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5F23B17-55FE-461B-8C53-E641C6EC216E}"/>
              </a:ext>
            </a:extLst>
          </p:cNvPr>
          <p:cNvSpPr>
            <a:spLocks noGrp="1"/>
          </p:cNvSpPr>
          <p:nvPr/>
        </p:nvSpPr>
        <p:spPr>
          <a:xfrm>
            <a:off x="957263" y="541020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эксперименты и сравнение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8A2306F-B06B-4572-AFE9-A7BB66A6CF13}"/>
              </a:ext>
            </a:extLst>
          </p:cNvPr>
          <p:cNvSpPr>
            <a:spLocks noGrp="1"/>
          </p:cNvSpPr>
          <p:nvPr/>
        </p:nvSpPr>
        <p:spPr>
          <a:xfrm>
            <a:off x="6696529" y="4953001"/>
            <a:ext cx="4319814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A4F78EE-10AD-41D1-8FDF-A122E131283E}"/>
              </a:ext>
            </a:extLst>
          </p:cNvPr>
          <p:cNvSpPr>
            <a:spLocks noGrp="1"/>
          </p:cNvSpPr>
          <p:nvPr/>
        </p:nvSpPr>
        <p:spPr>
          <a:xfrm>
            <a:off x="6867979" y="5086351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Задача 6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2636ABB-DD29-45E0-961D-9283F258352D}"/>
              </a:ext>
            </a:extLst>
          </p:cNvPr>
          <p:cNvSpPr>
            <a:spLocks noGrp="1"/>
          </p:cNvSpPr>
          <p:nvPr/>
        </p:nvSpPr>
        <p:spPr>
          <a:xfrm>
            <a:off x="6867979" y="5334001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ограничения и рекомендации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D81073F-14A1-4149-B3B0-FB8BFD819B7A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04909F7-6AF2-462A-976E-E9A22B8C022B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48F7F9A-A5BD-48FB-9DF8-DC99EB26F43E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D148A24-D46F-44F7-8CD6-6C752BACA339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A17C449-622C-4898-9BBA-9A84A98B627F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5F5B4B1-85AC-425C-AABC-E6A870F056CD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3/1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DAD35C5-35B6-4C79-A6B2-C46F07AF8F87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75375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4AB0E7B-5317-4E9A-946E-C50B38A3827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B0675E-6731-4209-96E8-751969149391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ОБЪЕКТ И ПРЕДМЕТ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E70702-D6C6-4DC6-BD6D-C6640450F520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Настраивается не вся факторизация, а два управляющих параметра ECM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1BF8E8-E165-48AE-874D-E8D28D9D25F8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3000375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9E149C2-FD1A-4A44-855A-0136F66C9135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57150" cy="16192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168353-FE95-47ED-B2B1-66E0A2D97DBC}"/>
              </a:ext>
            </a:extLst>
          </p:cNvPr>
          <p:cNvSpPr>
            <a:spLocks noGrp="1"/>
          </p:cNvSpPr>
          <p:nvPr/>
        </p:nvSpPr>
        <p:spPr>
          <a:xfrm>
            <a:off x="1009650" y="2143125"/>
            <a:ext cx="2600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ОБЪЕКТ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B06BF-E982-4DB3-AF85-8FC51A9C6C7D}"/>
              </a:ext>
            </a:extLst>
          </p:cNvPr>
          <p:cNvSpPr>
            <a:spLocks noGrp="1"/>
          </p:cNvSpPr>
          <p:nvPr/>
        </p:nvSpPr>
        <p:spPr>
          <a:xfrm>
            <a:off x="1009650" y="2466975"/>
            <a:ext cx="26003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Алгоритм факторизации целых чисел методом эллиптических кривых и его реализация GMP-ECM.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9A5D28-5255-4E4D-BE63-EBE8CE3A5829}"/>
              </a:ext>
            </a:extLst>
          </p:cNvPr>
          <p:cNvSpPr>
            <a:spLocks noGrp="1"/>
          </p:cNvSpPr>
          <p:nvPr/>
        </p:nvSpPr>
        <p:spPr>
          <a:xfrm>
            <a:off x="4591050" y="1952625"/>
            <a:ext cx="3000375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572BE4-B30B-4B6F-BB18-110F7E711ED4}"/>
              </a:ext>
            </a:extLst>
          </p:cNvPr>
          <p:cNvSpPr>
            <a:spLocks noGrp="1"/>
          </p:cNvSpPr>
          <p:nvPr/>
        </p:nvSpPr>
        <p:spPr>
          <a:xfrm>
            <a:off x="4591050" y="1952625"/>
            <a:ext cx="57150" cy="16192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FEDE5-E55D-4BE2-9C3C-38778B9BDD86}"/>
              </a:ext>
            </a:extLst>
          </p:cNvPr>
          <p:cNvSpPr>
            <a:spLocks noGrp="1"/>
          </p:cNvSpPr>
          <p:nvPr/>
        </p:nvSpPr>
        <p:spPr>
          <a:xfrm>
            <a:off x="4819650" y="2143125"/>
            <a:ext cx="2600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ПРЕДМЕТ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06273E-8BCA-4020-9954-47CFC4A3AB29}"/>
              </a:ext>
            </a:extLst>
          </p:cNvPr>
          <p:cNvSpPr>
            <a:spLocks noGrp="1"/>
          </p:cNvSpPr>
          <p:nvPr/>
        </p:nvSpPr>
        <p:spPr>
          <a:xfrm>
            <a:off x="4819650" y="2466975"/>
            <a:ext cx="26003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Автоматизированный выбор параметров B1 и B2 с применением эвристических методов оптимизации.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C229BF1-2E8B-4103-87A3-8F4F6B06C7B7}"/>
              </a:ext>
            </a:extLst>
          </p:cNvPr>
          <p:cNvSpPr>
            <a:spLocks noGrp="1"/>
          </p:cNvSpPr>
          <p:nvPr/>
        </p:nvSpPr>
        <p:spPr>
          <a:xfrm>
            <a:off x="8401050" y="1952625"/>
            <a:ext cx="3000375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C70F6C0-67D6-43A2-889A-728E153A43F9}"/>
              </a:ext>
            </a:extLst>
          </p:cNvPr>
          <p:cNvSpPr>
            <a:spLocks noGrp="1"/>
          </p:cNvSpPr>
          <p:nvPr/>
        </p:nvSpPr>
        <p:spPr>
          <a:xfrm>
            <a:off x="8401050" y="1952625"/>
            <a:ext cx="57150" cy="16192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D650C00-46C2-4BA3-B085-9EAE1B2510B0}"/>
              </a:ext>
            </a:extLst>
          </p:cNvPr>
          <p:cNvSpPr>
            <a:spLocks noGrp="1"/>
          </p:cNvSpPr>
          <p:nvPr/>
        </p:nvSpPr>
        <p:spPr>
          <a:xfrm>
            <a:off x="8629650" y="2143125"/>
            <a:ext cx="2600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ГИПОТЕЗА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5737E56-B328-4728-A851-990850CCF448}"/>
              </a:ext>
            </a:extLst>
          </p:cNvPr>
          <p:cNvSpPr>
            <a:spLocks noGrp="1"/>
          </p:cNvSpPr>
          <p:nvPr/>
        </p:nvSpPr>
        <p:spPr>
          <a:xfrm>
            <a:off x="8629650" y="2466975"/>
            <a:ext cx="26003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Для заданного класса чисел и среды параметры ECM можно локально настроить лучше справочных.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510172-DBA7-4A90-96B9-09FB7B0253A8}"/>
              </a:ext>
            </a:extLst>
          </p:cNvPr>
          <p:cNvSpPr>
            <a:spLocks noGrp="1"/>
          </p:cNvSpPr>
          <p:nvPr/>
        </p:nvSpPr>
        <p:spPr>
          <a:xfrm>
            <a:off x="1428750" y="4514850"/>
            <a:ext cx="933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4412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244128"/>
                </a:solidFill>
                <a:latin typeface="Onest"/>
                <a:ea typeface="Onest"/>
                <a:cs typeface="Onest"/>
              </a:rPr>
              <a:t>Таблицы GMP-ECM используются как сильный baseline, а не как слабая точка сравнения.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6DD4E62-EB46-4C0C-BBE1-74CE63812E24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167E34-7403-4830-9615-89DE7C4C34AD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9421D01-8C1D-4D24-BCDB-82CFB66D1221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B1E3BF-61D7-4530-B6A1-849C20BB85AD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5BE995E-4D2F-4432-B623-C7E802D50510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E3B3690-556C-43A4-B4AC-8C4BDB4BA4D8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4/1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C3BA775-9690-4C7B-BA0B-825C85CF6AC0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05006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AA802B-BDBB-4747-BD9D-C3B70B1C2C0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3D1F29A-5CD3-4C4E-B0DF-99DDFF08BA4C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 ECM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B43913-A7F4-4318-818E-2732D187A014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B1 и B2 задают компромисс между шансом успеха и ценой кривой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97FCDF-76C3-49F8-BB65-4D3F13F2F84D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428750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1D109C-9EB6-42C7-8F8D-B30523C14AF8}"/>
              </a:ext>
            </a:extLst>
          </p:cNvPr>
          <p:cNvSpPr>
            <a:spLocks noGrp="1"/>
          </p:cNvSpPr>
          <p:nvPr/>
        </p:nvSpPr>
        <p:spPr>
          <a:xfrm>
            <a:off x="666750" y="3248025"/>
            <a:ext cx="1428750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16191B-9E59-49C5-8566-A660EDB87CBF}"/>
              </a:ext>
            </a:extLst>
          </p:cNvPr>
          <p:cNvSpPr>
            <a:spLocks noGrp="1"/>
          </p:cNvSpPr>
          <p:nvPr/>
        </p:nvSpPr>
        <p:spPr>
          <a:xfrm>
            <a:off x="800100" y="2371725"/>
            <a:ext cx="1162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N, B1, B2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61F5D5-69A3-431C-8027-45825654A3D2}"/>
              </a:ext>
            </a:extLst>
          </p:cNvPr>
          <p:cNvSpPr>
            <a:spLocks noGrp="1"/>
          </p:cNvSpPr>
          <p:nvPr/>
        </p:nvSpPr>
        <p:spPr>
          <a:xfrm>
            <a:off x="2143125" y="23812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F6508C-1C21-4828-8B73-448B9B54ABFD}"/>
              </a:ext>
            </a:extLst>
          </p:cNvPr>
          <p:cNvSpPr>
            <a:spLocks noGrp="1"/>
          </p:cNvSpPr>
          <p:nvPr/>
        </p:nvSpPr>
        <p:spPr>
          <a:xfrm>
            <a:off x="2762250" y="2238375"/>
            <a:ext cx="1428750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668642E-4478-41BD-B65F-0DAAEE188F67}"/>
              </a:ext>
            </a:extLst>
          </p:cNvPr>
          <p:cNvSpPr>
            <a:spLocks noGrp="1"/>
          </p:cNvSpPr>
          <p:nvPr/>
        </p:nvSpPr>
        <p:spPr>
          <a:xfrm>
            <a:off x="2762250" y="3248025"/>
            <a:ext cx="1428750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0ED62B9-FB5C-46BC-843B-1268EBF8E9C0}"/>
              </a:ext>
            </a:extLst>
          </p:cNvPr>
          <p:cNvSpPr>
            <a:spLocks noGrp="1"/>
          </p:cNvSpPr>
          <p:nvPr/>
        </p:nvSpPr>
        <p:spPr>
          <a:xfrm>
            <a:off x="2895600" y="2371725"/>
            <a:ext cx="1162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случайная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кривая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E6806D-887B-4CE6-A850-21CFDA4E5F0E}"/>
              </a:ext>
            </a:extLst>
          </p:cNvPr>
          <p:cNvSpPr>
            <a:spLocks noGrp="1"/>
          </p:cNvSpPr>
          <p:nvPr/>
        </p:nvSpPr>
        <p:spPr>
          <a:xfrm>
            <a:off x="4238625" y="23812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5D1328-8554-4ED8-86C2-7693124F63BA}"/>
              </a:ext>
            </a:extLst>
          </p:cNvPr>
          <p:cNvSpPr>
            <a:spLocks noGrp="1"/>
          </p:cNvSpPr>
          <p:nvPr/>
        </p:nvSpPr>
        <p:spPr>
          <a:xfrm>
            <a:off x="4857750" y="2238375"/>
            <a:ext cx="1428750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9AC0472-D72C-44F9-9A07-C921C7EDDA5B}"/>
              </a:ext>
            </a:extLst>
          </p:cNvPr>
          <p:cNvSpPr>
            <a:spLocks noGrp="1"/>
          </p:cNvSpPr>
          <p:nvPr/>
        </p:nvSpPr>
        <p:spPr>
          <a:xfrm>
            <a:off x="4857750" y="3248025"/>
            <a:ext cx="1428750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732806E-E217-463A-9FD5-198C7E2645E3}"/>
              </a:ext>
            </a:extLst>
          </p:cNvPr>
          <p:cNvSpPr>
            <a:spLocks noGrp="1"/>
          </p:cNvSpPr>
          <p:nvPr/>
        </p:nvSpPr>
        <p:spPr>
          <a:xfrm>
            <a:off x="4991100" y="2371725"/>
            <a:ext cx="1162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стадия 1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B1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734B5C4-7A47-418D-A383-3BCA482AE6AD}"/>
              </a:ext>
            </a:extLst>
          </p:cNvPr>
          <p:cNvSpPr>
            <a:spLocks noGrp="1"/>
          </p:cNvSpPr>
          <p:nvPr/>
        </p:nvSpPr>
        <p:spPr>
          <a:xfrm>
            <a:off x="6334125" y="23812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616D576-E831-4CD5-AAFE-DCCCF80C4E2A}"/>
              </a:ext>
            </a:extLst>
          </p:cNvPr>
          <p:cNvSpPr>
            <a:spLocks noGrp="1"/>
          </p:cNvSpPr>
          <p:nvPr/>
        </p:nvSpPr>
        <p:spPr>
          <a:xfrm>
            <a:off x="6953250" y="2238375"/>
            <a:ext cx="1428750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9E8B9A9-5FC2-4701-B556-BB7252047262}"/>
              </a:ext>
            </a:extLst>
          </p:cNvPr>
          <p:cNvSpPr>
            <a:spLocks noGrp="1"/>
          </p:cNvSpPr>
          <p:nvPr/>
        </p:nvSpPr>
        <p:spPr>
          <a:xfrm>
            <a:off x="6953250" y="3248025"/>
            <a:ext cx="1428750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C2F8DE-B5C9-456C-926C-305554619E0A}"/>
              </a:ext>
            </a:extLst>
          </p:cNvPr>
          <p:cNvSpPr>
            <a:spLocks noGrp="1"/>
          </p:cNvSpPr>
          <p:nvPr/>
        </p:nvSpPr>
        <p:spPr>
          <a:xfrm>
            <a:off x="7086600" y="2371725"/>
            <a:ext cx="1162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стадия 2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B2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3AD400C-3DD5-4899-9469-1EE6C130A00A}"/>
              </a:ext>
            </a:extLst>
          </p:cNvPr>
          <p:cNvSpPr>
            <a:spLocks noGrp="1"/>
          </p:cNvSpPr>
          <p:nvPr/>
        </p:nvSpPr>
        <p:spPr>
          <a:xfrm>
            <a:off x="8429625" y="23812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6AEFE2-9403-4760-BB96-0B4E8A92B786}"/>
              </a:ext>
            </a:extLst>
          </p:cNvPr>
          <p:cNvSpPr>
            <a:spLocks noGrp="1"/>
          </p:cNvSpPr>
          <p:nvPr/>
        </p:nvSpPr>
        <p:spPr>
          <a:xfrm>
            <a:off x="9048750" y="2238375"/>
            <a:ext cx="1428750" cy="1066800"/>
          </a:xfrm>
          <a:prstGeom prst="rect">
            <a:avLst/>
          </a:prstGeom>
          <a:solidFill>
            <a:srgbClr val="FFF0E8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CD034FE-41E8-4F44-A334-764858627031}"/>
              </a:ext>
            </a:extLst>
          </p:cNvPr>
          <p:cNvSpPr>
            <a:spLocks noGrp="1"/>
          </p:cNvSpPr>
          <p:nvPr/>
        </p:nvSpPr>
        <p:spPr>
          <a:xfrm>
            <a:off x="9048750" y="3248025"/>
            <a:ext cx="1428750" cy="571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DB30B76-EDDE-4D65-9290-4478F93758E8}"/>
              </a:ext>
            </a:extLst>
          </p:cNvPr>
          <p:cNvSpPr>
            <a:spLocks noGrp="1"/>
          </p:cNvSpPr>
          <p:nvPr/>
        </p:nvSpPr>
        <p:spPr>
          <a:xfrm>
            <a:off x="9182100" y="2371725"/>
            <a:ext cx="1162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делитель /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новая кривая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FA5B8C4-47EE-4F4D-B9FF-311875C147C2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2889BC1-E061-49AE-BAB2-18C12F8A60E4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57150" cy="8763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8193FF9-8FB3-4F21-B4A4-E727D677CCF6}"/>
              </a:ext>
            </a:extLst>
          </p:cNvPr>
          <p:cNvSpPr>
            <a:spLocks noGrp="1"/>
          </p:cNvSpPr>
          <p:nvPr/>
        </p:nvSpPr>
        <p:spPr>
          <a:xfrm>
            <a:off x="1371600" y="425767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B1/B2 ВЫШЕ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A1D1EF4-2DD8-4AD3-84E6-098669A8D971}"/>
              </a:ext>
            </a:extLst>
          </p:cNvPr>
          <p:cNvSpPr>
            <a:spLocks noGrp="1"/>
          </p:cNvSpPr>
          <p:nvPr/>
        </p:nvSpPr>
        <p:spPr>
          <a:xfrm>
            <a:off x="1371600" y="455295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растет вероятность успеха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00FBC1D-44A7-4E6E-986F-78FEE10BA884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790FAE0-FF3E-43F6-AEA1-3C7F8A2A0656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57150" cy="8763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5D4CA0F-DBB4-4E15-B933-486C16E4DB48}"/>
              </a:ext>
            </a:extLst>
          </p:cNvPr>
          <p:cNvSpPr>
            <a:spLocks noGrp="1"/>
          </p:cNvSpPr>
          <p:nvPr/>
        </p:nvSpPr>
        <p:spPr>
          <a:xfrm>
            <a:off x="6515100" y="425767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B1/B2 НИЖЕ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985F839-79A9-47EB-83F4-A4C5B9317064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дешевле одна попытка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4D1E805-231F-4F24-97AF-50D263F14812}"/>
              </a:ext>
            </a:extLst>
          </p:cNvPr>
          <p:cNvSpPr>
            <a:spLocks noGrp="1"/>
          </p:cNvSpPr>
          <p:nvPr/>
        </p:nvSpPr>
        <p:spPr>
          <a:xfrm>
            <a:off x="2571750" y="5219700"/>
            <a:ext cx="704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4412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244128"/>
                </a:solidFill>
                <a:latin typeface="Onest"/>
                <a:ea typeface="Onest"/>
                <a:cs typeface="Onest"/>
              </a:rPr>
              <a:t>Оптимум находится между этими двумя режимами и зависит от практического pipeline.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4C23EBD-59F2-4992-B53D-7738844C1490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F61226F-D133-4E82-A3E2-B052BDE40A6C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1BA0F1A-6D86-4B20-BD56-DCA163E136AC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096E5A1-C5A3-4B67-BB6A-AAC37A9F2460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1C96533-F167-423F-9194-41D32260BFA3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1070D83-9514-4BFF-A2B4-CC283D5818E6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5/1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101398C-5C47-4E6B-95AC-2D5925090325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2637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10D058-CF6E-4288-AF67-0A37857A188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D20B86-4140-4029-B75F-761673EEA35C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ПОСТАНОВКА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7DB1DA-9D07-4CC0-94F5-3C0C4AB8DCAC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Настройка B1/B2 сведена к constrained black-box оптимизации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0709A8-F67A-48D5-ADAA-DD0257E346B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4325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8E8C847-45A7-43EB-A921-2EF9034514F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7150" cy="1666875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E4DB96-327A-4822-ADFD-7B379310887B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ПЕРЕМЕННЫЕ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5802-A4A7-4DEC-9F07-1AC4E7044ADD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74320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x = (log10(B1), log10(B2)). Логарифмы задают широкий диапазон.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943919-1204-432A-A251-3A63A6E1102E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3143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5393C6-B760-42AD-A0B4-AE2F7F750787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57150" cy="15240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E78C97-920E-4FEE-9B64-46B616FB3834}"/>
              </a:ext>
            </a:extLst>
          </p:cNvPr>
          <p:cNvSpPr>
            <a:spLocks noGrp="1"/>
          </p:cNvSpPr>
          <p:nvPr/>
        </p:nvSpPr>
        <p:spPr>
          <a:xfrm>
            <a:off x="4752975" y="20002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ОГРАНИЧЕНИЯ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1EBA9D-234C-453F-B38E-D0A451395C25}"/>
              </a:ext>
            </a:extLst>
          </p:cNvPr>
          <p:cNvSpPr>
            <a:spLocks noGrp="1"/>
          </p:cNvSpPr>
          <p:nvPr/>
        </p:nvSpPr>
        <p:spPr>
          <a:xfrm>
            <a:off x="4752975" y="2324100"/>
            <a:ext cx="27432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B1min &lt;= B1 &lt;= B1max; B2min &lt;= B2 &lt;= B2max; B1 &lt;= B2; B2/B1 &lt;= Rmax.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2000B72-C7D2-4B79-B824-E9E0C2A71C38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314325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F87A53C-DE5D-488F-8900-ED931E1D7ACB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57150" cy="1666875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409BB3-73E1-4F06-8E6B-05A15B54C3D6}"/>
              </a:ext>
            </a:extLst>
          </p:cNvPr>
          <p:cNvSpPr>
            <a:spLocks noGrp="1"/>
          </p:cNvSpPr>
          <p:nvPr/>
        </p:nvSpPr>
        <p:spPr>
          <a:xfrm>
            <a:off x="8591550" y="200025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ОЦЕНКА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CBBDFBE-210D-4366-84D3-A4B43E89CDA9}"/>
              </a:ext>
            </a:extLst>
          </p:cNvPr>
          <p:cNvSpPr>
            <a:spLocks noGrp="1"/>
          </p:cNvSpPr>
          <p:nvPr/>
        </p:nvSpPr>
        <p:spPr>
          <a:xfrm>
            <a:off x="8591550" y="2324100"/>
            <a:ext cx="274320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Одна точка = серия запусков GMP-ECM с измерением успеха, времени и кривых.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0E2F8F-25EC-4D59-A37B-18D7FF1EEA2D}"/>
              </a:ext>
            </a:extLst>
          </p:cNvPr>
          <p:cNvSpPr>
            <a:spLocks noGrp="1"/>
          </p:cNvSpPr>
          <p:nvPr/>
        </p:nvSpPr>
        <p:spPr>
          <a:xfrm>
            <a:off x="1247215" y="4343400"/>
            <a:ext cx="9715500" cy="847166"/>
          </a:xfrm>
          <a:prstGeom prst="rect">
            <a:avLst/>
          </a:prstGeom>
          <a:solidFill>
            <a:srgbClr val="37B34A"/>
          </a:solidFill>
          <a:ln w="0">
            <a:solidFill>
              <a:srgbClr val="24412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32562B7-F7A3-459A-A5CD-501A7512D2B5}"/>
              </a:ext>
            </a:extLst>
          </p:cNvPr>
          <p:cNvSpPr>
            <a:spLocks noGrp="1"/>
          </p:cNvSpPr>
          <p:nvPr/>
        </p:nvSpPr>
        <p:spPr>
          <a:xfrm>
            <a:off x="1619250" y="4514850"/>
            <a:ext cx="895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 dirty="0" err="1">
                <a:latin typeface="Onest"/>
                <a:ea typeface="Onest"/>
                <a:cs typeface="Onest"/>
              </a:rPr>
              <a:t>Аналитической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формулы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качества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нет</a:t>
            </a:r>
            <a:r>
              <a:rPr sz="1800" b="1" dirty="0">
                <a:latin typeface="Onest"/>
                <a:ea typeface="Onest"/>
                <a:cs typeface="Onest"/>
              </a:rPr>
              <a:t>: </a:t>
            </a:r>
            <a:r>
              <a:rPr sz="1800" b="1" dirty="0" err="1">
                <a:latin typeface="Onest"/>
                <a:ea typeface="Onest"/>
                <a:cs typeface="Onest"/>
              </a:rPr>
              <a:t>оптимизатор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видит</a:t>
            </a:r>
            <a:r>
              <a:rPr sz="1800" b="1" dirty="0">
                <a:latin typeface="Onest"/>
                <a:ea typeface="Onest"/>
                <a:cs typeface="Onest"/>
              </a:rPr>
              <a:t> GMP-ECM </a:t>
            </a:r>
            <a:r>
              <a:rPr sz="1800" b="1" dirty="0" err="1">
                <a:latin typeface="Onest"/>
                <a:ea typeface="Onest"/>
                <a:cs typeface="Onest"/>
              </a:rPr>
              <a:t>как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внешнюю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шумную</a:t>
            </a:r>
            <a:r>
              <a:rPr sz="1800" b="1" dirty="0">
                <a:latin typeface="Onest"/>
                <a:ea typeface="Onest"/>
                <a:cs typeface="Onest"/>
              </a:rPr>
              <a:t> </a:t>
            </a:r>
            <a:r>
              <a:rPr sz="1800" b="1" dirty="0" err="1">
                <a:latin typeface="Onest"/>
                <a:ea typeface="Onest"/>
                <a:cs typeface="Onest"/>
              </a:rPr>
              <a:t>функцию</a:t>
            </a:r>
            <a:r>
              <a:rPr sz="1800" b="1" dirty="0"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711A6C1-5F22-459F-A9D3-04A5D644628D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2F0A4D-BCCD-4DB9-ADFD-2F5EDDC587D1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A1323C8-BA41-45F4-BC22-F92D5B4E33ED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A13E9F4-5EF1-4259-9376-632741D23ECF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144B348-FF6A-4968-BF8D-CAA639657A9A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B41F52A-9F4E-4AC7-970C-5E756B71A5B1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6/1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A5A5653-7F1E-439B-937D-9D58676F2851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08869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610680-817F-47F0-992B-28EE706B53A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38D43A-1B3F-4624-B83C-87BB1FCC4D81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МЕТРИКА И ВАЛИДАЦИЯ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BE64E3-1B7B-4A49-82A8-51EFC41D1966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Control-набор защищает результат от переоценки на шумной функции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03EB9BA-E44B-4964-A003-13D9B811641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762125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123022-ECAF-42AB-87F2-7AD4B762AF86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762125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EB27AE8-4E2A-46A7-9305-201BF15E2864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4954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train-набор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78F1F03-C8B8-45AF-AE1D-054A7CEB225E}"/>
              </a:ext>
            </a:extLst>
          </p:cNvPr>
          <p:cNvSpPr>
            <a:spLocks noGrp="1"/>
          </p:cNvSpPr>
          <p:nvPr/>
        </p:nvSpPr>
        <p:spPr>
          <a:xfrm>
            <a:off x="2714625" y="21526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A7995D-31F5-4A7C-9247-9EDA055CC38D}"/>
              </a:ext>
            </a:extLst>
          </p:cNvPr>
          <p:cNvSpPr>
            <a:spLocks noGrp="1"/>
          </p:cNvSpPr>
          <p:nvPr/>
        </p:nvSpPr>
        <p:spPr>
          <a:xfrm>
            <a:off x="3476625" y="2000250"/>
            <a:ext cx="2381250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42119E-0DB3-45D3-93DA-1586A7530F23}"/>
              </a:ext>
            </a:extLst>
          </p:cNvPr>
          <p:cNvSpPr>
            <a:spLocks noGrp="1"/>
          </p:cNvSpPr>
          <p:nvPr/>
        </p:nvSpPr>
        <p:spPr>
          <a:xfrm>
            <a:off x="3476625" y="3009900"/>
            <a:ext cx="2381250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255C6D-F8F9-4AE5-9FCA-1B5B40B93F5B}"/>
              </a:ext>
            </a:extLst>
          </p:cNvPr>
          <p:cNvSpPr>
            <a:spLocks noGrp="1"/>
          </p:cNvSpPr>
          <p:nvPr/>
        </p:nvSpPr>
        <p:spPr>
          <a:xfrm>
            <a:off x="3609975" y="2133600"/>
            <a:ext cx="21145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оптимизатор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RS / DE / GA / PSO / BO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A4994D8-F869-4894-9830-9CA6B5EA0DA3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ABA5A99-40A0-4FEA-8E41-B4248D608D2C}"/>
              </a:ext>
            </a:extLst>
          </p:cNvPr>
          <p:cNvSpPr>
            <a:spLocks noGrp="1"/>
          </p:cNvSpPr>
          <p:nvPr/>
        </p:nvSpPr>
        <p:spPr>
          <a:xfrm>
            <a:off x="7000875" y="2000250"/>
            <a:ext cx="1809750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A02915D-C4DF-4C83-92B5-4302471DFF7E}"/>
              </a:ext>
            </a:extLst>
          </p:cNvPr>
          <p:cNvSpPr>
            <a:spLocks noGrp="1"/>
          </p:cNvSpPr>
          <p:nvPr/>
        </p:nvSpPr>
        <p:spPr>
          <a:xfrm>
            <a:off x="7000875" y="3009900"/>
            <a:ext cx="1809750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F49F41-165F-4FAF-B518-78733DE4E141}"/>
              </a:ext>
            </a:extLst>
          </p:cNvPr>
          <p:cNvSpPr>
            <a:spLocks noGrp="1"/>
          </p:cNvSpPr>
          <p:nvPr/>
        </p:nvSpPr>
        <p:spPr>
          <a:xfrm>
            <a:off x="7134225" y="2133600"/>
            <a:ext cx="1543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найденные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B1/B2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093E63-531F-4009-B26B-E416B8B4570F}"/>
              </a:ext>
            </a:extLst>
          </p:cNvPr>
          <p:cNvSpPr>
            <a:spLocks noGrp="1"/>
          </p:cNvSpPr>
          <p:nvPr/>
        </p:nvSpPr>
        <p:spPr>
          <a:xfrm>
            <a:off x="2667000" y="3667125"/>
            <a:ext cx="2000250" cy="1066800"/>
          </a:xfrm>
          <a:prstGeom prst="rect">
            <a:avLst/>
          </a:prstGeom>
          <a:solidFill>
            <a:srgbClr val="FFF0E8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2D0C02-E545-4511-A2C4-92A60E268557}"/>
              </a:ext>
            </a:extLst>
          </p:cNvPr>
          <p:cNvSpPr>
            <a:spLocks noGrp="1"/>
          </p:cNvSpPr>
          <p:nvPr/>
        </p:nvSpPr>
        <p:spPr>
          <a:xfrm>
            <a:off x="2667000" y="4676775"/>
            <a:ext cx="2000250" cy="571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9BAE61-718E-4248-87B8-F17351A7AA86}"/>
              </a:ext>
            </a:extLst>
          </p:cNvPr>
          <p:cNvSpPr>
            <a:spLocks noGrp="1"/>
          </p:cNvSpPr>
          <p:nvPr/>
        </p:nvSpPr>
        <p:spPr>
          <a:xfrm>
            <a:off x="2800350" y="3800475"/>
            <a:ext cx="17335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control-набор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413F1B-F0F9-43BE-AD3D-ECE605D53B2F}"/>
              </a:ext>
            </a:extLst>
          </p:cNvPr>
          <p:cNvSpPr>
            <a:spLocks noGrp="1"/>
          </p:cNvSpPr>
          <p:nvPr/>
        </p:nvSpPr>
        <p:spPr>
          <a:xfrm>
            <a:off x="4905375" y="3819525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53ACA2-F4D7-411A-BC08-FF37C6BCF02B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2381250" cy="1066800"/>
          </a:xfrm>
          <a:prstGeom prst="rect">
            <a:avLst/>
          </a:prstGeom>
          <a:solidFill>
            <a:srgbClr val="FFF0E8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E9E25AF-65B1-4C00-B16D-AC30AE645E0A}"/>
              </a:ext>
            </a:extLst>
          </p:cNvPr>
          <p:cNvSpPr>
            <a:spLocks noGrp="1"/>
          </p:cNvSpPr>
          <p:nvPr/>
        </p:nvSpPr>
        <p:spPr>
          <a:xfrm>
            <a:off x="5905500" y="4676775"/>
            <a:ext cx="2381250" cy="571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BF5A014-9AA4-4EC2-ABC1-07FC0D1EB03A}"/>
              </a:ext>
            </a:extLst>
          </p:cNvPr>
          <p:cNvSpPr>
            <a:spLocks noGrp="1"/>
          </p:cNvSpPr>
          <p:nvPr/>
        </p:nvSpPr>
        <p:spPr>
          <a:xfrm>
            <a:off x="6038850" y="3800475"/>
            <a:ext cx="21145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независимая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валидация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4A13B7-7B7E-4404-A7DF-648200678231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EA6EA72-AF05-48F3-A4D9-845DADC00BBC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57150" cy="8763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1647DC3-DC0C-4408-A02A-DFDAAE23BB45}"/>
              </a:ext>
            </a:extLst>
          </p:cNvPr>
          <p:cNvSpPr>
            <a:spLocks noGrp="1"/>
          </p:cNvSpPr>
          <p:nvPr/>
        </p:nvSpPr>
        <p:spPr>
          <a:xfrm>
            <a:off x="1228725" y="51149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SCORE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92402AD-B4CF-4EE8-91C6-1F3AE4ACCEC3}"/>
              </a:ext>
            </a:extLst>
          </p:cNvPr>
          <p:cNvSpPr>
            <a:spLocks noGrp="1"/>
          </p:cNvSpPr>
          <p:nvPr/>
        </p:nvSpPr>
        <p:spPr>
          <a:xfrm>
            <a:off x="1228725" y="54102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неуспех + время + кривые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E32EDCA-FB93-4B03-B8DB-BA0006E2402F}"/>
              </a:ext>
            </a:extLst>
          </p:cNvPr>
          <p:cNvSpPr>
            <a:spLocks noGrp="1"/>
          </p:cNvSpPr>
          <p:nvPr/>
        </p:nvSpPr>
        <p:spPr>
          <a:xfrm>
            <a:off x="6143625" y="495300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D88397A-4C73-44A4-85FA-69A7AC508BDC}"/>
              </a:ext>
            </a:extLst>
          </p:cNvPr>
          <p:cNvSpPr>
            <a:spLocks noGrp="1"/>
          </p:cNvSpPr>
          <p:nvPr/>
        </p:nvSpPr>
        <p:spPr>
          <a:xfrm>
            <a:off x="6143625" y="4953000"/>
            <a:ext cx="57150" cy="8763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42DA5F0-5884-4981-8287-78F1C87813A6}"/>
              </a:ext>
            </a:extLst>
          </p:cNvPr>
          <p:cNvSpPr>
            <a:spLocks noGrp="1"/>
          </p:cNvSpPr>
          <p:nvPr/>
        </p:nvSpPr>
        <p:spPr>
          <a:xfrm>
            <a:off x="6372225" y="51149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GAIN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94B057-100D-4988-AC35-C94CA66630EC}"/>
              </a:ext>
            </a:extLst>
          </p:cNvPr>
          <p:cNvSpPr>
            <a:spLocks noGrp="1"/>
          </p:cNvSpPr>
          <p:nvPr/>
        </p:nvSpPr>
        <p:spPr>
          <a:xfrm>
            <a:off x="6372225" y="54102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score_baseline - score_method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464FC2F-C05D-46F2-BE05-2F712816FDE8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C4B0A2E-084C-4160-AEDE-D519CB4F655D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95DCDB-A513-4AB2-A83D-8ADC3714F6E7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CDA7283-6D87-47F0-AC62-4EC374539BDB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FDCAFE3-1A03-4D8D-9DF4-0F6FAF8088B3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51C176-EC35-4CE1-99CD-94B4AA9D553D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7/1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D658305-5C4E-4FA5-BB44-F1FCF91CFFEA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80616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CB46D4-526C-4618-90D0-E74383F5C68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0DAF425-5067-4A2B-9FE6-BD9FDCC9AE37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E07ADE5-8D52-4F70-BB05-9C47CE93518A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Пять оптимизаторов покрывают разные стратегии поиска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0AA959-208B-4F55-B4DB-AD765318037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363200" cy="552450"/>
          </a:xfrm>
          <a:prstGeom prst="rect">
            <a:avLst/>
          </a:prstGeom>
          <a:solidFill>
            <a:srgbClr val="373062"/>
          </a:solidFill>
          <a:ln w="0">
            <a:solidFill>
              <a:srgbClr val="37306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6AAF01-81B9-471F-9CC9-08881F1AE87D}"/>
              </a:ext>
            </a:extLst>
          </p:cNvPr>
          <p:cNvSpPr>
            <a:spLocks noGrp="1"/>
          </p:cNvSpPr>
          <p:nvPr/>
        </p:nvSpPr>
        <p:spPr>
          <a:xfrm>
            <a:off x="1009650" y="18383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Метод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40BDDE-EF2E-4AA4-9344-7D814C2B117F}"/>
              </a:ext>
            </a:extLst>
          </p:cNvPr>
          <p:cNvSpPr>
            <a:spLocks noGrp="1"/>
          </p:cNvSpPr>
          <p:nvPr/>
        </p:nvSpPr>
        <p:spPr>
          <a:xfrm>
            <a:off x="2590800" y="18383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Тип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CB2993D-B671-4D58-B178-9389DB383B24}"/>
              </a:ext>
            </a:extLst>
          </p:cNvPr>
          <p:cNvSpPr>
            <a:spLocks noGrp="1"/>
          </p:cNvSpPr>
          <p:nvPr/>
        </p:nvSpPr>
        <p:spPr>
          <a:xfrm>
            <a:off x="6115050" y="1838325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Роль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51256D1-50F5-4120-BA20-06EFC800B8D7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103632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5137FA1-A0D6-4E48-BE12-5EBD98680A87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RS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B03ED13-C4A8-4F5E-8A0B-DEB4960C415D}"/>
              </a:ext>
            </a:extLst>
          </p:cNvPr>
          <p:cNvSpPr>
            <a:spLocks noGrp="1"/>
          </p:cNvSpPr>
          <p:nvPr/>
        </p:nvSpPr>
        <p:spPr>
          <a:xfrm>
            <a:off x="2590800" y="23812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случайный поиск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8936754-5FED-4665-89C2-150735B05FE0}"/>
              </a:ext>
            </a:extLst>
          </p:cNvPr>
          <p:cNvSpPr>
            <a:spLocks noGrp="1"/>
          </p:cNvSpPr>
          <p:nvPr/>
        </p:nvSpPr>
        <p:spPr>
          <a:xfrm>
            <a:off x="6115050" y="23812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базовый ориентир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F0F395B-FD4E-44A2-9719-7ED241731351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10363200" cy="5524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C2859FB-9BB6-4A4C-A584-77B11735A1E0}"/>
              </a:ext>
            </a:extLst>
          </p:cNvPr>
          <p:cNvSpPr>
            <a:spLocks noGrp="1"/>
          </p:cNvSpPr>
          <p:nvPr/>
        </p:nvSpPr>
        <p:spPr>
          <a:xfrm>
            <a:off x="1009650" y="29337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DE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13455B5-0F52-4999-91BE-9BC7F0F9B6B6}"/>
              </a:ext>
            </a:extLst>
          </p:cNvPr>
          <p:cNvSpPr>
            <a:spLocks noGrp="1"/>
          </p:cNvSpPr>
          <p:nvPr/>
        </p:nvSpPr>
        <p:spPr>
          <a:xfrm>
            <a:off x="2590800" y="29337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дифференциальная эволюция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F3C6CF-3532-4930-89EF-3977B3917AE8}"/>
              </a:ext>
            </a:extLst>
          </p:cNvPr>
          <p:cNvSpPr>
            <a:spLocks noGrp="1"/>
          </p:cNvSpPr>
          <p:nvPr/>
        </p:nvSpPr>
        <p:spPr>
          <a:xfrm>
            <a:off x="6115050" y="293370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популяционный направленный поиск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B7D614E-6454-4B1E-B269-7AEEF924BDAB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103632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435E365-4C83-448C-BCC0-31A57CF39A2E}"/>
              </a:ext>
            </a:extLst>
          </p:cNvPr>
          <p:cNvSpPr>
            <a:spLocks noGrp="1"/>
          </p:cNvSpPr>
          <p:nvPr/>
        </p:nvSpPr>
        <p:spPr>
          <a:xfrm>
            <a:off x="1009650" y="34861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GA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EA249C-60C1-4602-8336-2190D8A332E9}"/>
              </a:ext>
            </a:extLst>
          </p:cNvPr>
          <p:cNvSpPr>
            <a:spLocks noGrp="1"/>
          </p:cNvSpPr>
          <p:nvPr/>
        </p:nvSpPr>
        <p:spPr>
          <a:xfrm>
            <a:off x="2590800" y="34861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генетический алгоритм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73F5153-FBA7-43F2-9B82-124FF10FA69E}"/>
              </a:ext>
            </a:extLst>
          </p:cNvPr>
          <p:cNvSpPr>
            <a:spLocks noGrp="1"/>
          </p:cNvSpPr>
          <p:nvPr/>
        </p:nvSpPr>
        <p:spPr>
          <a:xfrm>
            <a:off x="6115050" y="34861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эволюционный поиск с элитизмом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B70213A-E683-4DB5-9D05-3423E0270C7E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10363200" cy="5524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8454087-8EDB-473A-AC75-F319A9A03745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PSO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CF7AFD8-21E6-4CE7-A7F8-D8E3EF8C61BE}"/>
              </a:ext>
            </a:extLst>
          </p:cNvPr>
          <p:cNvSpPr>
            <a:spLocks noGrp="1"/>
          </p:cNvSpPr>
          <p:nvPr/>
        </p:nvSpPr>
        <p:spPr>
          <a:xfrm>
            <a:off x="2590800" y="40386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роевой алгоритм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DE00EF9-AFB9-4F69-A8C6-E46BA57F9FBD}"/>
              </a:ext>
            </a:extLst>
          </p:cNvPr>
          <p:cNvSpPr>
            <a:spLocks noGrp="1"/>
          </p:cNvSpPr>
          <p:nvPr/>
        </p:nvSpPr>
        <p:spPr>
          <a:xfrm>
            <a:off x="6115050" y="403860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личный и коллективный опыт частиц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B3E3941-BE0F-4D84-BEFE-A794176CFE6C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103632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A4D0432-41E8-4FDE-89F8-10A64EF11D96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BO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C802E1A-F640-440D-8569-D3BBF4481E44}"/>
              </a:ext>
            </a:extLst>
          </p:cNvPr>
          <p:cNvSpPr>
            <a:spLocks noGrp="1"/>
          </p:cNvSpPr>
          <p:nvPr/>
        </p:nvSpPr>
        <p:spPr>
          <a:xfrm>
            <a:off x="2590800" y="45910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байесовская оптимизация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053FC3-C39E-4EB3-809C-E160FE48FBDA}"/>
              </a:ext>
            </a:extLst>
          </p:cNvPr>
          <p:cNvSpPr>
            <a:spLocks noGrp="1"/>
          </p:cNvSpPr>
          <p:nvPr/>
        </p:nvSpPr>
        <p:spPr>
          <a:xfrm>
            <a:off x="6115050" y="45910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суррогатная модель дорогой функции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9EA06FA-57CE-406B-BDC9-B0EEEB781D20}"/>
              </a:ext>
            </a:extLst>
          </p:cNvPr>
          <p:cNvSpPr>
            <a:spLocks noGrp="1"/>
          </p:cNvSpPr>
          <p:nvPr/>
        </p:nvSpPr>
        <p:spPr>
          <a:xfrm>
            <a:off x="1571625" y="5238750"/>
            <a:ext cx="904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Сравнение идет в едином pipeline: одни ограничения, одна метрика, один протокол валидации.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3131292-7A97-4C86-81FC-EB414F4EFE51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3FB8E77-500D-4315-9CEA-EDBC78D52F64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7D42072-519D-4450-9FAC-9E369546472E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0BB17BA-7F9A-4FC6-B4D2-56AE65856FCF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2222F32-B69F-41DD-8A77-F96B5AA8FE77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12ADE5F-5C6C-4C42-8138-8B9DFE15C3C1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59529E0-C496-415C-B091-82871A74E560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12185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2AD3698-8F76-4BB4-BD6A-150841612BD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CF46983-36F6-4EC8-AF2E-283C98686FA0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АРХИТЕКТУРА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1622D3-AB6E-4D2A-9F99-39FEF5AB88DA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Разработанная система воспроизводит полный цикл эксперимента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B2C063-6998-45BB-9A21-5A09E2CA4326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238250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0BA4C9-3409-4444-A427-C25A84311BDD}"/>
              </a:ext>
            </a:extLst>
          </p:cNvPr>
          <p:cNvSpPr>
            <a:spLocks noGrp="1"/>
          </p:cNvSpPr>
          <p:nvPr/>
        </p:nvSpPr>
        <p:spPr>
          <a:xfrm>
            <a:off x="762000" y="3057525"/>
            <a:ext cx="1238250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B26FD2-71A4-4699-8327-68B0701643A1}"/>
              </a:ext>
            </a:extLst>
          </p:cNvPr>
          <p:cNvSpPr>
            <a:spLocks noGrp="1"/>
          </p:cNvSpPr>
          <p:nvPr/>
        </p:nvSpPr>
        <p:spPr>
          <a:xfrm>
            <a:off x="895350" y="2181225"/>
            <a:ext cx="9715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CLI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9015DA-9671-4F6C-9769-7F090D28BAA8}"/>
              </a:ext>
            </a:extLst>
          </p:cNvPr>
          <p:cNvSpPr>
            <a:spLocks noGrp="1"/>
          </p:cNvSpPr>
          <p:nvPr/>
        </p:nvSpPr>
        <p:spPr>
          <a:xfrm>
            <a:off x="2238375" y="2200275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4009E9C-0656-44AF-85CC-901ADE589917}"/>
              </a:ext>
            </a:extLst>
          </p:cNvPr>
          <p:cNvSpPr>
            <a:spLocks noGrp="1"/>
          </p:cNvSpPr>
          <p:nvPr/>
        </p:nvSpPr>
        <p:spPr>
          <a:xfrm>
            <a:off x="3000375" y="1714500"/>
            <a:ext cx="1857375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0A663D8-5A85-4255-B46F-AA0B63555AE1}"/>
              </a:ext>
            </a:extLst>
          </p:cNvPr>
          <p:cNvSpPr>
            <a:spLocks noGrp="1"/>
          </p:cNvSpPr>
          <p:nvPr/>
        </p:nvSpPr>
        <p:spPr>
          <a:xfrm>
            <a:off x="3000375" y="2724150"/>
            <a:ext cx="1857375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05709A-C0AA-4BB6-80C6-352D002079D8}"/>
              </a:ext>
            </a:extLst>
          </p:cNvPr>
          <p:cNvSpPr>
            <a:spLocks noGrp="1"/>
          </p:cNvSpPr>
          <p:nvPr/>
        </p:nvSpPr>
        <p:spPr>
          <a:xfrm>
            <a:off x="3133725" y="1847850"/>
            <a:ext cx="15906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generate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датасеты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68259DC-BC0E-4847-8C78-499BCE84BA11}"/>
              </a:ext>
            </a:extLst>
          </p:cNvPr>
          <p:cNvSpPr>
            <a:spLocks noGrp="1"/>
          </p:cNvSpPr>
          <p:nvPr/>
        </p:nvSpPr>
        <p:spPr>
          <a:xfrm>
            <a:off x="5095875" y="18669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AE4400-C75C-432F-B19A-21806B303AAE}"/>
              </a:ext>
            </a:extLst>
          </p:cNvPr>
          <p:cNvSpPr>
            <a:spLocks noGrp="1"/>
          </p:cNvSpPr>
          <p:nvPr/>
        </p:nvSpPr>
        <p:spPr>
          <a:xfrm>
            <a:off x="5857875" y="1714500"/>
            <a:ext cx="1952625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A08F623-23E9-4F53-99B4-6128FEFBECD9}"/>
              </a:ext>
            </a:extLst>
          </p:cNvPr>
          <p:cNvSpPr>
            <a:spLocks noGrp="1"/>
          </p:cNvSpPr>
          <p:nvPr/>
        </p:nvSpPr>
        <p:spPr>
          <a:xfrm>
            <a:off x="5857875" y="2724150"/>
            <a:ext cx="1952625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51E998-343B-4FEA-9FE6-0DC9BB3057A0}"/>
              </a:ext>
            </a:extLst>
          </p:cNvPr>
          <p:cNvSpPr>
            <a:spLocks noGrp="1"/>
          </p:cNvSpPr>
          <p:nvPr/>
        </p:nvSpPr>
        <p:spPr>
          <a:xfrm>
            <a:off x="5991225" y="1847850"/>
            <a:ext cx="16859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optimize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fitness + GMP-ECM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85D6C1-45F3-4922-80B9-0C5E709D8AA5}"/>
              </a:ext>
            </a:extLst>
          </p:cNvPr>
          <p:cNvSpPr>
            <a:spLocks noGrp="1"/>
          </p:cNvSpPr>
          <p:nvPr/>
        </p:nvSpPr>
        <p:spPr>
          <a:xfrm>
            <a:off x="3000375" y="3190875"/>
            <a:ext cx="1857375" cy="106680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6A0980-F5FF-4575-9EE0-DBC52F113B94}"/>
              </a:ext>
            </a:extLst>
          </p:cNvPr>
          <p:cNvSpPr>
            <a:spLocks noGrp="1"/>
          </p:cNvSpPr>
          <p:nvPr/>
        </p:nvSpPr>
        <p:spPr>
          <a:xfrm>
            <a:off x="3000375" y="4200525"/>
            <a:ext cx="1857375" cy="571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592F2B1-3E8C-46FB-801B-B77E90139424}"/>
              </a:ext>
            </a:extLst>
          </p:cNvPr>
          <p:cNvSpPr>
            <a:spLocks noGrp="1"/>
          </p:cNvSpPr>
          <p:nvPr/>
        </p:nvSpPr>
        <p:spPr>
          <a:xfrm>
            <a:off x="3133725" y="3324225"/>
            <a:ext cx="15906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validate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control-проверка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9DA266A-8667-433B-B8F6-D2EF60D10BAA}"/>
              </a:ext>
            </a:extLst>
          </p:cNvPr>
          <p:cNvSpPr>
            <a:spLocks noGrp="1"/>
          </p:cNvSpPr>
          <p:nvPr/>
        </p:nvSpPr>
        <p:spPr>
          <a:xfrm>
            <a:off x="5095875" y="3343275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B9DC58C-8B24-4960-9D5E-111DA9E02A1A}"/>
              </a:ext>
            </a:extLst>
          </p:cNvPr>
          <p:cNvSpPr>
            <a:spLocks noGrp="1"/>
          </p:cNvSpPr>
          <p:nvPr/>
        </p:nvSpPr>
        <p:spPr>
          <a:xfrm>
            <a:off x="5857875" y="3190875"/>
            <a:ext cx="1952625" cy="106680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E527B8B-05D5-40FC-BCAD-5EC3CAB34E1E}"/>
              </a:ext>
            </a:extLst>
          </p:cNvPr>
          <p:cNvSpPr>
            <a:spLocks noGrp="1"/>
          </p:cNvSpPr>
          <p:nvPr/>
        </p:nvSpPr>
        <p:spPr>
          <a:xfrm>
            <a:off x="5857875" y="4200525"/>
            <a:ext cx="1952625" cy="571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F5E0E3-FD78-4E5C-9746-119B757992AB}"/>
              </a:ext>
            </a:extLst>
          </p:cNvPr>
          <p:cNvSpPr>
            <a:spLocks noGrp="1"/>
          </p:cNvSpPr>
          <p:nvPr/>
        </p:nvSpPr>
        <p:spPr>
          <a:xfrm>
            <a:off x="5991225" y="3324225"/>
            <a:ext cx="168592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analyze</a:t>
            </a:r>
          </a:p>
          <a:p>
            <a:pPr algn="ct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таблицы и графики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9AB1957-58D4-47A2-BA45-9E97F6F9138E}"/>
              </a:ext>
            </a:extLst>
          </p:cNvPr>
          <p:cNvSpPr>
            <a:spLocks noGrp="1"/>
          </p:cNvSpPr>
          <p:nvPr/>
        </p:nvSpPr>
        <p:spPr>
          <a:xfrm>
            <a:off x="8667750" y="1952625"/>
            <a:ext cx="2190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CE32CE4-F840-417E-BF89-BC5C70350217}"/>
              </a:ext>
            </a:extLst>
          </p:cNvPr>
          <p:cNvSpPr>
            <a:spLocks noGrp="1"/>
          </p:cNvSpPr>
          <p:nvPr/>
        </p:nvSpPr>
        <p:spPr>
          <a:xfrm>
            <a:off x="8667750" y="1952625"/>
            <a:ext cx="57150" cy="18097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D1A41DF-51E9-4B91-8E68-69C273EA7E2D}"/>
              </a:ext>
            </a:extLst>
          </p:cNvPr>
          <p:cNvSpPr>
            <a:spLocks noGrp="1"/>
          </p:cNvSpPr>
          <p:nvPr/>
        </p:nvSpPr>
        <p:spPr>
          <a:xfrm>
            <a:off x="8896350" y="2143125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АРТЕФАКТЫ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AB9053C-E03C-4E9D-A4AA-4AF96FED20E1}"/>
              </a:ext>
            </a:extLst>
          </p:cNvPr>
          <p:cNvSpPr>
            <a:spLocks noGrp="1"/>
          </p:cNvSpPr>
          <p:nvPr/>
        </p:nvSpPr>
        <p:spPr>
          <a:xfrm>
            <a:off x="8896350" y="2466975"/>
            <a:ext cx="17907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JSON</a:t>
            </a:r>
          </a:p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CSV</a:t>
            </a:r>
          </a:p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PNG</a:t>
            </a:r>
          </a:p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Markdown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5C20A28-9917-4749-8585-07579869829C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4412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244128"/>
                </a:solidFill>
                <a:latin typeface="Onest"/>
                <a:ea typeface="Onest"/>
                <a:cs typeface="Onest"/>
              </a:rPr>
              <a:t>Оптимизатор не вычисляет GMP-ECM напрямую: все кандидаты проходят через единый fitness evaluator.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0755F70-2068-4C10-A655-BA8EFAD4A4B0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42CD541-A347-4DC2-B671-F5898E14D93E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CB47720-6D49-4B10-86BD-CCA0375E08E1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A0956CF-464B-4C75-9D33-025B1071E42F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8D3DB17-CFB7-401D-89B8-2916018FE4FC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93BC176-D6AB-40BC-9E25-66A035C6DAC9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9/1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DF4C584-6231-47EB-B492-6D3760673EE3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96295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EDBC86-3DF2-4DA1-B371-1A5A2649DC8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700DB7-3410-4AAC-81C9-763AEB789D85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ЭКСПЕРИМЕНТ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A58F23-4413-43AA-A5C3-166D9C6E5F63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Дизайн отделяет поиск параметров от независимой проверки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3CF719-AC29-4C5F-AF7E-D448D91D66B5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04BF8CA-3A72-4782-A1AE-7CF50C59B292}"/>
              </a:ext>
            </a:extLst>
          </p:cNvPr>
          <p:cNvSpPr>
            <a:spLocks noGrp="1"/>
          </p:cNvSpPr>
          <p:nvPr/>
        </p:nvSpPr>
        <p:spPr>
          <a:xfrm>
            <a:off x="1000125" y="20859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20 цифр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7CA22A-CE36-465B-AE4D-6CB6D621E402}"/>
              </a:ext>
            </a:extLst>
          </p:cNvPr>
          <p:cNvSpPr>
            <a:spLocks noGrp="1"/>
          </p:cNvSpPr>
          <p:nvPr/>
        </p:nvSpPr>
        <p:spPr>
          <a:xfrm>
            <a:off x="1000125" y="2447925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целевой простой делитель 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D0C64C-FE53-4072-89C0-F142C3D3EC43}"/>
              </a:ext>
            </a:extLst>
          </p:cNvPr>
          <p:cNvSpPr>
            <a:spLocks noGrp="1"/>
          </p:cNvSpPr>
          <p:nvPr/>
        </p:nvSpPr>
        <p:spPr>
          <a:xfrm>
            <a:off x="3286125" y="1952625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C8D083-50CF-41C7-A17E-41C432A4C0AE}"/>
              </a:ext>
            </a:extLst>
          </p:cNvPr>
          <p:cNvSpPr>
            <a:spLocks noGrp="1"/>
          </p:cNvSpPr>
          <p:nvPr/>
        </p:nvSpPr>
        <p:spPr>
          <a:xfrm>
            <a:off x="3476625" y="20859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30 цифр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4B6592-6757-47B0-8913-310B768AD590}"/>
              </a:ext>
            </a:extLst>
          </p:cNvPr>
          <p:cNvSpPr>
            <a:spLocks noGrp="1"/>
          </p:cNvSpPr>
          <p:nvPr/>
        </p:nvSpPr>
        <p:spPr>
          <a:xfrm>
            <a:off x="3476625" y="2447925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кофактор q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4A72AEA-F7AE-44ED-BD19-E7DC4D70F45E}"/>
              </a:ext>
            </a:extLst>
          </p:cNvPr>
          <p:cNvSpPr>
            <a:spLocks noGrp="1"/>
          </p:cNvSpPr>
          <p:nvPr/>
        </p:nvSpPr>
        <p:spPr>
          <a:xfrm>
            <a:off x="5762625" y="1952625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F154D9-2BAA-4C9E-9FFA-1EFAB85FFFC1}"/>
              </a:ext>
            </a:extLst>
          </p:cNvPr>
          <p:cNvSpPr>
            <a:spLocks noGrp="1"/>
          </p:cNvSpPr>
          <p:nvPr/>
        </p:nvSpPr>
        <p:spPr>
          <a:xfrm>
            <a:off x="5953125" y="20859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80 + 80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81C76F-F4CC-45A1-B3A7-7D720E39F964}"/>
              </a:ext>
            </a:extLst>
          </p:cNvPr>
          <p:cNvSpPr>
            <a:spLocks noGrp="1"/>
          </p:cNvSpPr>
          <p:nvPr/>
        </p:nvSpPr>
        <p:spPr>
          <a:xfrm>
            <a:off x="5953125" y="2447925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train и control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DB597B2-5192-439A-9B58-96C528B16D21}"/>
              </a:ext>
            </a:extLst>
          </p:cNvPr>
          <p:cNvSpPr>
            <a:spLocks noGrp="1"/>
          </p:cNvSpPr>
          <p:nvPr/>
        </p:nvSpPr>
        <p:spPr>
          <a:xfrm>
            <a:off x="8239125" y="195262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301074-0B3C-48FE-A405-F5266431770F}"/>
              </a:ext>
            </a:extLst>
          </p:cNvPr>
          <p:cNvSpPr>
            <a:spLocks noGrp="1"/>
          </p:cNvSpPr>
          <p:nvPr/>
        </p:nvSpPr>
        <p:spPr>
          <a:xfrm>
            <a:off x="8429625" y="208597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73062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373062"/>
                </a:solidFill>
                <a:latin typeface="Onest"/>
                <a:ea typeface="Onest"/>
                <a:cs typeface="Onest"/>
              </a:rPr>
              <a:t>11000 / 1900000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EEFD14B-7DC9-41A6-9B2F-91A1650A5D75}"/>
              </a:ext>
            </a:extLst>
          </p:cNvPr>
          <p:cNvSpPr>
            <a:spLocks noGrp="1"/>
          </p:cNvSpPr>
          <p:nvPr/>
        </p:nvSpPr>
        <p:spPr>
          <a:xfrm>
            <a:off x="8429625" y="24479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эталон GMP-ECM B1/B2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3DE9491-628F-429C-931F-4B4520CCA5FE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414337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25CAF14-92AF-4D04-A460-9CD9B2A070A7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57150" cy="12382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3640706-5386-4CA8-9F90-64CA69A4900F}"/>
              </a:ext>
            </a:extLst>
          </p:cNvPr>
          <p:cNvSpPr>
            <a:spLocks noGrp="1"/>
          </p:cNvSpPr>
          <p:nvPr/>
        </p:nvSpPr>
        <p:spPr>
          <a:xfrm>
            <a:off x="1466850" y="3810000"/>
            <a:ext cx="3743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ЭТАП 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BFED0C3-0929-442D-BFF0-1865A3800145}"/>
              </a:ext>
            </a:extLst>
          </p:cNvPr>
          <p:cNvSpPr>
            <a:spLocks noGrp="1"/>
          </p:cNvSpPr>
          <p:nvPr/>
        </p:nvSpPr>
        <p:spPr>
          <a:xfrm>
            <a:off x="1466850" y="4133850"/>
            <a:ext cx="37433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Широкие границы поиска для локализации перспективной области параметров.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6D08A7-CD61-47A4-9DC7-A7D93B5B0BDF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414337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6D6977B-8BDC-46FE-A36B-27D84AA03A46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57150" cy="12382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6C6C6CA-A4C8-497D-9AA9-F37BC1768EF2}"/>
              </a:ext>
            </a:extLst>
          </p:cNvPr>
          <p:cNvSpPr>
            <a:spLocks noGrp="1"/>
          </p:cNvSpPr>
          <p:nvPr/>
        </p:nvSpPr>
        <p:spPr>
          <a:xfrm>
            <a:off x="6800850" y="3810000"/>
            <a:ext cx="3743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ЭТАП 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57D2201-3E08-41D5-ADCB-C7811215E9C0}"/>
              </a:ext>
            </a:extLst>
          </p:cNvPr>
          <p:cNvSpPr>
            <a:spLocks noGrp="1"/>
          </p:cNvSpPr>
          <p:nvPr/>
        </p:nvSpPr>
        <p:spPr>
          <a:xfrm>
            <a:off x="6800850" y="4133850"/>
            <a:ext cx="37433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Уточненные границы и ограничение B2/B1 &lt;= 1000 для практичных конфигураций.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E46F158-0CFE-42EA-BCB8-F1E4751DA8D0}"/>
              </a:ext>
            </a:extLst>
          </p:cNvPr>
          <p:cNvSpPr>
            <a:spLocks noGrp="1"/>
          </p:cNvSpPr>
          <p:nvPr/>
        </p:nvSpPr>
        <p:spPr>
          <a:xfrm>
            <a:off x="2952750" y="5219700"/>
            <a:ext cx="628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Основной расчет выполнен на ресурсах СКЦ СПбПУ с использованием SLURM.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0AF423B-4CB9-4C5F-8FE7-C5376B96CEEE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D0EF8EC-12A1-4CC5-9C80-CE3C2228D312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715A148-6D56-429A-9BE1-3FBC6EBDFCA2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B82710F-A76C-4348-9573-147C515C3A07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2174DFA-9711-42AC-8C4F-D1F68ACE3241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1A7169A-68F7-4BBE-A15A-13A8F4797787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10/1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926F1AE-E08A-4244-B8E8-33DB8091521E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915741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0DCEF-813E-43F6-835F-CC0AC515271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B89BBE-994A-4EDE-B87D-BF78B2A2335F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ШИРОКИЙ ПОИСК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2ABAD3-8D78-4054-938F-32143F16DABD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Первый этап нашел область параметров лучше справочной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12693" y="1695450"/>
            <a:ext cx="4156364" cy="28575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885950"/>
            <a:ext cx="4953000" cy="24765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3E74D8-6D7E-46A4-9E42-3168157EEE14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466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Выигрыш валидационной метрики по методам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2EA9BA-4E43-48D3-B197-4474FC2CD783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466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Траектория поиска GA в пространстве B1/B2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88304E-6FCB-4861-B6B1-2CA3C98D9166}"/>
              </a:ext>
            </a:extLst>
          </p:cNvPr>
          <p:cNvSpPr>
            <a:spLocks noGrp="1"/>
          </p:cNvSpPr>
          <p:nvPr/>
        </p:nvSpPr>
        <p:spPr>
          <a:xfrm>
            <a:off x="1714500" y="4819650"/>
            <a:ext cx="2190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0D84C4-1DAE-4E03-8021-15A09A755F04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20,62-23,90%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198D3A4-CC6E-419F-9C8A-6C5AB6161A6B}"/>
              </a:ext>
            </a:extLst>
          </p:cNvPr>
          <p:cNvSpPr>
            <a:spLocks noGrp="1"/>
          </p:cNvSpPr>
          <p:nvPr/>
        </p:nvSpPr>
        <p:spPr>
          <a:xfrm>
            <a:off x="1905000" y="5314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снижение метрики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DFBF0C-0F2A-4445-A561-091B395C8AB4}"/>
              </a:ext>
            </a:extLst>
          </p:cNvPr>
          <p:cNvSpPr>
            <a:spLocks noGrp="1"/>
          </p:cNvSpPr>
          <p:nvPr/>
        </p:nvSpPr>
        <p:spPr>
          <a:xfrm>
            <a:off x="5000625" y="4819650"/>
            <a:ext cx="2190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606645-4002-4EB0-9DAF-FC4288F21B56}"/>
              </a:ext>
            </a:extLst>
          </p:cNvPr>
          <p:cNvSpPr>
            <a:spLocks noGrp="1"/>
          </p:cNvSpPr>
          <p:nvPr/>
        </p:nvSpPr>
        <p:spPr>
          <a:xfrm>
            <a:off x="5191125" y="4953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18,36-19,53%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7BC8A1C-B307-4003-824E-BDF2A0979D0F}"/>
              </a:ext>
            </a:extLst>
          </p:cNvPr>
          <p:cNvSpPr>
            <a:spLocks noGrp="1"/>
          </p:cNvSpPr>
          <p:nvPr/>
        </p:nvSpPr>
        <p:spPr>
          <a:xfrm>
            <a:off x="5191125" y="5314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снижение времени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A2DBEF0-C31E-4B58-A723-DE628AECA033}"/>
              </a:ext>
            </a:extLst>
          </p:cNvPr>
          <p:cNvSpPr>
            <a:spLocks noGrp="1"/>
          </p:cNvSpPr>
          <p:nvPr/>
        </p:nvSpPr>
        <p:spPr>
          <a:xfrm>
            <a:off x="8286750" y="4819650"/>
            <a:ext cx="2190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55910D-4565-415E-8D87-64F99395058B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35,37-52,50%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E7BF99-CC14-4FF3-8450-ECB48DEA23EB}"/>
              </a:ext>
            </a:extLst>
          </p:cNvPr>
          <p:cNvSpPr>
            <a:spLocks noGrp="1"/>
          </p:cNvSpPr>
          <p:nvPr/>
        </p:nvSpPr>
        <p:spPr>
          <a:xfrm>
            <a:off x="8477250" y="5314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снижение кривых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E7CD97-7E52-4F16-960A-CA37BC9D0D5B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3C1886-E79D-4D21-9B17-1B1B43321C94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CFA2E9-15C7-4298-AB09-144DCB368548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071059F-CAB2-42B8-B35C-21123DC18504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DA8D98D-FC8C-4256-898D-466B377B22FD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19A7D16-E9A0-4B3E-9972-815B026BE0FF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11/1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7F8375-0E36-4562-978D-DC7915526099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782402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DEB16E-70DB-41AF-9F7B-9781E7D7A94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97C8F3-9A40-4745-922E-90DA10D6720B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УТОЧНЕННЫЙ ПОИСК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209C5D-9627-4554-85F5-D174BE1403F9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GA дал лучший баланс метрики и времени; PSO сильнее всего сократил кривые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67A0C2-7235-4FF2-9B54-B1253E5C8918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93345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47F6C7-B29E-45A3-ACAE-90D83189217E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781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Метод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B7338D-4ABD-43AD-B82E-04253A06FD03}"/>
              </a:ext>
            </a:extLst>
          </p:cNvPr>
          <p:cNvSpPr>
            <a:spLocks noGrp="1"/>
          </p:cNvSpPr>
          <p:nvPr/>
        </p:nvSpPr>
        <p:spPr>
          <a:xfrm>
            <a:off x="1600200" y="1695450"/>
            <a:ext cx="102870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33AE90-1FA5-40A5-9202-D27317BA1C3B}"/>
              </a:ext>
            </a:extLst>
          </p:cNvPr>
          <p:cNvSpPr>
            <a:spLocks noGrp="1"/>
          </p:cNvSpPr>
          <p:nvPr/>
        </p:nvSpPr>
        <p:spPr>
          <a:xfrm>
            <a:off x="1676400" y="18478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B1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CAE5B3-49F2-4F2F-8295-11B882B331E5}"/>
              </a:ext>
            </a:extLst>
          </p:cNvPr>
          <p:cNvSpPr>
            <a:spLocks noGrp="1"/>
          </p:cNvSpPr>
          <p:nvPr/>
        </p:nvSpPr>
        <p:spPr>
          <a:xfrm>
            <a:off x="2628900" y="1695450"/>
            <a:ext cx="125730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99D065-F91D-4A19-9DBE-8EA447E1B921}"/>
              </a:ext>
            </a:extLst>
          </p:cNvPr>
          <p:cNvSpPr>
            <a:spLocks noGrp="1"/>
          </p:cNvSpPr>
          <p:nvPr/>
        </p:nvSpPr>
        <p:spPr>
          <a:xfrm>
            <a:off x="2705100" y="184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B2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0BBC58E-B120-45CD-B262-84205CAD0445}"/>
              </a:ext>
            </a:extLst>
          </p:cNvPr>
          <p:cNvSpPr>
            <a:spLocks noGrp="1"/>
          </p:cNvSpPr>
          <p:nvPr/>
        </p:nvSpPr>
        <p:spPr>
          <a:xfrm>
            <a:off x="3886200" y="1695450"/>
            <a:ext cx="112395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C26F304-BB83-454C-A7F1-ABD11ACF03AE}"/>
              </a:ext>
            </a:extLst>
          </p:cNvPr>
          <p:cNvSpPr>
            <a:spLocks noGrp="1"/>
          </p:cNvSpPr>
          <p:nvPr/>
        </p:nvSpPr>
        <p:spPr>
          <a:xfrm>
            <a:off x="3962400" y="18478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Метрика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6502623-C12A-47EB-92A8-83961DD9D581}"/>
              </a:ext>
            </a:extLst>
          </p:cNvPr>
          <p:cNvSpPr>
            <a:spLocks noGrp="1"/>
          </p:cNvSpPr>
          <p:nvPr/>
        </p:nvSpPr>
        <p:spPr>
          <a:xfrm>
            <a:off x="5010150" y="1695450"/>
            <a:ext cx="102870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B4AA9E-0E08-4A64-B457-56DAB357F581}"/>
              </a:ext>
            </a:extLst>
          </p:cNvPr>
          <p:cNvSpPr>
            <a:spLocks noGrp="1"/>
          </p:cNvSpPr>
          <p:nvPr/>
        </p:nvSpPr>
        <p:spPr>
          <a:xfrm>
            <a:off x="5086350" y="18478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Время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D5178DF-15D7-4AA0-9692-752C7F85068E}"/>
              </a:ext>
            </a:extLst>
          </p:cNvPr>
          <p:cNvSpPr>
            <a:spLocks noGrp="1"/>
          </p:cNvSpPr>
          <p:nvPr/>
        </p:nvSpPr>
        <p:spPr>
          <a:xfrm>
            <a:off x="6038850" y="1695450"/>
            <a:ext cx="1123950" cy="514350"/>
          </a:xfrm>
          <a:prstGeom prst="rect">
            <a:avLst/>
          </a:prstGeom>
          <a:solidFill>
            <a:srgbClr val="373062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0F4784-8467-42B9-9B61-361462CC9A13}"/>
              </a:ext>
            </a:extLst>
          </p:cNvPr>
          <p:cNvSpPr>
            <a:spLocks noGrp="1"/>
          </p:cNvSpPr>
          <p:nvPr/>
        </p:nvSpPr>
        <p:spPr>
          <a:xfrm>
            <a:off x="6115050" y="18478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Кривые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5944403-94FF-4471-B48A-FE086B0A3BB9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9334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7EC9B21-4229-4A54-802F-1DB96B1A651C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781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BO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FCDF68F-A17B-4695-B992-F77EBD77203C}"/>
              </a:ext>
            </a:extLst>
          </p:cNvPr>
          <p:cNvSpPr>
            <a:spLocks noGrp="1"/>
          </p:cNvSpPr>
          <p:nvPr/>
        </p:nvSpPr>
        <p:spPr>
          <a:xfrm>
            <a:off x="1600200" y="2209800"/>
            <a:ext cx="10287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53B0746-01AC-4BC3-8714-8DAF5372848E}"/>
              </a:ext>
            </a:extLst>
          </p:cNvPr>
          <p:cNvSpPr>
            <a:spLocks noGrp="1"/>
          </p:cNvSpPr>
          <p:nvPr/>
        </p:nvSpPr>
        <p:spPr>
          <a:xfrm>
            <a:off x="1676400" y="236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20510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3E3D2E-7451-4454-BD05-0F1CD6486CD1}"/>
              </a:ext>
            </a:extLst>
          </p:cNvPr>
          <p:cNvSpPr>
            <a:spLocks noGrp="1"/>
          </p:cNvSpPr>
          <p:nvPr/>
        </p:nvSpPr>
        <p:spPr>
          <a:xfrm>
            <a:off x="2628900" y="2209800"/>
            <a:ext cx="12573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BD01BED-ADDC-4EEF-B847-97441559BB3D}"/>
              </a:ext>
            </a:extLst>
          </p:cNvPr>
          <p:cNvSpPr>
            <a:spLocks noGrp="1"/>
          </p:cNvSpPr>
          <p:nvPr/>
        </p:nvSpPr>
        <p:spPr>
          <a:xfrm>
            <a:off x="2705100" y="236220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636495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0574148-6C61-4FE1-A69D-8EAD7B2E4255}"/>
              </a:ext>
            </a:extLst>
          </p:cNvPr>
          <p:cNvSpPr>
            <a:spLocks noGrp="1"/>
          </p:cNvSpPr>
          <p:nvPr/>
        </p:nvSpPr>
        <p:spPr>
          <a:xfrm>
            <a:off x="3886200" y="2209800"/>
            <a:ext cx="11239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3B5CE61-EA03-4384-9DE8-5CB2EA999987}"/>
              </a:ext>
            </a:extLst>
          </p:cNvPr>
          <p:cNvSpPr>
            <a:spLocks noGrp="1"/>
          </p:cNvSpPr>
          <p:nvPr/>
        </p:nvSpPr>
        <p:spPr>
          <a:xfrm>
            <a:off x="3962400" y="236220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-13,70%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683EF60-C207-4E6F-B182-D1DB23521144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10287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BEBB0EB-1907-4A55-96A5-A76A727FF02F}"/>
              </a:ext>
            </a:extLst>
          </p:cNvPr>
          <p:cNvSpPr>
            <a:spLocks noGrp="1"/>
          </p:cNvSpPr>
          <p:nvPr/>
        </p:nvSpPr>
        <p:spPr>
          <a:xfrm>
            <a:off x="5086350" y="236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-14,30%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1A85FB-C8D7-40FC-842D-C53A391048E6}"/>
              </a:ext>
            </a:extLst>
          </p:cNvPr>
          <p:cNvSpPr>
            <a:spLocks noGrp="1"/>
          </p:cNvSpPr>
          <p:nvPr/>
        </p:nvSpPr>
        <p:spPr>
          <a:xfrm>
            <a:off x="6038850" y="2209800"/>
            <a:ext cx="11239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3DD5327-6F17-4DCC-A521-AB574FD09896}"/>
              </a:ext>
            </a:extLst>
          </p:cNvPr>
          <p:cNvSpPr>
            <a:spLocks noGrp="1"/>
          </p:cNvSpPr>
          <p:nvPr/>
        </p:nvSpPr>
        <p:spPr>
          <a:xfrm>
            <a:off x="6115050" y="236220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-9,71%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3C07CA3-3396-4A0C-9AF3-55CFB124680D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9334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12F8416-FF01-418D-8094-1D8EA56B8D75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781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DE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C0BB55B-E51B-4C99-9F56-DA30A04C01DA}"/>
              </a:ext>
            </a:extLst>
          </p:cNvPr>
          <p:cNvSpPr>
            <a:spLocks noGrp="1"/>
          </p:cNvSpPr>
          <p:nvPr/>
        </p:nvSpPr>
        <p:spPr>
          <a:xfrm>
            <a:off x="1600200" y="2724150"/>
            <a:ext cx="10287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F537E94-08B8-40BE-970A-87E0F2C23510}"/>
              </a:ext>
            </a:extLst>
          </p:cNvPr>
          <p:cNvSpPr>
            <a:spLocks noGrp="1"/>
          </p:cNvSpPr>
          <p:nvPr/>
        </p:nvSpPr>
        <p:spPr>
          <a:xfrm>
            <a:off x="1676400" y="2876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33716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B3FEEE3-8CD0-4F02-8640-CCE6745DAE7C}"/>
              </a:ext>
            </a:extLst>
          </p:cNvPr>
          <p:cNvSpPr>
            <a:spLocks noGrp="1"/>
          </p:cNvSpPr>
          <p:nvPr/>
        </p:nvSpPr>
        <p:spPr>
          <a:xfrm>
            <a:off x="2628900" y="2724150"/>
            <a:ext cx="12573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C04989D-666B-4C87-827E-4C844448A28F}"/>
              </a:ext>
            </a:extLst>
          </p:cNvPr>
          <p:cNvSpPr>
            <a:spLocks noGrp="1"/>
          </p:cNvSpPr>
          <p:nvPr/>
        </p:nvSpPr>
        <p:spPr>
          <a:xfrm>
            <a:off x="2705100" y="28765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3003081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C24D030-0B7F-427C-ACF5-61733F0069CE}"/>
              </a:ext>
            </a:extLst>
          </p:cNvPr>
          <p:cNvSpPr>
            <a:spLocks noGrp="1"/>
          </p:cNvSpPr>
          <p:nvPr/>
        </p:nvSpPr>
        <p:spPr>
          <a:xfrm>
            <a:off x="3886200" y="2724150"/>
            <a:ext cx="11239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8D1C674-8776-4495-8BD5-0EFABB5CE9C6}"/>
              </a:ext>
            </a:extLst>
          </p:cNvPr>
          <p:cNvSpPr>
            <a:spLocks noGrp="1"/>
          </p:cNvSpPr>
          <p:nvPr/>
        </p:nvSpPr>
        <p:spPr>
          <a:xfrm>
            <a:off x="3962400" y="28765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-22,35%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9812F1B-6433-4B6F-BDFF-14A8F70499F4}"/>
              </a:ext>
            </a:extLst>
          </p:cNvPr>
          <p:cNvSpPr>
            <a:spLocks noGrp="1"/>
          </p:cNvSpPr>
          <p:nvPr/>
        </p:nvSpPr>
        <p:spPr>
          <a:xfrm>
            <a:off x="5010150" y="2724150"/>
            <a:ext cx="10287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96E1B65-C9D8-44D3-A46C-9EE792267936}"/>
              </a:ext>
            </a:extLst>
          </p:cNvPr>
          <p:cNvSpPr>
            <a:spLocks noGrp="1"/>
          </p:cNvSpPr>
          <p:nvPr/>
        </p:nvSpPr>
        <p:spPr>
          <a:xfrm>
            <a:off x="5086350" y="2876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-17,92%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DA0649C-FA8C-44F9-A81C-15B6E64CFE74}"/>
              </a:ext>
            </a:extLst>
          </p:cNvPr>
          <p:cNvSpPr>
            <a:spLocks noGrp="1"/>
          </p:cNvSpPr>
          <p:nvPr/>
        </p:nvSpPr>
        <p:spPr>
          <a:xfrm>
            <a:off x="6038850" y="2724150"/>
            <a:ext cx="11239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AC0E671-C177-41F9-A54A-B7582204B6A6}"/>
              </a:ext>
            </a:extLst>
          </p:cNvPr>
          <p:cNvSpPr>
            <a:spLocks noGrp="1"/>
          </p:cNvSpPr>
          <p:nvPr/>
        </p:nvSpPr>
        <p:spPr>
          <a:xfrm>
            <a:off x="6115050" y="28765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-51,69%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43A3BBB-FFCD-4544-B27C-B287DFFA8440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9334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8807AEE-DB88-4D8A-93FF-13601EF4D592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781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PSO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3D803D6-EF27-4BAA-B72F-C25E6F284E8F}"/>
              </a:ext>
            </a:extLst>
          </p:cNvPr>
          <p:cNvSpPr>
            <a:spLocks noGrp="1"/>
          </p:cNvSpPr>
          <p:nvPr/>
        </p:nvSpPr>
        <p:spPr>
          <a:xfrm>
            <a:off x="1600200" y="3238500"/>
            <a:ext cx="10287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2C9FFB7-4EA9-4550-92C8-8DB7F4D9EBE2}"/>
              </a:ext>
            </a:extLst>
          </p:cNvPr>
          <p:cNvSpPr>
            <a:spLocks noGrp="1"/>
          </p:cNvSpPr>
          <p:nvPr/>
        </p:nvSpPr>
        <p:spPr>
          <a:xfrm>
            <a:off x="1676400" y="3390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52298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25A2C1C-5BF6-4680-9922-50AAFB39D188}"/>
              </a:ext>
            </a:extLst>
          </p:cNvPr>
          <p:cNvSpPr>
            <a:spLocks noGrp="1"/>
          </p:cNvSpPr>
          <p:nvPr/>
        </p:nvSpPr>
        <p:spPr>
          <a:xfrm>
            <a:off x="2628900" y="3238500"/>
            <a:ext cx="12573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6D9E524-A033-4ADC-91F1-5CCD7568DFAC}"/>
              </a:ext>
            </a:extLst>
          </p:cNvPr>
          <p:cNvSpPr>
            <a:spLocks noGrp="1"/>
          </p:cNvSpPr>
          <p:nvPr/>
        </p:nvSpPr>
        <p:spPr>
          <a:xfrm>
            <a:off x="2705100" y="339090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2726216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68A87412-A364-433D-AE49-D900D95378A9}"/>
              </a:ext>
            </a:extLst>
          </p:cNvPr>
          <p:cNvSpPr>
            <a:spLocks noGrp="1"/>
          </p:cNvSpPr>
          <p:nvPr/>
        </p:nvSpPr>
        <p:spPr>
          <a:xfrm>
            <a:off x="3886200" y="3238500"/>
            <a:ext cx="11239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6170A696-ED75-4B97-8AE0-CA39AD335AB1}"/>
              </a:ext>
            </a:extLst>
          </p:cNvPr>
          <p:cNvSpPr>
            <a:spLocks noGrp="1"/>
          </p:cNvSpPr>
          <p:nvPr/>
        </p:nvSpPr>
        <p:spPr>
          <a:xfrm>
            <a:off x="3962400" y="339090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-24,46%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8312E9C-9CAC-4127-8F37-E1E67851BBC4}"/>
              </a:ext>
            </a:extLst>
          </p:cNvPr>
          <p:cNvSpPr>
            <a:spLocks noGrp="1"/>
          </p:cNvSpPr>
          <p:nvPr/>
        </p:nvSpPr>
        <p:spPr>
          <a:xfrm>
            <a:off x="5010150" y="3238500"/>
            <a:ext cx="10287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D7AD5D88-8A1D-45AC-8CC9-686F24825367}"/>
              </a:ext>
            </a:extLst>
          </p:cNvPr>
          <p:cNvSpPr>
            <a:spLocks noGrp="1"/>
          </p:cNvSpPr>
          <p:nvPr/>
        </p:nvSpPr>
        <p:spPr>
          <a:xfrm>
            <a:off x="5086350" y="3390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-18,75%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B2B7DE2-6EF5-4679-BEFB-B693E2A1CDD7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12395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D27ACFFF-3C38-4003-83E1-FFC3F1909BBD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-62,42%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630511E-CCF5-442A-BF1B-C23DAECF5EF2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9334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08CDA90-0120-470C-8590-0FEBF71AE95E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781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GA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9DF319F1-E8C1-49FC-905A-E43168AFF1BA}"/>
              </a:ext>
            </a:extLst>
          </p:cNvPr>
          <p:cNvSpPr>
            <a:spLocks noGrp="1"/>
          </p:cNvSpPr>
          <p:nvPr/>
        </p:nvSpPr>
        <p:spPr>
          <a:xfrm>
            <a:off x="1600200" y="3752850"/>
            <a:ext cx="10287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00144BDF-8A44-4296-BCE4-CDC6D91E8D28}"/>
              </a:ext>
            </a:extLst>
          </p:cNvPr>
          <p:cNvSpPr>
            <a:spLocks noGrp="1"/>
          </p:cNvSpPr>
          <p:nvPr/>
        </p:nvSpPr>
        <p:spPr>
          <a:xfrm>
            <a:off x="1676400" y="39052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32609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C1AF441-6E1E-4C2C-B2D1-D23CC6EB59BC}"/>
              </a:ext>
            </a:extLst>
          </p:cNvPr>
          <p:cNvSpPr>
            <a:spLocks noGrp="1"/>
          </p:cNvSpPr>
          <p:nvPr/>
        </p:nvSpPr>
        <p:spPr>
          <a:xfrm>
            <a:off x="2628900" y="3752850"/>
            <a:ext cx="12573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954C004-6FD1-4B7C-A8B0-420D1C358368}"/>
              </a:ext>
            </a:extLst>
          </p:cNvPr>
          <p:cNvSpPr>
            <a:spLocks noGrp="1"/>
          </p:cNvSpPr>
          <p:nvPr/>
        </p:nvSpPr>
        <p:spPr>
          <a:xfrm>
            <a:off x="2705100" y="39052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2737437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CEDE0E2-3299-4411-AEEB-48AFE941728A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1239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46DBDE9-4D73-44AC-8005-07728AA7216D}"/>
              </a:ext>
            </a:extLst>
          </p:cNvPr>
          <p:cNvSpPr>
            <a:spLocks noGrp="1"/>
          </p:cNvSpPr>
          <p:nvPr/>
        </p:nvSpPr>
        <p:spPr>
          <a:xfrm>
            <a:off x="3962400" y="39052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-25,14%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E851BE4E-D838-4EC5-AA4F-812CB9413B0A}"/>
              </a:ext>
            </a:extLst>
          </p:cNvPr>
          <p:cNvSpPr>
            <a:spLocks noGrp="1"/>
          </p:cNvSpPr>
          <p:nvPr/>
        </p:nvSpPr>
        <p:spPr>
          <a:xfrm>
            <a:off x="5010150" y="3752850"/>
            <a:ext cx="102870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78431026-7BAE-4DC1-A845-416F353E7DAD}"/>
              </a:ext>
            </a:extLst>
          </p:cNvPr>
          <p:cNvSpPr>
            <a:spLocks noGrp="1"/>
          </p:cNvSpPr>
          <p:nvPr/>
        </p:nvSpPr>
        <p:spPr>
          <a:xfrm>
            <a:off x="5086350" y="39052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-21,04%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00A5D07B-59E9-4D6B-8991-D2C42B23D652}"/>
              </a:ext>
            </a:extLst>
          </p:cNvPr>
          <p:cNvSpPr>
            <a:spLocks noGrp="1"/>
          </p:cNvSpPr>
          <p:nvPr/>
        </p:nvSpPr>
        <p:spPr>
          <a:xfrm>
            <a:off x="6038850" y="3752850"/>
            <a:ext cx="1123950" cy="514350"/>
          </a:xfrm>
          <a:prstGeom prst="rect">
            <a:avLst/>
          </a:prstGeom>
          <a:solidFill>
            <a:srgbClr val="F5F7F6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395ED342-7C40-4AC7-94D3-58F5301C3B29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971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-52,14%</a:t>
            </a:r>
          </a:p>
        </p:txBody>
      </p:sp>
      <p:pic>
        <p:nvPicPr>
          <p:cNvPr id="65" name="Рисунок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1778794"/>
            <a:ext cx="3429000" cy="2357438"/>
          </a:xfrm>
          <a:prstGeom prst="rect">
            <a:avLst/>
          </a:prstGeom>
        </p:spPr>
      </p:pic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EE0485FF-064E-40EA-8B44-20E75BD68DA9}"/>
              </a:ext>
            </a:extLst>
          </p:cNvPr>
          <p:cNvSpPr>
            <a:spLocks noGrp="1"/>
          </p:cNvSpPr>
          <p:nvPr/>
        </p:nvSpPr>
        <p:spPr>
          <a:xfrm>
            <a:off x="7620000" y="4705350"/>
            <a:ext cx="1762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739B9E4-F63C-422F-80E5-665FCB61CF0C}"/>
              </a:ext>
            </a:extLst>
          </p:cNvPr>
          <p:cNvSpPr>
            <a:spLocks noGrp="1"/>
          </p:cNvSpPr>
          <p:nvPr/>
        </p:nvSpPr>
        <p:spPr>
          <a:xfrm>
            <a:off x="7810500" y="48387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-25,14%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C12769DC-651E-455E-AA07-E7A222DCDC83}"/>
              </a:ext>
            </a:extLst>
          </p:cNvPr>
          <p:cNvSpPr>
            <a:spLocks noGrp="1"/>
          </p:cNvSpPr>
          <p:nvPr/>
        </p:nvSpPr>
        <p:spPr>
          <a:xfrm>
            <a:off x="7810500" y="5200650"/>
            <a:ext cx="1381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GA score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697DAF5B-3196-4E01-8C7E-C55223882C8A}"/>
              </a:ext>
            </a:extLst>
          </p:cNvPr>
          <p:cNvSpPr>
            <a:spLocks noGrp="1"/>
          </p:cNvSpPr>
          <p:nvPr/>
        </p:nvSpPr>
        <p:spPr>
          <a:xfrm>
            <a:off x="9572625" y="4705350"/>
            <a:ext cx="1762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26EDCF55-4B08-4B0A-9B0F-F69DCF68877D}"/>
              </a:ext>
            </a:extLst>
          </p:cNvPr>
          <p:cNvSpPr>
            <a:spLocks noGrp="1"/>
          </p:cNvSpPr>
          <p:nvPr/>
        </p:nvSpPr>
        <p:spPr>
          <a:xfrm>
            <a:off x="9763125" y="48387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-62,42%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B5CE3D25-A12C-4EDE-8BCF-D1070F5A37D5}"/>
              </a:ext>
            </a:extLst>
          </p:cNvPr>
          <p:cNvSpPr>
            <a:spLocks noGrp="1"/>
          </p:cNvSpPr>
          <p:nvPr/>
        </p:nvSpPr>
        <p:spPr>
          <a:xfrm>
            <a:off x="9763125" y="5200650"/>
            <a:ext cx="1381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PSO кривые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E1EFD7AA-6246-463B-BCC0-07C69399F6B6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F4A21C37-E413-4C67-B6A2-3D2EF159A33A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F54425C7-D4B4-41F6-B8E6-D85465506F0A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21AC0E6C-A7B1-4363-98F8-DD373E49B9E2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23980B1A-EAF6-477B-A538-FB3BC737C4BE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3F705C1C-5BE2-419A-845A-1687343841C7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12/1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8757D7D6-4A21-4E93-A88A-A29A63C5D0C4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125496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77F278-BB6E-4329-8CC9-4AF13102C93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9ED3D8-CAE8-4DF5-AED8-33955E290CFF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ИНТЕРПРЕТАЦИЯ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8D6BE0-5C94-4AA7-BB24-F6041A6C487C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Разные методы полезны для разных практических целей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3800" y="1676400"/>
            <a:ext cx="3937000" cy="2952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76400"/>
            <a:ext cx="4724400" cy="29527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C8DC13-7BF1-4F3C-983A-4EF82F194335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Компромисс между временем оптимизации и выигрышем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F479FA-208E-4AA2-A267-E51C1E1AC7E8}"/>
              </a:ext>
            </a:extLst>
          </p:cNvPr>
          <p:cNvSpPr>
            <a:spLocks noGrp="1"/>
          </p:cNvSpPr>
          <p:nvPr/>
        </p:nvSpPr>
        <p:spPr>
          <a:xfrm>
            <a:off x="6477000" y="47244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PSO: распределение числа кривых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D1038DD-45DF-4D26-97F2-36D07292AF52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1809750" cy="36195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355355-8A28-41CE-9504-90420E5F8E39}"/>
              </a:ext>
            </a:extLst>
          </p:cNvPr>
          <p:cNvSpPr>
            <a:spLocks noGrp="1"/>
          </p:cNvSpPr>
          <p:nvPr/>
        </p:nvSpPr>
        <p:spPr>
          <a:xfrm>
            <a:off x="857250" y="5267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GA: score + время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C20E8A-C521-4A46-96B8-FD9AEFEE61A1}"/>
              </a:ext>
            </a:extLst>
          </p:cNvPr>
          <p:cNvSpPr>
            <a:spLocks noGrp="1"/>
          </p:cNvSpPr>
          <p:nvPr/>
        </p:nvSpPr>
        <p:spPr>
          <a:xfrm>
            <a:off x="2952750" y="5191125"/>
            <a:ext cx="1809750" cy="36195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DE485C-77F6-40A8-A3ED-A7C71C15A8C6}"/>
              </a:ext>
            </a:extLst>
          </p:cNvPr>
          <p:cNvSpPr>
            <a:spLocks noGrp="1"/>
          </p:cNvSpPr>
          <p:nvPr/>
        </p:nvSpPr>
        <p:spPr>
          <a:xfrm>
            <a:off x="3048000" y="5267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PSO: кривые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6B4A82-7310-4FF4-93C8-9AC5A05AE343}"/>
              </a:ext>
            </a:extLst>
          </p:cNvPr>
          <p:cNvSpPr>
            <a:spLocks noGrp="1"/>
          </p:cNvSpPr>
          <p:nvPr/>
        </p:nvSpPr>
        <p:spPr>
          <a:xfrm>
            <a:off x="5143500" y="5191125"/>
            <a:ext cx="1809750" cy="36195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C770DEF-7C0A-4FEF-A175-601235324065}"/>
              </a:ext>
            </a:extLst>
          </p:cNvPr>
          <p:cNvSpPr>
            <a:spLocks noGrp="1"/>
          </p:cNvSpPr>
          <p:nvPr/>
        </p:nvSpPr>
        <p:spPr>
          <a:xfrm>
            <a:off x="5238750" y="5267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DE: компромисс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D233FDF-1B34-47EA-91C6-72CA4E4E06CB}"/>
              </a:ext>
            </a:extLst>
          </p:cNvPr>
          <p:cNvSpPr>
            <a:spLocks noGrp="1"/>
          </p:cNvSpPr>
          <p:nvPr/>
        </p:nvSpPr>
        <p:spPr>
          <a:xfrm>
            <a:off x="7334250" y="5191125"/>
            <a:ext cx="1809750" cy="361950"/>
          </a:xfrm>
          <a:prstGeom prst="rect">
            <a:avLst/>
          </a:prstGeom>
          <a:solidFill>
            <a:srgbClr val="EEE8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228640-98B1-41AC-9013-ABE5EF2741A8}"/>
              </a:ext>
            </a:extLst>
          </p:cNvPr>
          <p:cNvSpPr>
            <a:spLocks noGrp="1"/>
          </p:cNvSpPr>
          <p:nvPr/>
        </p:nvSpPr>
        <p:spPr>
          <a:xfrm>
            <a:off x="7429500" y="5267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BO: разведка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F28D2A9-C230-4DA1-A49F-CF1035573524}"/>
              </a:ext>
            </a:extLst>
          </p:cNvPr>
          <p:cNvSpPr>
            <a:spLocks noGrp="1"/>
          </p:cNvSpPr>
          <p:nvPr/>
        </p:nvSpPr>
        <p:spPr>
          <a:xfrm>
            <a:off x="9525000" y="5191125"/>
            <a:ext cx="1809750" cy="361950"/>
          </a:xfrm>
          <a:prstGeom prst="rect">
            <a:avLst/>
          </a:prstGeom>
          <a:solidFill>
            <a:srgbClr val="E8F5E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0A7B7D6-0363-43F8-9787-8E977B79C96C}"/>
              </a:ext>
            </a:extLst>
          </p:cNvPr>
          <p:cNvSpPr>
            <a:spLocks noGrp="1"/>
          </p:cNvSpPr>
          <p:nvPr/>
        </p:nvSpPr>
        <p:spPr>
          <a:xfrm>
            <a:off x="9620250" y="5267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RS: baseline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C6EE597-1535-41D8-84B7-28FB079B8C82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C0FFB95-28C6-45E5-A93C-0D9BDF95C471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820C243-BB08-44E3-A633-74F91E3097E4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99E3D1F-67D3-4077-A3D0-8EA2DF418934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4B48D4F-7B93-49E8-BF46-55D15B9E6C6C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12E7EBF-2E68-4333-9FFC-61C9D8FBEB5B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13/1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F020CEF-6BB2-4D55-BECA-0BEE641C1DBC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61977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C96F83-29DA-42EC-B2A6-5FFDD2EA2B1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F85A12-2F68-41BC-AE33-E1ABF1E9B490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НОВИЗНА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362C32-09AB-477A-9D7B-4F45359266FD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Выбор B1/B2 рассмотрен как воспроизводимая black-box оптимизация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482BA44-6727-43ED-AFCC-1094291BFEF8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952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2F8D35-35F4-4FFB-927B-CF6985AB9F4C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57150" cy="15240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85418A-DC2E-4A0D-A2F0-03105FB596FA}"/>
              </a:ext>
            </a:extLst>
          </p:cNvPr>
          <p:cNvSpPr>
            <a:spLocks noGrp="1"/>
          </p:cNvSpPr>
          <p:nvPr/>
        </p:nvSpPr>
        <p:spPr>
          <a:xfrm>
            <a:off x="1085850" y="214312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ФОРМАЛИЗАЦИЯ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DA31D9-4203-40AF-BC34-362733075A73}"/>
              </a:ext>
            </a:extLst>
          </p:cNvPr>
          <p:cNvSpPr>
            <a:spLocks noGrp="1"/>
          </p:cNvSpPr>
          <p:nvPr/>
        </p:nvSpPr>
        <p:spPr>
          <a:xfrm>
            <a:off x="1085850" y="2466975"/>
            <a:ext cx="2552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B1/B2 задаются как переменные constrained black-box задачи с шумной эмпирической оценкой.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74168E-572F-426A-B04D-B09124D4CD5A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2952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64FEAD-ED60-4345-8012-8B8215EF3A2B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57150" cy="15240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3756D0-E3A7-4C7C-AC11-BE5A9C151C67}"/>
              </a:ext>
            </a:extLst>
          </p:cNvPr>
          <p:cNvSpPr>
            <a:spLocks noGrp="1"/>
          </p:cNvSpPr>
          <p:nvPr/>
        </p:nvSpPr>
        <p:spPr>
          <a:xfrm>
            <a:off x="4848225" y="214312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СРАВНЕНИЕ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2E8A05F-EB27-4332-BEF2-AB11BAFF08D5}"/>
              </a:ext>
            </a:extLst>
          </p:cNvPr>
          <p:cNvSpPr>
            <a:spLocks noGrp="1"/>
          </p:cNvSpPr>
          <p:nvPr/>
        </p:nvSpPr>
        <p:spPr>
          <a:xfrm>
            <a:off x="4848225" y="2466975"/>
            <a:ext cx="2552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Пять эвристических методов сопоставлены в едином воспроизводимом pipeline.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EC549AC-6166-4019-AF54-3724F771C24A}"/>
              </a:ext>
            </a:extLst>
          </p:cNvPr>
          <p:cNvSpPr>
            <a:spLocks noGrp="1"/>
          </p:cNvSpPr>
          <p:nvPr/>
        </p:nvSpPr>
        <p:spPr>
          <a:xfrm>
            <a:off x="8382000" y="1952625"/>
            <a:ext cx="2952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3E2D4A-A49F-4113-AEEB-E54F4C55B23E}"/>
              </a:ext>
            </a:extLst>
          </p:cNvPr>
          <p:cNvSpPr>
            <a:spLocks noGrp="1"/>
          </p:cNvSpPr>
          <p:nvPr/>
        </p:nvSpPr>
        <p:spPr>
          <a:xfrm>
            <a:off x="8382000" y="1952625"/>
            <a:ext cx="57150" cy="152400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9E8EC51-847E-44BF-907A-53C922CD1E25}"/>
              </a:ext>
            </a:extLst>
          </p:cNvPr>
          <p:cNvSpPr>
            <a:spLocks noGrp="1"/>
          </p:cNvSpPr>
          <p:nvPr/>
        </p:nvSpPr>
        <p:spPr>
          <a:xfrm>
            <a:off x="8610600" y="214312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ВАЛИДАЦИЯ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A4E880B-F199-4458-9D7F-579166E0AB9F}"/>
              </a:ext>
            </a:extLst>
          </p:cNvPr>
          <p:cNvSpPr>
            <a:spLocks noGrp="1"/>
          </p:cNvSpPr>
          <p:nvPr/>
        </p:nvSpPr>
        <p:spPr>
          <a:xfrm>
            <a:off x="8610600" y="2466975"/>
            <a:ext cx="2552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Итоговые параметры проверены на независимой контрольной выборке.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2074A35-BD24-44DE-BAA8-48A9A05A10CA}"/>
              </a:ext>
            </a:extLst>
          </p:cNvPr>
          <p:cNvSpPr>
            <a:spLocks noGrp="1"/>
          </p:cNvSpPr>
          <p:nvPr/>
        </p:nvSpPr>
        <p:spPr>
          <a:xfrm>
            <a:off x="1285875" y="4476750"/>
            <a:ext cx="9620250" cy="922592"/>
          </a:xfrm>
          <a:prstGeom prst="rect">
            <a:avLst/>
          </a:prstGeom>
          <a:solidFill>
            <a:srgbClr val="E8F5EA"/>
          </a:solidFill>
          <a:ln w="0">
            <a:solidFill>
              <a:srgbClr val="E8F5EA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53D8AF-18F7-4615-BE24-9CB7206216FF}"/>
              </a:ext>
            </a:extLst>
          </p:cNvPr>
          <p:cNvSpPr>
            <a:spLocks noGrp="1"/>
          </p:cNvSpPr>
          <p:nvPr/>
        </p:nvSpPr>
        <p:spPr>
          <a:xfrm>
            <a:off x="1571625" y="4629150"/>
            <a:ext cx="904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4412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244128"/>
                </a:solidFill>
                <a:latin typeface="Onest"/>
                <a:ea typeface="Onest"/>
                <a:cs typeface="Onest"/>
              </a:rPr>
              <a:t>Теоретическая значимость: параметры ECM описаны как объект автоматической конфигурации алгоритма.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8DF80CC-6875-4B2D-929D-EA5F5A4CCFB8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12DB43-CB50-42CD-A87D-8335B8C0527C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CA4F499-4934-4F14-A50F-7C4436BB9D4F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6BC7E0D-2E54-4A0A-8C63-ED4351C0C878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B78201F-E75C-40C8-BE12-CB726A4B28DB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9F35680-2232-40AF-878E-A04FEE696764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14/1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576C68D-0C56-43B7-A24E-EA6F0B001CCE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97858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964A30-ECC9-4EE1-8DCC-D0F9897BCB6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EB00EC-E0D4-4A0B-9929-3C5EFD53817D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ПРАКТИЧЕСКАЯ ЗНАЧИМОСТЬ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7A2C2D-0944-4BA0-92F5-9314C5C1E981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Результат работы — процедура и инструмент локальной настройки ECM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C82362-F237-45DD-9F08-D4604F0CA917}"/>
              </a:ext>
            </a:extLst>
          </p:cNvPr>
          <p:cNvSpPr>
            <a:spLocks noGrp="1"/>
          </p:cNvSpPr>
          <p:nvPr/>
        </p:nvSpPr>
        <p:spPr>
          <a:xfrm>
            <a:off x="1066800" y="1885950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E99C7-61B4-451D-A08D-EDE19F53F0FF}"/>
              </a:ext>
            </a:extLst>
          </p:cNvPr>
          <p:cNvSpPr>
            <a:spLocks noGrp="1"/>
          </p:cNvSpPr>
          <p:nvPr/>
        </p:nvSpPr>
        <p:spPr>
          <a:xfrm>
            <a:off x="1295400" y="18097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Разработан Python-пакет ecm_optimizer.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24B5819-3CA7-4A70-BC75-17A55CFD859B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DE5B02-BCD7-4A7F-96ED-B5865740F932}"/>
              </a:ext>
            </a:extLst>
          </p:cNvPr>
          <p:cNvSpPr>
            <a:spLocks noGrp="1"/>
          </p:cNvSpPr>
          <p:nvPr/>
        </p:nvSpPr>
        <p:spPr>
          <a:xfrm>
            <a:off x="1295400" y="23050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Поддержаны generate, optimize, validate, run-plan и analyze.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1B37790-8F07-411A-9F9D-B5D33289CC9B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4BA5C4A-E861-4E7C-A3DA-7E9C0BF93C03}"/>
              </a:ext>
            </a:extLst>
          </p:cNvPr>
          <p:cNvSpPr>
            <a:spLocks noGrp="1"/>
          </p:cNvSpPr>
          <p:nvPr/>
        </p:nvSpPr>
        <p:spPr>
          <a:xfrm>
            <a:off x="1295400" y="28003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Сохраняются JSON, CSV, PNG и Markdown-артефакты.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D7CC9C-1F47-4AE0-9EB7-F0E414E5326F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DC64333-88C8-48C9-8F6D-074A7C729E9A}"/>
              </a:ext>
            </a:extLst>
          </p:cNvPr>
          <p:cNvSpPr>
            <a:spLocks noGrp="1"/>
          </p:cNvSpPr>
          <p:nvPr/>
        </p:nvSpPr>
        <p:spPr>
          <a:xfrm>
            <a:off x="1295400" y="32956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Процедура переносима на новые классы чисел после проверки.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B53E74F-3BD9-464F-BC45-0E21BB9A93D8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095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DE0E0E-2854-453F-B6C6-E91B389DC19C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57150" cy="10477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A538A80-F652-4729-BF13-26FCBEAD3EEC}"/>
              </a:ext>
            </a:extLst>
          </p:cNvPr>
          <p:cNvSpPr>
            <a:spLocks noGrp="1"/>
          </p:cNvSpPr>
          <p:nvPr/>
        </p:nvSpPr>
        <p:spPr>
          <a:xfrm>
            <a:off x="7086600" y="1905000"/>
            <a:ext cx="3695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РЕКОМЕНДАЦИЯ 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0D48EA-83D6-44C4-B401-11B3DCA9D66B}"/>
              </a:ext>
            </a:extLst>
          </p:cNvPr>
          <p:cNvSpPr>
            <a:spLocks noGrp="1"/>
          </p:cNvSpPr>
          <p:nvPr/>
        </p:nvSpPr>
        <p:spPr>
          <a:xfrm>
            <a:off x="7086600" y="2228850"/>
            <a:ext cx="3695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GMP-ECM как стартовый эталон.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8FD73F1-E22E-4C8C-9FF0-9FF4D6887F47}"/>
              </a:ext>
            </a:extLst>
          </p:cNvPr>
          <p:cNvSpPr>
            <a:spLocks noGrp="1"/>
          </p:cNvSpPr>
          <p:nvPr/>
        </p:nvSpPr>
        <p:spPr>
          <a:xfrm>
            <a:off x="6858000" y="3000375"/>
            <a:ext cx="4095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50F33EE-5733-4253-9DD6-5ABE1E17239A}"/>
              </a:ext>
            </a:extLst>
          </p:cNvPr>
          <p:cNvSpPr>
            <a:spLocks noGrp="1"/>
          </p:cNvSpPr>
          <p:nvPr/>
        </p:nvSpPr>
        <p:spPr>
          <a:xfrm>
            <a:off x="6858000" y="3000375"/>
            <a:ext cx="57150" cy="10477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DA814B0-DC16-4D62-87BE-AAE5A9157C08}"/>
              </a:ext>
            </a:extLst>
          </p:cNvPr>
          <p:cNvSpPr>
            <a:spLocks noGrp="1"/>
          </p:cNvSpPr>
          <p:nvPr/>
        </p:nvSpPr>
        <p:spPr>
          <a:xfrm>
            <a:off x="7086600" y="3190875"/>
            <a:ext cx="3695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РЕКОМЕНДАЦИЯ 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D44E28D-FEBC-4216-908A-EAC5C7BC3EEB}"/>
              </a:ext>
            </a:extLst>
          </p:cNvPr>
          <p:cNvSpPr>
            <a:spLocks noGrp="1"/>
          </p:cNvSpPr>
          <p:nvPr/>
        </p:nvSpPr>
        <p:spPr>
          <a:xfrm>
            <a:off x="7086600" y="3514725"/>
            <a:ext cx="3695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Сначала широкий поиск, затем уточнение.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069477E-E14A-49E5-AE6C-0AE65F9BA199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4095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5CE5750-6B8A-4A54-9D47-DCA12521F02B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57150" cy="10477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40A4066-5337-47C8-B015-2A3935BF807A}"/>
              </a:ext>
            </a:extLst>
          </p:cNvPr>
          <p:cNvSpPr>
            <a:spLocks noGrp="1"/>
          </p:cNvSpPr>
          <p:nvPr/>
        </p:nvSpPr>
        <p:spPr>
          <a:xfrm>
            <a:off x="7086600" y="4476750"/>
            <a:ext cx="3695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РЕКОМЕНДАЦИЯ 3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681ECC-C077-4FB6-98B6-295C04B1559B}"/>
              </a:ext>
            </a:extLst>
          </p:cNvPr>
          <p:cNvSpPr>
            <a:spLocks noGrp="1"/>
          </p:cNvSpPr>
          <p:nvPr/>
        </p:nvSpPr>
        <p:spPr>
          <a:xfrm>
            <a:off x="7086600" y="4800600"/>
            <a:ext cx="3695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Проверять параметры на control-наборе.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A9F2FA8-D6AD-4335-8B25-F968DE3E91DE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1C32905-761B-45CF-9045-C71868D56E83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E398689-39E2-4088-847A-22578AE104D0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D882D09-0C15-4CEB-92D0-410F33A4B41B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01B276-54AA-4FF9-A218-162BD5A1DC77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BF78AA8-6E60-4C6F-97B5-02E611CDCEF2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15/1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EB79B3B-A855-4EFB-9F41-CE3F8B5F8DD6}"/>
              </a:ext>
            </a:extLst>
          </p:cNvPr>
          <p:cNvSpPr>
            <a:spLocks noGrp="1"/>
          </p:cNvSpPr>
          <p:nvPr/>
        </p:nvSpPr>
        <p:spPr>
          <a:xfrm>
            <a:off x="514350" y="6304429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подбора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параметров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алгоритма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факторизации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больших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чисел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с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применением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кривых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на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основе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эвристических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методов</a:t>
            </a:r>
            <a:r>
              <a:rPr sz="1600" b="0" dirty="0">
                <a:solidFill>
                  <a:srgbClr val="58606B"/>
                </a:solidFill>
                <a:latin typeface="Onest"/>
                <a:ea typeface="Onest"/>
                <a:cs typeface="Onest"/>
              </a:rPr>
              <a:t> </a:t>
            </a:r>
            <a:r>
              <a:rPr sz="1600" b="0" dirty="0" err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оптимизации</a:t>
            </a:r>
            <a:endParaRPr sz="1600" b="0" dirty="0">
              <a:solidFill>
                <a:srgbClr val="58606B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982123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C684AB-4109-4FA0-82D7-2D18AB78A57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60B9AF-C13A-4FBC-89F9-218E971B1ACE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АПРОБАЦИЯ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7CEAC7-8F64-4CF9-94F4-AEB677C5431D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Апробация результатов является экспериментальной и программной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8B09DF-EFBC-440A-AB52-94B47FBD97DA}"/>
              </a:ext>
            </a:extLst>
          </p:cNvPr>
          <p:cNvSpPr>
            <a:spLocks noGrp="1"/>
          </p:cNvSpPr>
          <p:nvPr/>
        </p:nvSpPr>
        <p:spPr>
          <a:xfrm>
            <a:off x="904875" y="2421166"/>
            <a:ext cx="4572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D5C35F-6A68-41E3-B36E-3C0FBDA7A143}"/>
              </a:ext>
            </a:extLst>
          </p:cNvPr>
          <p:cNvSpPr>
            <a:spLocks noGrp="1"/>
          </p:cNvSpPr>
          <p:nvPr/>
        </p:nvSpPr>
        <p:spPr>
          <a:xfrm>
            <a:off x="904875" y="2421166"/>
            <a:ext cx="57150" cy="19050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0076F0E-7B58-4307-8CC1-797B06245005}"/>
              </a:ext>
            </a:extLst>
          </p:cNvPr>
          <p:cNvSpPr>
            <a:spLocks noGrp="1"/>
          </p:cNvSpPr>
          <p:nvPr/>
        </p:nvSpPr>
        <p:spPr>
          <a:xfrm>
            <a:off x="1133475" y="2611666"/>
            <a:ext cx="417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ЭКСПЕРИМЕНТАЛЬНАЯ АПРОБАЦИЯ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FD46AE-55AF-4B6E-99D7-D98B3B27E6CC}"/>
              </a:ext>
            </a:extLst>
          </p:cNvPr>
          <p:cNvSpPr>
            <a:spLocks noGrp="1"/>
          </p:cNvSpPr>
          <p:nvPr/>
        </p:nvSpPr>
        <p:spPr>
          <a:xfrm>
            <a:off x="1133475" y="2935516"/>
            <a:ext cx="41719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Запуски выполнены на ресурсах СКЦ СПбПУ в среде SLURM. Параметры проверены на независимой выборке.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7B4BE4-DDD4-41BC-9A2D-C81BBA734905}"/>
              </a:ext>
            </a:extLst>
          </p:cNvPr>
          <p:cNvSpPr>
            <a:spLocks noGrp="1"/>
          </p:cNvSpPr>
          <p:nvPr/>
        </p:nvSpPr>
        <p:spPr>
          <a:xfrm>
            <a:off x="6191250" y="2421166"/>
            <a:ext cx="4572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23890C6-98FD-4F08-AB7C-D5FFA70A7168}"/>
              </a:ext>
            </a:extLst>
          </p:cNvPr>
          <p:cNvSpPr>
            <a:spLocks noGrp="1"/>
          </p:cNvSpPr>
          <p:nvPr/>
        </p:nvSpPr>
        <p:spPr>
          <a:xfrm>
            <a:off x="6191250" y="2421166"/>
            <a:ext cx="57150" cy="19050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05DE06A-628E-4694-BA04-11AE340D371A}"/>
              </a:ext>
            </a:extLst>
          </p:cNvPr>
          <p:cNvSpPr>
            <a:spLocks noGrp="1"/>
          </p:cNvSpPr>
          <p:nvPr/>
        </p:nvSpPr>
        <p:spPr>
          <a:xfrm>
            <a:off x="6419850" y="2611666"/>
            <a:ext cx="417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ПРОГРАММНАЯ АПРОБАЦИЯ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7F1A92-0541-45F0-A652-4FDEE70F0D18}"/>
              </a:ext>
            </a:extLst>
          </p:cNvPr>
          <p:cNvSpPr>
            <a:spLocks noGrp="1"/>
          </p:cNvSpPr>
          <p:nvPr/>
        </p:nvSpPr>
        <p:spPr>
          <a:xfrm>
            <a:off x="6419850" y="2935516"/>
            <a:ext cx="41719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Pipeline проверен от генерации данных до анализа. Сохраняются seed, параметры, отчеты, таблицы и графики.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43B82B9-6D23-4F44-B4ED-C88302F1BAF2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914E4CB-03D7-4846-BEED-5B020B399CBA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1079585-13E8-4A3D-923C-BB1F3F06AE31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7E2583A-3BDB-4966-AB99-5113D6D48BF0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E1E2E1E-61EC-48A2-9C71-DC9F9175BA8B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C1DCF9-CC8B-4143-AA5C-F36551F1D19E}"/>
              </a:ext>
            </a:extLst>
          </p:cNvPr>
          <p:cNvSpPr>
            <a:spLocks noGrp="1"/>
          </p:cNvSpPr>
          <p:nvPr/>
        </p:nvSpPr>
        <p:spPr>
          <a:xfrm>
            <a:off x="514350" y="6248400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 подбора параметров алгоритма факторизации больших чисел с применением</a:t>
            </a: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 кривых на основе эвристических методов оптимизации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3113A1C-C059-4FC7-B638-DA661E9DB38E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16/1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1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BD6283-F1AC-4FD6-B664-6BA35901EDB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D2FE32-BAF9-4F02-9A97-61D3D370DF19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ВЫВОДЫ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C35F88-342C-41CB-995F-07C7A6C1C453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Цель достигнута: система разработана, проверена и дала улучшение эталона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5FE162E-1B4A-4184-82AE-85BFA06EFB73}"/>
              </a:ext>
            </a:extLst>
          </p:cNvPr>
          <p:cNvSpPr>
            <a:spLocks noGrp="1"/>
          </p:cNvSpPr>
          <p:nvPr/>
        </p:nvSpPr>
        <p:spPr>
          <a:xfrm>
            <a:off x="1333500" y="185737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83FF3C-9944-462F-8C1C-1051C19E281C}"/>
              </a:ext>
            </a:extLst>
          </p:cNvPr>
          <p:cNvSpPr>
            <a:spLocks noGrp="1"/>
          </p:cNvSpPr>
          <p:nvPr/>
        </p:nvSpPr>
        <p:spPr>
          <a:xfrm>
            <a:off x="1524000" y="199072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-25,14%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21DE97-6813-41FD-B523-9522A5D86097}"/>
              </a:ext>
            </a:extLst>
          </p:cNvPr>
          <p:cNvSpPr>
            <a:spLocks noGrp="1"/>
          </p:cNvSpPr>
          <p:nvPr/>
        </p:nvSpPr>
        <p:spPr>
          <a:xfrm>
            <a:off x="1524000" y="23526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валидационная метрика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8E3A5C-A152-4C30-B027-26C5D037AAD0}"/>
              </a:ext>
            </a:extLst>
          </p:cNvPr>
          <p:cNvSpPr>
            <a:spLocks noGrp="1"/>
          </p:cNvSpPr>
          <p:nvPr/>
        </p:nvSpPr>
        <p:spPr>
          <a:xfrm>
            <a:off x="4905375" y="185737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5FBAAA5-47C8-434E-8532-97B08817C4B6}"/>
              </a:ext>
            </a:extLst>
          </p:cNvPr>
          <p:cNvSpPr>
            <a:spLocks noGrp="1"/>
          </p:cNvSpPr>
          <p:nvPr/>
        </p:nvSpPr>
        <p:spPr>
          <a:xfrm>
            <a:off x="5095875" y="199072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-21,04%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E4CA3C-DDEA-4CBB-BD41-597C27E01FFD}"/>
              </a:ext>
            </a:extLst>
          </p:cNvPr>
          <p:cNvSpPr>
            <a:spLocks noGrp="1"/>
          </p:cNvSpPr>
          <p:nvPr/>
        </p:nvSpPr>
        <p:spPr>
          <a:xfrm>
            <a:off x="5095875" y="23526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среднее время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32CCA7D-F89A-49B8-B429-736877868A79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AC4A33-21F4-4751-9AD6-BF1FDC56518C}"/>
              </a:ext>
            </a:extLst>
          </p:cNvPr>
          <p:cNvSpPr>
            <a:spLocks noGrp="1"/>
          </p:cNvSpPr>
          <p:nvPr/>
        </p:nvSpPr>
        <p:spPr>
          <a:xfrm>
            <a:off x="8667750" y="199072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-62,42%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46C3BF-2CDA-4AC4-94F4-961144A0CD0C}"/>
              </a:ext>
            </a:extLst>
          </p:cNvPr>
          <p:cNvSpPr>
            <a:spLocks noGrp="1"/>
          </p:cNvSpPr>
          <p:nvPr/>
        </p:nvSpPr>
        <p:spPr>
          <a:xfrm>
            <a:off x="8667750" y="23526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число кривых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5C477B-4266-4814-8039-7D5E19B5CCBD}"/>
              </a:ext>
            </a:extLst>
          </p:cNvPr>
          <p:cNvSpPr>
            <a:spLocks noGrp="1"/>
          </p:cNvSpPr>
          <p:nvPr/>
        </p:nvSpPr>
        <p:spPr>
          <a:xfrm>
            <a:off x="1619250" y="3362325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01CAFF5-87ED-454D-898B-A04247D8C279}"/>
              </a:ext>
            </a:extLst>
          </p:cNvPr>
          <p:cNvSpPr>
            <a:spLocks noGrp="1"/>
          </p:cNvSpPr>
          <p:nvPr/>
        </p:nvSpPr>
        <p:spPr>
          <a:xfrm>
            <a:off x="1847850" y="3286125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Формализована black-box постановка выбора B1/B2.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8D92FFD-1FFF-46BF-BDB1-D1E8F265B23C}"/>
              </a:ext>
            </a:extLst>
          </p:cNvPr>
          <p:cNvSpPr>
            <a:spLocks noGrp="1"/>
          </p:cNvSpPr>
          <p:nvPr/>
        </p:nvSpPr>
        <p:spPr>
          <a:xfrm>
            <a:off x="1619250" y="3819525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FBFAE7-C777-4CA7-B0A0-A89199A1FAEB}"/>
              </a:ext>
            </a:extLst>
          </p:cNvPr>
          <p:cNvSpPr>
            <a:spLocks noGrp="1"/>
          </p:cNvSpPr>
          <p:nvPr/>
        </p:nvSpPr>
        <p:spPr>
          <a:xfrm>
            <a:off x="1847850" y="3743325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Реализован pipeline генерации, оптимизации, валидации и анализа.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6072E17-1CD4-4E62-9ECA-203DDB01A3DE}"/>
              </a:ext>
            </a:extLst>
          </p:cNvPr>
          <p:cNvSpPr>
            <a:spLocks noGrp="1"/>
          </p:cNvSpPr>
          <p:nvPr/>
        </p:nvSpPr>
        <p:spPr>
          <a:xfrm>
            <a:off x="1619250" y="4276725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3244C08-F7F2-455A-B04A-D86110BA872C}"/>
              </a:ext>
            </a:extLst>
          </p:cNvPr>
          <p:cNvSpPr>
            <a:spLocks noGrp="1"/>
          </p:cNvSpPr>
          <p:nvPr/>
        </p:nvSpPr>
        <p:spPr>
          <a:xfrm>
            <a:off x="1847850" y="4200525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Сравнены RS, DE, GA, PSO и BO при едином протоколе.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A10AC8-9324-4BD2-8E56-65BC60008E56}"/>
              </a:ext>
            </a:extLst>
          </p:cNvPr>
          <p:cNvSpPr>
            <a:spLocks noGrp="1"/>
          </p:cNvSpPr>
          <p:nvPr/>
        </p:nvSpPr>
        <p:spPr>
          <a:xfrm>
            <a:off x="1619250" y="4733925"/>
            <a:ext cx="76200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71A8147-8051-418D-9D8E-64B6E5247D79}"/>
              </a:ext>
            </a:extLst>
          </p:cNvPr>
          <p:cNvSpPr>
            <a:spLocks noGrp="1"/>
          </p:cNvSpPr>
          <p:nvPr/>
        </p:nvSpPr>
        <p:spPr>
          <a:xfrm>
            <a:off x="1847850" y="4657725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Справочные параметры GMP-ECM улучшены для 20-значных делителей.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DC08BDE-E05D-402A-B18B-CC58EC06CF2E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B813009-DDF6-4511-999E-C45BBD77A887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CC26639-6D68-4105-8A8D-5DE02947AC3F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1489836-3DA8-4197-85E3-D463D8A6CD94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77A63EE-7283-4C95-9B1D-8FF0C869E6A2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AA16A0-5FFE-4B5D-BB86-BFEF3DB8F513}"/>
              </a:ext>
            </a:extLst>
          </p:cNvPr>
          <p:cNvSpPr>
            <a:spLocks noGrp="1"/>
          </p:cNvSpPr>
          <p:nvPr/>
        </p:nvSpPr>
        <p:spPr>
          <a:xfrm>
            <a:off x="514350" y="6248400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 подбора параметров алгоритма факторизации больших чисел с применением</a:t>
            </a: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 кривых на основе эвристических методов оптимизации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642D871-431B-4914-981E-A6CBE6606303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17/1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22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00F8AC-21A0-407B-A0A6-7143D01DAAF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476250" cy="47625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EE06E8-39EA-41A8-8EDF-5CC03762E936}"/>
              </a:ext>
            </a:extLst>
          </p:cNvPr>
          <p:cNvSpPr>
            <a:spLocks noGrp="1"/>
          </p:cNvSpPr>
          <p:nvPr/>
        </p:nvSpPr>
        <p:spPr>
          <a:xfrm>
            <a:off x="1104900" y="285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8606B"/>
                </a:solidFill>
                <a:latin typeface="Onest"/>
                <a:ea typeface="Onest"/>
                <a:cs typeface="Onest"/>
              </a:rPr>
              <a:t>ПЕРСПЕКТИВЫ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BF50C9-8E4D-44E1-8582-82354031111C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8477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15181F"/>
                </a:solidFill>
                <a:latin typeface="Onest"/>
                <a:ea typeface="Onest"/>
                <a:cs typeface="Onest"/>
              </a:rPr>
              <a:t>Следующий шаг — проверить переносимость результата за пределами 20-значных делителей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E88175-40CE-4B78-AE68-3EE104F06225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D604D7-640C-4BD1-AD3C-0A10E66B1D79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57150" cy="9334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82EE99-15C2-4265-A842-9D4C299871F6}"/>
              </a:ext>
            </a:extLst>
          </p:cNvPr>
          <p:cNvSpPr>
            <a:spLocks noGrp="1"/>
          </p:cNvSpPr>
          <p:nvPr/>
        </p:nvSpPr>
        <p:spPr>
          <a:xfrm>
            <a:off x="1085850" y="19050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РАЗМЕРЫ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2A9C363-F2B1-4077-8CCE-4166289CB977}"/>
              </a:ext>
            </a:extLst>
          </p:cNvPr>
          <p:cNvSpPr>
            <a:spLocks noGrp="1"/>
          </p:cNvSpPr>
          <p:nvPr/>
        </p:nvSpPr>
        <p:spPr>
          <a:xfrm>
            <a:off x="1085850" y="22288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25-, 30-, 35-значные и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более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крупные</a:t>
            </a:r>
            <a:r>
              <a:rPr sz="1800" b="0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5181F"/>
                </a:solidFill>
                <a:latin typeface="Onest"/>
                <a:ea typeface="Onest"/>
                <a:cs typeface="Onest"/>
              </a:rPr>
              <a:t>делители</a:t>
            </a:r>
            <a:endParaRPr sz="1800" b="0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22BC9A-35E3-4739-82BE-A380BBFE4AEF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E0E198F-9883-4E28-AAC1-BCA9B4698750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57150" cy="9334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8A87605-E5CD-44E8-8EFA-4B60D99D01B5}"/>
              </a:ext>
            </a:extLst>
          </p:cNvPr>
          <p:cNvSpPr>
            <a:spLocks noGrp="1"/>
          </p:cNvSpPr>
          <p:nvPr/>
        </p:nvSpPr>
        <p:spPr>
          <a:xfrm>
            <a:off x="6610350" y="19050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КЛАССЫ ЧИСЕЛ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6081206-9E47-46A6-8D75-811272DBDECC}"/>
              </a:ext>
            </a:extLst>
          </p:cNvPr>
          <p:cNvSpPr>
            <a:spLocks noGrp="1"/>
          </p:cNvSpPr>
          <p:nvPr/>
        </p:nvSpPr>
        <p:spPr>
          <a:xfrm>
            <a:off x="6610350" y="22288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Мерсенна, Ферма, s^n +/- 1, реальные NFS-кофакторы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022DDEE-E85B-4A2F-8472-7AD9B767562A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36C652-39AA-471F-A754-4FA1F9A573C0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57150" cy="9334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CDE8C63-B9E0-4DAF-A84B-40F2A11202F5}"/>
              </a:ext>
            </a:extLst>
          </p:cNvPr>
          <p:cNvSpPr>
            <a:spLocks noGrp="1"/>
          </p:cNvSpPr>
          <p:nvPr/>
        </p:nvSpPr>
        <p:spPr>
          <a:xfrm>
            <a:off x="1085850" y="29718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ПЕРЕНОСИМОСТЬ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5E5424A-E859-4903-8812-6243BBC9E8DE}"/>
              </a:ext>
            </a:extLst>
          </p:cNvPr>
          <p:cNvSpPr>
            <a:spLocks noGrp="1"/>
          </p:cNvSpPr>
          <p:nvPr/>
        </p:nvSpPr>
        <p:spPr>
          <a:xfrm>
            <a:off x="1085850" y="32956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разные платформы и версии GMP-ECM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5024B3-337D-4F20-A584-B19481D2A3C3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2605D1-C9FC-4194-A355-0DD91D35DF23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57150" cy="93345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2C24AEE-D259-4876-A42E-17E8461BB047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287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522878"/>
                </a:solidFill>
                <a:latin typeface="Onest"/>
                <a:ea typeface="Onest"/>
                <a:cs typeface="Onest"/>
              </a:rPr>
              <a:t>СТАТИСТИКА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3CB1233-9E3B-42C3-B080-CA8E63877820}"/>
              </a:ext>
            </a:extLst>
          </p:cNvPr>
          <p:cNvSpPr>
            <a:spLocks noGrp="1"/>
          </p:cNvSpPr>
          <p:nvPr/>
        </p:nvSpPr>
        <p:spPr>
          <a:xfrm>
            <a:off x="6610350" y="32956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больше seed и независимых control-наборов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AE0F841-8BFB-4546-B2B4-23A8E26B60A1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E50AF81-0AF0-4C53-8C46-88054AE86BC9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57150" cy="93345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3C81656-38E8-42DE-B5E4-BBC75AFF2589}"/>
              </a:ext>
            </a:extLst>
          </p:cNvPr>
          <p:cNvSpPr>
            <a:spLocks noGrp="1"/>
          </p:cNvSpPr>
          <p:nvPr/>
        </p:nvSpPr>
        <p:spPr>
          <a:xfrm>
            <a:off x="1085850" y="40386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7B34A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37B34A"/>
                </a:solidFill>
                <a:latin typeface="Onest"/>
                <a:ea typeface="Onest"/>
                <a:cs typeface="Onest"/>
              </a:rPr>
              <a:t>СТОЙКОСТЬ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297EB1E-0FE6-41B9-AC9E-B13474460241}"/>
              </a:ext>
            </a:extLst>
          </p:cNvPr>
          <p:cNvSpPr>
            <a:spLocks noGrp="1"/>
          </p:cNvSpPr>
          <p:nvPr/>
        </p:nvSpPr>
        <p:spPr>
          <a:xfrm>
            <a:off x="1085850" y="43624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влияние на цель практической факторизации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ADA4DE-BB74-4E52-878B-B7B405F1EC05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4381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51DC39F-013C-46F1-992D-82BA20FCDA93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57150" cy="933450"/>
          </a:xfrm>
          <a:prstGeom prst="rect">
            <a:avLst/>
          </a:prstGeom>
          <a:solidFill>
            <a:srgbClr val="DA4927"/>
          </a:solidFill>
          <a:ln w="0">
            <a:solidFill>
              <a:srgbClr val="DA4927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9F197F5-629B-4F90-AAB3-9E79DA7F7D35}"/>
              </a:ext>
            </a:extLst>
          </p:cNvPr>
          <p:cNvSpPr>
            <a:spLocks noGrp="1"/>
          </p:cNvSpPr>
          <p:nvPr/>
        </p:nvSpPr>
        <p:spPr>
          <a:xfrm>
            <a:off x="6610350" y="4038600"/>
            <a:ext cx="398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A4927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DA4927"/>
                </a:solidFill>
                <a:latin typeface="Onest"/>
                <a:ea typeface="Onest"/>
                <a:cs typeface="Onest"/>
              </a:rPr>
              <a:t>АДАПТИВНОСТЬ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29C1C19-EFF2-4E93-8804-236FD91B276F}"/>
              </a:ext>
            </a:extLst>
          </p:cNvPr>
          <p:cNvSpPr>
            <a:spLocks noGrp="1"/>
          </p:cNvSpPr>
          <p:nvPr/>
        </p:nvSpPr>
        <p:spPr>
          <a:xfrm>
            <a:off x="6610350" y="4362450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5181F"/>
                </a:solidFill>
                <a:latin typeface="Onest"/>
                <a:ea typeface="Onest"/>
                <a:cs typeface="Onest"/>
              </a:rPr>
              <a:t>останов оптимизатора и бюджет поиска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AE0BCED-1D4A-4644-83AD-6C3D64C6E2B5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6B85EC2-19E4-48B1-BCE9-E3F0F47C14FA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2619375" cy="76200"/>
          </a:xfrm>
          <a:prstGeom prst="rect">
            <a:avLst/>
          </a:prstGeom>
          <a:solidFill>
            <a:srgbClr val="F39768"/>
          </a:solidFill>
          <a:ln w="0">
            <a:solidFill>
              <a:srgbClr val="F39768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F825E47-8226-4CF0-AC00-482BDAC5D29F}"/>
              </a:ext>
            </a:extLst>
          </p:cNvPr>
          <p:cNvSpPr>
            <a:spLocks noGrp="1"/>
          </p:cNvSpPr>
          <p:nvPr/>
        </p:nvSpPr>
        <p:spPr>
          <a:xfrm>
            <a:off x="2619375" y="5905500"/>
            <a:ext cx="3143250" cy="76200"/>
          </a:xfrm>
          <a:prstGeom prst="rect">
            <a:avLst/>
          </a:prstGeom>
          <a:solidFill>
            <a:srgbClr val="522878"/>
          </a:solidFill>
          <a:ln w="0">
            <a:solidFill>
              <a:srgbClr val="522878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8C24503-A54B-4E0B-87D9-3CA7FB14480E}"/>
              </a:ext>
            </a:extLst>
          </p:cNvPr>
          <p:cNvSpPr>
            <a:spLocks noGrp="1"/>
          </p:cNvSpPr>
          <p:nvPr/>
        </p:nvSpPr>
        <p:spPr>
          <a:xfrm>
            <a:off x="5762625" y="5905500"/>
            <a:ext cx="6429375" cy="76200"/>
          </a:xfrm>
          <a:prstGeom prst="rect">
            <a:avLst/>
          </a:prstGeom>
          <a:solidFill>
            <a:srgbClr val="37B34A"/>
          </a:solidFill>
          <a:ln w="0">
            <a:solidFill>
              <a:srgbClr val="37B34A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084C291-7022-47CF-9267-9FC5A395C7C8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Плеханов Егор Сергеевич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76525F6-3331-48DE-AB95-018AF7A114F6}"/>
              </a:ext>
            </a:extLst>
          </p:cNvPr>
          <p:cNvSpPr>
            <a:spLocks noGrp="1"/>
          </p:cNvSpPr>
          <p:nvPr/>
        </p:nvSpPr>
        <p:spPr>
          <a:xfrm>
            <a:off x="514350" y="6248400"/>
            <a:ext cx="981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Автоматизация подбора параметров алгоритма факторизации больших чисел с применением</a:t>
            </a:r>
          </a:p>
          <a:p>
            <a:pPr algn="l">
              <a:defRPr sz="1800" b="0">
                <a:solidFill>
                  <a:srgbClr val="58606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58606B"/>
                </a:solidFill>
                <a:latin typeface="Onest"/>
                <a:ea typeface="Onest"/>
                <a:cs typeface="Onest"/>
              </a:rPr>
              <a:t>эллиптических кривых на основе эвристических методов оптимизации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0401491-4D1C-4F82-A2DF-71D04926EF15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5181F"/>
                </a:solidFill>
                <a:latin typeface="Onest"/>
                <a:ea typeface="Onest"/>
                <a:cs typeface="Onest"/>
              </a:defRPr>
            </a:pPr>
            <a:r>
              <a:rPr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18/1</a:t>
            </a:r>
            <a:r>
              <a:rPr lang="ru-RU" sz="1800" b="1" dirty="0">
                <a:solidFill>
                  <a:srgbClr val="15181F"/>
                </a:solidFill>
                <a:latin typeface="Onest"/>
                <a:ea typeface="Onest"/>
                <a:cs typeface="Onest"/>
              </a:rPr>
              <a:t>8</a:t>
            </a:r>
            <a:endParaRPr sz="1800" b="1" dirty="0">
              <a:solidFill>
                <a:srgbClr val="15181F"/>
              </a:solidFill>
              <a:latin typeface="Onest"/>
              <a:ea typeface="Onest"/>
              <a:cs typeface="Onest"/>
            </a:endParaRP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72625" y="248984"/>
            <a:ext cx="2095500" cy="7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526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1390</Words>
  <Application>Microsoft Office PowerPoint</Application>
  <DocSecurity>0</DocSecurity>
  <PresentationFormat>Широкоэкранный</PresentationFormat>
  <Paragraphs>323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Calibri</vt:lpstr>
      <vt:lpstr>Onest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Егор Плеханов</cp:lastModifiedBy>
  <cp:revision>9</cp:revision>
  <dcterms:created xsi:type="dcterms:W3CDTF">2026-05-25T14:38:08Z</dcterms:created>
  <dcterms:modified xsi:type="dcterms:W3CDTF">2026-05-26T00:34:44Z</dcterms:modified>
</cp:coreProperties>
</file>