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7" d="100"/>
          <a:sy n="107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день, уважаемый председатель и уважаемые члены государственной экзаменационной комиссии.</a:t>
            </a:r>
            <a:br/>
            <a:br/>
            <a:r>
              <a:t>Вашему вниманию представляется выпускная квалификационная работа на тему: «Автоматизация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оптимизации».</a:t>
            </a:r>
            <a:br/>
            <a:br/>
            <a:r>
              <a:t>Руководитель кандидат физико-математических наук Пак Вадим Геннадьевич </a:t>
            </a:r>
            <a:br/>
            <a:br/>
            <a:r>
              <a:t>Работа посвящена автоматическому выбору параметров метода ECM, то есть метода факторизации на эллиптических кривых. Основной акцент сделан не на разработке новой реализации ECM, а на построении воспроизводимой системы, которая подбирает параметры существующей реализации GMP-ECM и проверяет выигрыш относительно справочных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Факторизация больших целых чисел является важной задачей вычислительной теории чисел и прикладной криптографии. В частности, стойкость RSA основана на предположении, что по произведению больших простых чисел трудно восстановить сами множители.</a:t>
            </a:r>
            <a:br/>
            <a:br/>
            <a:r>
              <a:t>На практике факторизация редко выполняется одним методом. Обычно используется цепочка алгоритмов: специализированные методы ищут малые и средние делители, а методы общего назначения, например квадратичное решето (QS, Quadratic Sieve) или общее решето числового поля (GNFS, General Number Field Sieve), применяются для более крупных кофакторов.</a:t>
            </a:r>
            <a:br/>
            <a:br/>
            <a:r>
              <a:t>Метод эллиптических кривых (ECM, Elliptic Curve Method) занимает в этой цепочке важное место, потому что эффективен при поиске сравнительно небольшого простого делителя в большом составном числе. Поэтому массовые ECM-запуски встречаются в предварительной факторизации, кофакторизации и распределённых вычислениях. Даже умеренное снижение времени или числа кривых в таких сценариях даёт заметную экономию ресурсов.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Цель работы состоит в разработке и исследовании программной системы, которая автоматически подбирает параметры ECM с использованием эвристических методов оптимизации и снижает эмпирическую оценку ожидаемой стоимости нахождения делителя по сравнению со справочными параметрами GMP-ECM.</a:t>
            </a:r>
            <a:br/>
            <a:br/>
            <a:r>
              <a:t>Для достижения цели были решены следующие задачи: проведен обзор алгоритмов факторизации и роли ECM, рассмотрено влияние параметров B1 и B2, подбор параметров формализован как стохастическая оптимизация «черного ящика», реализован программный pipeline, проведены вычислительные эксперименты и выполнено сравнение найденных параметров со справочными значениями GMP-ECM.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Объектом исследования является алгоритм факторизации целых чисел методом эллиптических кривых и его реализация в GMP-ECM.</a:t>
            </a:r>
            <a:br/>
            <a:br/>
            <a:r>
              <a:t>Предметом исследования является автоматизированный выбор параметров B1 и B2 с применением эвристических методов оптимизации.</a:t>
            </a:r>
            <a:br/>
            <a:br/>
            <a:r>
              <a:t>Исследовательская гипотеза состоит в следующем: если класс чисел, вычислительная среда и метрика качества заранее известны, то параметры B1 и B2 можно подобрать автоматически лучше справочных значений. При этом таблицы GMP-ECM рассматриваются как сильные базовые значения, а не как слабая точка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Метод ECM, или метод эллиптических кривых Ленстры, является вероятностным методом факторизации. Его идея состоит в использовании групп точек случайных эллиптических кривых. Успех одной кривой связан с гладкостью порядка группы по неизвестному простому делителю p.</a:t>
            </a:r>
            <a:br/>
            <a:br/>
            <a:r>
              <a:t>Ключевыми параметрами практического ECM являются B1 и B2. B1 задает границу первой стадии алгоритма, а B2 - границу второй стадии. Увеличение этих параметров повышает вероятность успеха одной кривой, но одновременно увеличивает стоимость ее обработки.</a:t>
            </a:r>
            <a:br/>
            <a:br/>
            <a:r>
              <a:t>Отсюда возникает основной компромисс: параметры должны обеспечивать не только высокую вероятность успеха, но и минимальную ожидаемую стоимость нахождения делителя.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работе рассматривается набор составных чисел. Управляемыми параметрами являются B1 и B2. Поскольку эти значения меняются на порядки, оптимизация выполняется в логарифмическом пространстве: кандидат задается как пара log10 от B1 и B2.</a:t>
            </a:r>
            <a:br/>
            <a:br/>
            <a:r>
              <a:t>На параметры накладываются ограничения: допустимые диапазоны B1 и B2, условие B1 меньше либо равно B2, а также ограничение на отношение B2 к B1. Это исключает некорректные и практически нецелесообразные конфигурации.</a:t>
            </a:r>
            <a:br/>
            <a:br/>
            <a:r>
              <a:t>Целевая функция не имеет простой аналитической формулы. Чтобы оценить одну пару параметров, необходимо запустить GMP-ECM на наборе чисел и измерить долю успеха, время и число кривых. Поэтому задача является дорогой стохастической оптимизацией «черного ящика».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Для сравнения параметров используется композитная метрика score. Она учитывает штраф за недостаточную долю успешных факторизаций, среднее время выполнения и среднее число кривых. Метрика минимизируется.</a:t>
            </a:r>
            <a:br/>
            <a:br/>
            <a:r>
              <a:t>Приоритет такой: сначала важно сохранить высокую долю успеха, затем снизить время, а затем число кривых. Это важно, потому что слишком малые параметры могут сделать отдельные запуски быстрыми, но ненадежными.</a:t>
            </a:r>
            <a:br/>
            <a:br/>
            <a:r>
              <a:t>Для проверки используется разделение на тренировочные и контрольные наборы. Оптимизатор подбирает параметры на тренировочном наборе, а итоговая оценка выполняется на независимом контрольном наборе. Это снижает риск переоценки результата из-за стохастичности ECM и самих оптимизаторов.</a:t>
            </a:r>
            <a:br/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работе использованы пять методов оптимизации.</a:t>
            </a:r>
            <a:br/>
            <a:br/>
            <a:r>
              <a:t>Случайный поиск (Random Search, RS) служит базовым ориентиром. Дифференциальная эволюция (Differential Evolution, DE) представляет популяционный направленный поиск. Генетический алгоритм (Genetic Algorithm, GA) использует селекцию, скрещивание, мутацию и элитизм. Роевой алгоритм, или метод роя частиц (Particle Swarm Optimization, PSO), моделирует движение частиц с учетом личного и коллективного опыта. Байесовская оптимизация (Bayesian Optimization, BO) строит суррогатную модель дорогой целевой функции.</a:t>
            </a:r>
            <a:br/>
            <a:br/>
            <a:r>
              <a:t>Такой набор позволяет сравнить разные стратегии поиска: простую случайную, эволюционную, роевую и суррогатную.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своей работе я опирался на Python 3, который стал основой моего исследовательского конвейра. Для реализации метода ECM я привлекал внешнюю библиотеку GMP-ECM, а численные расчёты и оптимизацию выполнял с помощью NumPy и SciPy. Визуализацию результатов я строил через Matplotlib, за удобный интерфейс командной строки отвечала библиотека Click. Весь код я контролировал в Git, а все ресурсоёмкие запуски выносил в HPC-среду под управлением SLURM.</a:t>
            </a:r>
            <a:br/>
            <a:br/>
            <a:r>
              <a:t>Практическим результатом работы является программный комплекс на Python, организованный как пакет ecm_optimizer.</a:t>
            </a:r>
            <a:br/>
            <a:br/>
            <a:r>
              <a:t>Система покрывает полный цикл эксперимента: генерацию датасетов, запуск GMP-ECM, расчет fitness, работу оптимизаторов, независимую валидацию и анализ результатов. Для управления реализованы CLI-команды generate, optimize, validate, run-plan и analyze.</a:t>
            </a:r>
            <a:br/>
            <a:br/>
            <a:r>
              <a:t>Архитектурно важно, что оптимизаторы не вызывают GMP-ECM напрямую. Они передают кандидатов в единый fitness evaluator, который по одинаковым правилам выполняет запуск и учет результатов. Это делает сравнение методов сопоставимым.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Эксперименты проводились на составных числах вида N равно p умножить на q. Целевой простой делитель p имел 20 десятичных цифр, а кофактор q - 30 десятичных цифр. Для каждого эксперимента формировались обучающая и контрольная выборки по 80 чисел.</a:t>
            </a:r>
            <a:br/>
            <a:br/>
            <a:r>
              <a:t>В качестве эталона использовались справочные параметры GMP-ECM для 20-значного делителя: B1 равно 11000 и B2 равно 1_900_000. Ожидаемое число кривых для такого режима составляет около 74.</a:t>
            </a:r>
            <a:br/>
            <a:br/>
            <a:r>
              <a:t>Методика включала два этапа: сначала широкие границы поиска для локализации перспективной области, затем уточненные границы с ограничением отношения B2 к B1. Основные расчеты были выполнены на ресурсах суперкомпьютерного центра СПбПУ с использованием SLURM системы.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первом, разведочном этапе все пять методов нашли параметры, которые улучшили справочные значения GMP-ECM.</a:t>
            </a:r>
            <a:br/>
            <a:br/>
            <a:r>
              <a:t>Снижение валидационной метрики составило от 20 до 23 процентов. Среднее время уменьшилось на 18-19 процентов. Среднее число кривых сократилось на 35-52 процента.</a:t>
            </a:r>
            <a:br/>
            <a:br/>
            <a:r>
              <a:t>Главный результат этого этапа - локализация эффективной области. Все методы пришли к значениям B1 порядка 21-34 тысяч и B2 порядка 2-3,3 миллиона. Это выше справочных B1 и B2, но такая настройка уменьшает как среднее число необходимых кривых, так и время факторизации.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втором этапе использовались уточненные границы, включая ограничение B2/B1 не более 1000. Этот этап является основным для итоговой интерпретации.</a:t>
            </a:r>
            <a:br/>
            <a:br/>
            <a:r>
              <a:t>Все методы снова улучшили эталон по валидационной метрике и среднему времени. Наиболее сильный общий результат показал генетический алгоритм: при при найденных параметрах B1 и B2 снижение валидационной метрики составило 25 процентов, а снижение среднего времени - 21 процент.</a:t>
            </a:r>
            <a:br/>
            <a:br/>
            <a:r>
              <a:t>Роевой алгоритм PSO показал максимальное сокращение числа кривых: 62 процента. Дифференциальная эволюция дала устойчивый компромисс: снижение метрики на 22 процента, времени на 17 процента и числа кривых на 51 процента.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Сравнение методов показывает, что один универсально лучший метод для всех практических целей выделять некорректно. Разные методы дают разные полезные профили.</a:t>
            </a:r>
            <a:br/>
            <a:br/>
            <a:r>
              <a:t>GA оказался наиболее убедительным по суммарному качеству и времени. PSO особенно интересен там, где критично уменьшить число кривых. DE показал ровный компромисс без провалов. BO был полезен на широком этапе поиска, а RS, несмотря на простоту, также улучшил эталон и может служить быстрым ориентиром.</a:t>
            </a:r>
            <a:br/>
            <a:br/>
            <a:r>
              <a:t>Главный практический вывод состоит в том, что таблицы GMP-ECM целесообразно рассматривать как надежную стартовую точку, но не как окончательный ответ для всех вычислительных условий.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Научная новизна работы заключается в том, что выбор параметров B1 и B2 был формализован как эмпирическая стохастическая задача оптимизации «черного ящика» с ограничениями.</a:t>
            </a:r>
            <a:br/>
            <a:br/>
            <a:r>
              <a:t>Кроме того, в едином воспроизводимом конвеере были сопоставлены пять эвристических методов, а итоговые параметры проверялись на независимой контрольной выборке.</a:t>
            </a:r>
            <a:br/>
            <a:br/>
            <a:r>
              <a:t>Теоретическая значимость состоит в рассмотрении выбора параметров ECM как задачи автоматической конфигурации алгоритма. Такой подход явно учитывает компромисс между вероятностью успеха одной кривой, стоимостью обработки кривой и средним числом кривых до нахождения делителя.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Практическая значимость состоит в разработке программной системы, которая выполняет полный цикл вычислительного эксперимента: генерацию данных, запуск GMP-ECM, расчет метрики, оптимизацию, валидацию и анализ.</a:t>
            </a:r>
            <a:br/>
            <a:br/>
            <a:r>
              <a:t>Система может использоваться для локальной настройки ECM под конкретную платформу, версию GMP-ECM, класс чисел, вычислительный бюджет и выбранную метрику качества.</a:t>
            </a:r>
            <a:br/>
            <a:br/>
            <a:r>
              <a:t>Основные рекомендации следующие: использовать таблицы GMP-ECM как стартовый эталон, выполнять настройку в два этапа, обязательно проверять параметры на независимой контрольной выборке и сохранять seed, датасеты, версии инструментов и результаты запусков.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Апробация результатов выполнена через вычислительные эксперименты и воспроизводимую программную проверку.</a:t>
            </a:r>
            <a:br/>
            <a:br/>
            <a:r>
              <a:t>Основные эксперименты были проведены с использованием ресурсов суперкомпьютерного центра Санкт-Петербургского политехнического университета Петра Великого. Для пакетного запуска использовалась среда SLURM.</a:t>
            </a:r>
            <a:br/>
            <a:br/>
            <a:r>
              <a:t>С программной стороны апробация выражается в том, что разработанный конвейр выполняет полный цикл от генерации данных до анализа результатов, а для запусков сохраняются параметры, seed, результаты оптимизации и валидации, таблицы и графики.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b="0"/>
              <a:t>Цель работы достигнута: разработана и исследована система автоматического подбора параметров ECM с применением эвристических методов оптимизации.</a:t>
            </a:r>
          </a:p>
          <a:p>
            <a:br/>
            <a:r>
              <a:rPr sz="1200" b="0"/>
              <a:t>Были решены поставленные задачи: проведен обзор ECM, рассмотрено влияние B1 и B2, сформулирована black-box постановка, реализован программный pipeline, проведено сравнение пяти методов и выполнена независимая валидация.</a:t>
            </a:r>
          </a:p>
          <a:p>
            <a:br/>
            <a:r>
              <a:rPr sz="1200" b="0"/>
              <a:t>Экспериментальная проверка на числах с 20-значным простым делителем показала, что автоматический подбор способен улучшить справочные параметры GMP-ECM: до 25 процента по валидационной метрике, до 21 процента по среднему времени и до 62 процента по среднему числу кривых.</a:t>
            </a:r>
          </a:p>
          <a:p>
            <a:br/>
            <a:br/>
            <a:br/>
            <a:r>
              <a:rPr sz="1200" b="0"/>
              <a:t>Основное ограничение текущих результатов состоит в том, что итоговый вывод относится к 20-значным делителям и конкретной вычислительной среде.</a:t>
            </a:r>
          </a:p>
          <a:p>
            <a:br/>
            <a:r>
              <a:rPr sz="1200" b="0"/>
              <a:t>Дальнейшие исследования должны включать эксперименты для более крупных делителей, проверку специальных классов чисел, оценку переносимости параметров между платформами и версиями GMP-ECM, увеличение числа seed и контрольных наборов.</a:t>
            </a:r>
          </a:p>
          <a:p>
            <a:br/>
            <a:r>
              <a:rPr sz="1200" b="0"/>
              <a:t>Также перспективны оценка эффективности на один процессорный час, адаптивная остановка оптимизации и более гибкое распределение вычислительного бюджета.</a:t>
            </a:r>
          </a:p>
          <a:p>
            <a:br/>
            <a:r>
              <a:rPr sz="1200" b="0"/>
              <a:t>Основной результат работы состоит в том, что для исследованного класса задач автоматический подбор параметров ECM позволил улучшить справочные параметры GMP-ECM по валидационной метрике, времени и числу кривых, а также был реализован воспроизводимый программный инструмент для таких экспериментов.</a:t>
            </a:r>
          </a:p>
          <a:p>
            <a:br/>
            <a:r>
              <a:rPr sz="1200" b="0"/>
              <a:t>На этом доклад завершен. Спасибо за внимание. Я готов ответить на ваши вопросы.</a:t>
            </a:r>
          </a:p>
          <a:p>
            <a:br/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96979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97009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96979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5044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809248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114048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и исследовать программную систему автоматического подбора параметров ECM и оценить выигрыш относительно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 аналитический обзор алгоритмов факторизации и определить место ECM среди специализированных и универсальных методов.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 теоретические основы ECM и влияние параметров B1 и B2 на вероятность успеха и стоимость вычислений.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03283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03283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03283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03283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03283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22333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54718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4824331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 GMP-ECM используются как сильные базовые значения.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03898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03898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37248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56974" y="238217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2956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2956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29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006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391150" y="2054560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391150" y="3064210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245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896100" y="239746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486650" y="2054560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486650" y="3064210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20000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23684" y="238969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30276" y="2054560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30276" y="3064210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63626" y="2187910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новая кривая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418223" y="5127827"/>
            <a:ext cx="9279354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 находится между этими двумя режимами и зависит от практических требований.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найденные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0700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7" y="1760114"/>
            <a:ext cx="57150" cy="240700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329750"/>
            <a:ext cx="5304482" cy="141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7" y="4329750"/>
            <a:ext cx="58366" cy="141312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1066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497703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497703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E9E207A7-2A99-48BD-8624-59C7D4BB43B7}"/>
              </a:ext>
            </a:extLst>
          </p:cNvPr>
          <p:cNvSpPr>
            <a:spLocks noGrp="1"/>
          </p:cNvSpPr>
          <p:nvPr/>
        </p:nvSpPr>
        <p:spPr>
          <a:xfrm>
            <a:off x="6565026" y="3200027"/>
            <a:ext cx="318406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 b="1">
                <a:latin typeface="Onest"/>
                <a:ea typeface="Onest"/>
                <a:cs typeface="Onest"/>
              </a:rPr>
              <a:t>где</a:t>
            </a:r>
          </a:p>
          <a:p>
            <a:pPr>
              <a:buNone/>
            </a:pPr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p̄ </a:t>
            </a:r>
            <a:r>
              <a:rPr sz="14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— средняя доля успеха,</a:t>
            </a:r>
          </a:p>
          <a:p>
            <a:pPr>
              <a:buNone/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t̄ </a:t>
            </a:r>
            <a:r>
              <a:rPr sz="14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— среднее время,</a:t>
            </a:r>
            <a:br/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c̄</a:t>
            </a: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— среднее число кривых.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3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 </a:t>
            </a: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 результатов является экспериментальной и программной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 выполнены на ресурсах СКЦ СПбПУ в среде SLURM. Параметры проверены на независимой выборке.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 проверен от генерации данных до анализа. Сохраняются seed, параметры, отчеты, таблицы и графики.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снижать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048750" y="1428750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239250" y="1581150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239250" y="1952625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048750" y="2619375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239250" y="2771775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239250" y="3143250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048750" y="3810000"/>
            <a:ext cx="2714625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239250" y="3962400"/>
            <a:ext cx="2190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239250" y="4333875"/>
            <a:ext cx="21907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499" y="2195704"/>
            <a:ext cx="8096250" cy="20714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2009</Words>
  <Application>Microsoft Office PowerPoint</Application>
  <DocSecurity>0</DocSecurity>
  <PresentationFormat>Широкоэкранный</PresentationFormat>
  <Paragraphs>362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5</cp:revision>
  <dcterms:created xsi:type="dcterms:W3CDTF">2026-05-26T20:05:52Z</dcterms:created>
  <dcterms:modified xsi:type="dcterms:W3CDTF">2026-05-26T20:40:42Z</dcterms:modified>
</cp:coreProperties>
</file>