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F5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6864" autoAdjust="0"/>
  </p:normalViewPr>
  <p:slideViewPr>
    <p:cSldViewPr snapToGrid="0">
      <p:cViewPr varScale="1">
        <p:scale>
          <a:sx n="60" d="100"/>
          <a:sy n="60" d="100"/>
        </p:scale>
        <p:origin x="78" y="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применением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32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96979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97009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96979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504448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809248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114048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666750" y="1885950"/>
            <a:ext cx="19526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666750" y="2895600"/>
            <a:ext cx="19526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1685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2857500" y="21526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3714750" y="1885950"/>
            <a:ext cx="23336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3714750" y="2895600"/>
            <a:ext cx="23336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3848100" y="2019300"/>
            <a:ext cx="2066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6334125" y="21526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7524750" y="1885950"/>
            <a:ext cx="2333625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7524750" y="2895600"/>
            <a:ext cx="2333625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7658100" y="2019300"/>
            <a:ext cx="2066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C6B73600-4146-42CE-977F-D42220B30B5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7476CB7B-56D6-4387-A3E4-071AF41488EF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70C7E719-CCD4-4805-9182-0F8CE2B1D088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F5B0B60-6DF3-4CBF-A0E5-53C6BED05D1D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2/18</a:t>
            </a:r>
          </a:p>
        </p:txBody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6280B76-C09F-49F2-AA80-F38754D6025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44900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связывает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постановку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систему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независимую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проверку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38225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45720" cy="10858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885950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2209800"/>
            <a:ext cx="99250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программную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систему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автоматического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с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применением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оптимизации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оценить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CE204A8-3EF1-4FE8-B0EE-11E34EF78FAF}"/>
              </a:ext>
            </a:extLst>
          </p:cNvPr>
          <p:cNvSpPr>
            <a:spLocks noGrp="1"/>
          </p:cNvSpPr>
          <p:nvPr/>
        </p:nvSpPr>
        <p:spPr>
          <a:xfrm>
            <a:off x="781050" y="3028950"/>
            <a:ext cx="4857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52500" y="3152775"/>
            <a:ext cx="4514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sz="127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52500" y="3400425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проанализировать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определить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место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в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практическом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конвейере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13EB76B-90E1-4042-9875-BD63CCF7E438}"/>
              </a:ext>
            </a:extLst>
          </p:cNvPr>
          <p:cNvSpPr>
            <a:spLocks noGrp="1"/>
          </p:cNvSpPr>
          <p:nvPr/>
        </p:nvSpPr>
        <p:spPr>
          <a:xfrm>
            <a:off x="6305550" y="3028950"/>
            <a:ext cx="4857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3152775"/>
            <a:ext cx="4514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400425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088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рассмотреть</a:t>
            </a:r>
            <a:r>
              <a:rPr sz="1088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088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стадии</a:t>
            </a:r>
            <a:r>
              <a:rPr sz="1088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sz="1088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088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1088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088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088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вероятность</a:t>
            </a:r>
            <a:r>
              <a:rPr sz="1088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088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1088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088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время</a:t>
            </a:r>
            <a:r>
              <a:rPr sz="1088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088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</a:t>
            </a:r>
            <a:r>
              <a:rPr sz="1088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088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endParaRPr sz="1088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981450"/>
            <a:ext cx="4857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334FF56-657B-48BA-9C92-DC1BFE1A55E6}"/>
              </a:ext>
            </a:extLst>
          </p:cNvPr>
          <p:cNvSpPr>
            <a:spLocks noGrp="1"/>
          </p:cNvSpPr>
          <p:nvPr/>
        </p:nvSpPr>
        <p:spPr>
          <a:xfrm>
            <a:off x="952500" y="4105275"/>
            <a:ext cx="4514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E87D147-F60A-4AB9-A46C-9DE80F1B8E08}"/>
              </a:ext>
            </a:extLst>
          </p:cNvPr>
          <p:cNvSpPr>
            <a:spLocks noGrp="1"/>
          </p:cNvSpPr>
          <p:nvPr/>
        </p:nvSpPr>
        <p:spPr>
          <a:xfrm>
            <a:off x="952500" y="4352925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088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сформулировать подбор B1/B2 как стохастическую black-box оптимизацию с ограничениями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D6F2E7F2-32F3-4AB5-915F-C4855DD54CD9}"/>
              </a:ext>
            </a:extLst>
          </p:cNvPr>
          <p:cNvSpPr>
            <a:spLocks noGrp="1"/>
          </p:cNvSpPr>
          <p:nvPr/>
        </p:nvSpPr>
        <p:spPr>
          <a:xfrm>
            <a:off x="6305550" y="3981450"/>
            <a:ext cx="4857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4105275"/>
            <a:ext cx="4514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52925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088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обосновать набор эвристических методов и реализовать программный pipeline экспериментов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03858F1-2E24-4FE6-830A-E43279D7316C}"/>
              </a:ext>
            </a:extLst>
          </p:cNvPr>
          <p:cNvSpPr>
            <a:spLocks noGrp="1"/>
          </p:cNvSpPr>
          <p:nvPr/>
        </p:nvSpPr>
        <p:spPr>
          <a:xfrm>
            <a:off x="781050" y="4933950"/>
            <a:ext cx="4857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52500" y="5057775"/>
            <a:ext cx="4514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5F23B17-55FE-461B-8C53-E641C6EC216E}"/>
              </a:ext>
            </a:extLst>
          </p:cNvPr>
          <p:cNvSpPr>
            <a:spLocks noGrp="1"/>
          </p:cNvSpPr>
          <p:nvPr/>
        </p:nvSpPr>
        <p:spPr>
          <a:xfrm>
            <a:off x="952500" y="5305425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088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провести оптимизацию и независимую валидацию параметров на train/control-наборах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A2306F-B06B-4572-AFE9-A7BB66A6CF13}"/>
              </a:ext>
            </a:extLst>
          </p:cNvPr>
          <p:cNvSpPr>
            <a:spLocks noGrp="1"/>
          </p:cNvSpPr>
          <p:nvPr/>
        </p:nvSpPr>
        <p:spPr>
          <a:xfrm>
            <a:off x="6305550" y="4933950"/>
            <a:ext cx="4857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5057775"/>
            <a:ext cx="4514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32636ABB-DD29-45E0-961D-9283F258352D}"/>
              </a:ext>
            </a:extLst>
          </p:cNvPr>
          <p:cNvSpPr>
            <a:spLocks noGrp="1"/>
          </p:cNvSpPr>
          <p:nvPr/>
        </p:nvSpPr>
        <p:spPr>
          <a:xfrm>
            <a:off x="6477000" y="5305425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088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сравнить результат с GMP-ECM, описать ограничения и практические рекомендации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81073F-14A1-4149-B3B0-FB8BFD819B7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A17C449-622C-4898-9BBA-9A84A98B627F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5F5B4B1-85AC-425C-AABC-E6A870F056CD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3/18</a:t>
            </a:r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DAD35C5-35B6-4C79-A6B2-C46F07AF8F87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вся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а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два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управляющих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6DD4E62-EB46-4C0C-BBE1-74CE63812E2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5BE995E-4D2F-4432-B623-C7E802D50510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E3B3690-556C-43A4-B4AC-8C4BDB4BA4D8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4/18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C3BA775-9690-4C7B-BA0B-825C85CF6AC0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195262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195262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14312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46697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целых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методом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его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реализация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195262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195262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14312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46697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195262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195262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14312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46697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заданного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класса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среды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можно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локально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настроить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лучше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справочных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4824331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используются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сильны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базовые значения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задают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компромисс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шансом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кривой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03898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03898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37248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56974" y="238217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295650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295650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290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00600" y="239746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391150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391150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245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896100" y="239746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486650" y="2054560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486650" y="3064210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200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23684" y="238969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30276" y="2054560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30276" y="3064210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63626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елитель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новая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418223" y="5127827"/>
            <a:ext cx="9279354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находится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этими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двумя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режимами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зависит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практическ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их требований</a:t>
            </a:r>
            <a:endParaRPr sz="1800" b="1" dirty="0">
              <a:solidFill>
                <a:srgbClr val="24412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74C23EBD-59F2-4992-B53D-7738844C1490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1C96533-F167-423F-9194-41D32260BFA3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51070D83-9514-4BFF-A2B4-CC283D5818E6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5/18</a:t>
            </a:r>
          </a:p>
        </p:txBody>
      </p:sp>
      <p:pic>
        <p:nvPicPr>
          <p:cNvPr id="40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4101398C-5C47-4E6B-95AC-2D5925090325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constrained black-box оптимизации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192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19240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E665802-A4A7-4DEC-9F07-1AC4E7044ADD}"/>
              </a:ext>
            </a:extLst>
          </p:cNvPr>
          <p:cNvSpPr>
            <a:spLocks noGrp="1"/>
          </p:cNvSpPr>
          <p:nvPr/>
        </p:nvSpPr>
        <p:spPr>
          <a:xfrm>
            <a:off x="91440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x = (log10(B1), log10(B2)).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Логарифмы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задают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широкий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диапазон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192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57150" cy="19240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C1EBA9D-234C-453F-B38E-D0A451395C25}"/>
              </a:ext>
            </a:extLst>
          </p:cNvPr>
          <p:cNvSpPr>
            <a:spLocks noGrp="1"/>
          </p:cNvSpPr>
          <p:nvPr/>
        </p:nvSpPr>
        <p:spPr>
          <a:xfrm>
            <a:off x="4752975" y="2324099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B1min &lt;= B1 &lt;= B1max</a:t>
            </a:r>
            <a:endParaRPr lang="ru-RU" sz="18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B2min &lt;= B2 &lt;= B2max;</a:t>
            </a:r>
            <a:endParaRPr lang="ru-RU" sz="18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 &lt;= B2;</a:t>
            </a:r>
            <a:endParaRPr lang="ru-RU" sz="18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B2/B1 &lt;=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Rmax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192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19240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619250" y="4514850"/>
            <a:ext cx="8953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</a:t>
            </a:r>
            <a:r>
              <a:rPr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формулы</a:t>
            </a:r>
            <a:r>
              <a:rPr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качества</a:t>
            </a:r>
            <a:r>
              <a:rPr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нет</a:t>
            </a:r>
            <a:r>
              <a:rPr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:</a:t>
            </a:r>
            <a:endParaRPr lang="ru-RU" sz="1800" b="1" dirty="0">
              <a:solidFill>
                <a:schemeClr val="tx1">
                  <a:lumMod val="95000"/>
                  <a:lumOff val="5000"/>
                </a:schemeClr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</a:t>
            </a:r>
            <a:r>
              <a:rPr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видит</a:t>
            </a:r>
            <a:r>
              <a:rPr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внешнюю</a:t>
            </a:r>
            <a:r>
              <a:rPr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шумную</a:t>
            </a:r>
            <a:r>
              <a:rPr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функцию</a:t>
            </a:r>
            <a:r>
              <a:rPr sz="1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711A6C1-5F22-459F-A9D3-04A5D644628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144B348-FF6A-4968-BF8D-CAA639657A9A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B41F52A-9F4E-4AC7-970C-5E756B71A5B1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6/18</a:t>
            </a: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CA5A5653-7F1E-439B-937D-9D58676F2851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защищает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переоценки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шумной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функции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103201" y="1930863"/>
            <a:ext cx="17621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103201" y="2940513"/>
            <a:ext cx="17621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2236551" y="2064213"/>
            <a:ext cx="14954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train-набор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4084401" y="2264238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4817826" y="1930863"/>
            <a:ext cx="23812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4817826" y="2940513"/>
            <a:ext cx="23812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4951176" y="2064213"/>
            <a:ext cx="2114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оптимизатор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7513401" y="225775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8342076" y="1930863"/>
            <a:ext cx="1809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8342076" y="2940513"/>
            <a:ext cx="1809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8475426" y="2064213"/>
            <a:ext cx="1543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найденные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3325441" y="3319714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3325441" y="4329364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3458791" y="3453064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5687641" y="365785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6563941" y="3319714"/>
            <a:ext cx="2381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6563941" y="4329364"/>
            <a:ext cx="2381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6697291" y="3453064"/>
            <a:ext cx="2114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1000125" y="4728412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1000125" y="4728412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1228725" y="4890337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92402AD-B4CF-4EE8-91C6-1F3AE4ACCEC3}"/>
              </a:ext>
            </a:extLst>
          </p:cNvPr>
          <p:cNvSpPr>
            <a:spLocks noGrp="1"/>
          </p:cNvSpPr>
          <p:nvPr/>
        </p:nvSpPr>
        <p:spPr>
          <a:xfrm>
            <a:off x="1228725" y="5185612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неуспех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+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время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+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кривые</a:t>
            </a:r>
            <a:endParaRPr sz="18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143625" y="4728412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143625" y="4728412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372225" y="4890337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94B057-100D-4988-AC35-C94CA66630EC}"/>
              </a:ext>
            </a:extLst>
          </p:cNvPr>
          <p:cNvSpPr>
            <a:spLocks noGrp="1"/>
          </p:cNvSpPr>
          <p:nvPr/>
        </p:nvSpPr>
        <p:spPr>
          <a:xfrm>
            <a:off x="6372225" y="5185612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score_baseline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-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score_method</a:t>
            </a:r>
            <a:endParaRPr sz="18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464FC2F-C05D-46F2-BE05-2F712816FDE8}"/>
              </a:ext>
            </a:extLst>
          </p:cNvPr>
          <p:cNvSpPr>
            <a:spLocks noGrp="1"/>
          </p:cNvSpPr>
          <p:nvPr/>
        </p:nvSpPr>
        <p:spPr>
          <a:xfrm>
            <a:off x="29791" y="58674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6FDCAFE3-1A03-4D8D-9DF4-0F6FAF8088B3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351C176-EC35-4CE1-99CD-94B4AA9D553D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7/18</a:t>
            </a:r>
          </a:p>
        </p:txBody>
      </p:sp>
      <p:pic>
        <p:nvPicPr>
          <p:cNvPr id="38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CD658305-5C4E-4FA5-BB44-F1FCF91CFFEA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B0AA959-208B-4F55-B4DB-AD7653180379}"/>
              </a:ext>
            </a:extLst>
          </p:cNvPr>
          <p:cNvSpPr>
            <a:spLocks noGrp="1"/>
          </p:cNvSpPr>
          <p:nvPr/>
        </p:nvSpPr>
        <p:spPr>
          <a:xfrm>
            <a:off x="781050" y="1666875"/>
            <a:ext cx="10363200" cy="552450"/>
          </a:xfrm>
          <a:prstGeom prst="rect">
            <a:avLst/>
          </a:prstGeom>
          <a:solidFill>
            <a:srgbClr val="373062"/>
          </a:solidFill>
          <a:ln w="0">
            <a:solidFill>
              <a:srgbClr val="37306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76AAF01-81B9-471F-9CC9-08881F1AE87D}"/>
              </a:ext>
            </a:extLst>
          </p:cNvPr>
          <p:cNvSpPr>
            <a:spLocks noGrp="1"/>
          </p:cNvSpPr>
          <p:nvPr/>
        </p:nvSpPr>
        <p:spPr>
          <a:xfrm>
            <a:off x="1009650" y="1838325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Метод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840BDDE-EF2E-4AA4-9344-7D814C2B117F}"/>
              </a:ext>
            </a:extLst>
          </p:cNvPr>
          <p:cNvSpPr>
            <a:spLocks noGrp="1"/>
          </p:cNvSpPr>
          <p:nvPr/>
        </p:nvSpPr>
        <p:spPr>
          <a:xfrm>
            <a:off x="2590800" y="1838325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Тип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CB2993D-B671-4D58-B178-9389DB383B24}"/>
              </a:ext>
            </a:extLst>
          </p:cNvPr>
          <p:cNvSpPr>
            <a:spLocks noGrp="1"/>
          </p:cNvSpPr>
          <p:nvPr/>
        </p:nvSpPr>
        <p:spPr>
          <a:xfrm>
            <a:off x="6115050" y="1838325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Роль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51256D1-50F5-4120-BA20-06EFC800B8D7}"/>
              </a:ext>
            </a:extLst>
          </p:cNvPr>
          <p:cNvSpPr>
            <a:spLocks noGrp="1"/>
          </p:cNvSpPr>
          <p:nvPr/>
        </p:nvSpPr>
        <p:spPr>
          <a:xfrm>
            <a:off x="781050" y="2219325"/>
            <a:ext cx="10363200" cy="5524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5137FA1-A0D6-4E48-BE12-5EBD98680A87}"/>
              </a:ext>
            </a:extLst>
          </p:cNvPr>
          <p:cNvSpPr>
            <a:spLocks noGrp="1"/>
          </p:cNvSpPr>
          <p:nvPr/>
        </p:nvSpPr>
        <p:spPr>
          <a:xfrm>
            <a:off x="1009650" y="23812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RS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B03ED13-C4A8-4F5E-8A0B-DEB4960C415D}"/>
              </a:ext>
            </a:extLst>
          </p:cNvPr>
          <p:cNvSpPr>
            <a:spLocks noGrp="1"/>
          </p:cNvSpPr>
          <p:nvPr/>
        </p:nvSpPr>
        <p:spPr>
          <a:xfrm>
            <a:off x="2590800" y="238125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случайный поиск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8936754-5FED-4665-89C2-150735B05FE0}"/>
              </a:ext>
            </a:extLst>
          </p:cNvPr>
          <p:cNvSpPr>
            <a:spLocks noGrp="1"/>
          </p:cNvSpPr>
          <p:nvPr/>
        </p:nvSpPr>
        <p:spPr>
          <a:xfrm>
            <a:off x="6115050" y="238125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базовый ориентир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F0F395B-FD4E-44A2-9719-7ED241731351}"/>
              </a:ext>
            </a:extLst>
          </p:cNvPr>
          <p:cNvSpPr>
            <a:spLocks noGrp="1"/>
          </p:cNvSpPr>
          <p:nvPr/>
        </p:nvSpPr>
        <p:spPr>
          <a:xfrm>
            <a:off x="781050" y="2771775"/>
            <a:ext cx="10363200" cy="5524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C2859FB-9BB6-4A4C-A584-77B11735A1E0}"/>
              </a:ext>
            </a:extLst>
          </p:cNvPr>
          <p:cNvSpPr>
            <a:spLocks noGrp="1"/>
          </p:cNvSpPr>
          <p:nvPr/>
        </p:nvSpPr>
        <p:spPr>
          <a:xfrm>
            <a:off x="1009650" y="29337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DE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13455B5-0F52-4999-91BE-9BC7F0F9B6B6}"/>
              </a:ext>
            </a:extLst>
          </p:cNvPr>
          <p:cNvSpPr>
            <a:spLocks noGrp="1"/>
          </p:cNvSpPr>
          <p:nvPr/>
        </p:nvSpPr>
        <p:spPr>
          <a:xfrm>
            <a:off x="2590800" y="293370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дифференциальная эволюция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0F3C6CF-3532-4930-89EF-3977B3917AE8}"/>
              </a:ext>
            </a:extLst>
          </p:cNvPr>
          <p:cNvSpPr>
            <a:spLocks noGrp="1"/>
          </p:cNvSpPr>
          <p:nvPr/>
        </p:nvSpPr>
        <p:spPr>
          <a:xfrm>
            <a:off x="6115050" y="293370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популяционный направленный поиск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B7D614E-6454-4B1E-B269-7AEEF924BDAB}"/>
              </a:ext>
            </a:extLst>
          </p:cNvPr>
          <p:cNvSpPr>
            <a:spLocks noGrp="1"/>
          </p:cNvSpPr>
          <p:nvPr/>
        </p:nvSpPr>
        <p:spPr>
          <a:xfrm>
            <a:off x="781050" y="3324225"/>
            <a:ext cx="10363200" cy="5524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435E365-4C83-448C-BCC0-31A57CF39A2E}"/>
              </a:ext>
            </a:extLst>
          </p:cNvPr>
          <p:cNvSpPr>
            <a:spLocks noGrp="1"/>
          </p:cNvSpPr>
          <p:nvPr/>
        </p:nvSpPr>
        <p:spPr>
          <a:xfrm>
            <a:off x="1009650" y="34861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9EA249C-60C1-4602-8336-2190D8A332E9}"/>
              </a:ext>
            </a:extLst>
          </p:cNvPr>
          <p:cNvSpPr>
            <a:spLocks noGrp="1"/>
          </p:cNvSpPr>
          <p:nvPr/>
        </p:nvSpPr>
        <p:spPr>
          <a:xfrm>
            <a:off x="2590800" y="348615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генетический алгоритм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73F5153-FBA7-43F2-9B82-124FF10FA69E}"/>
              </a:ext>
            </a:extLst>
          </p:cNvPr>
          <p:cNvSpPr>
            <a:spLocks noGrp="1"/>
          </p:cNvSpPr>
          <p:nvPr/>
        </p:nvSpPr>
        <p:spPr>
          <a:xfrm>
            <a:off x="6115050" y="348615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эволюционный поиск с элитизмом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B70213A-E683-4DB5-9D05-3423E0270C7E}"/>
              </a:ext>
            </a:extLst>
          </p:cNvPr>
          <p:cNvSpPr>
            <a:spLocks noGrp="1"/>
          </p:cNvSpPr>
          <p:nvPr/>
        </p:nvSpPr>
        <p:spPr>
          <a:xfrm>
            <a:off x="781050" y="3876675"/>
            <a:ext cx="10363200" cy="5524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8454087-8EDB-473A-AC75-F319A9A03745}"/>
              </a:ext>
            </a:extLst>
          </p:cNvPr>
          <p:cNvSpPr>
            <a:spLocks noGrp="1"/>
          </p:cNvSpPr>
          <p:nvPr/>
        </p:nvSpPr>
        <p:spPr>
          <a:xfrm>
            <a:off x="1009650" y="4038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CF7AFD8-21E6-4CE7-A7F8-D8E3EF8C61BE}"/>
              </a:ext>
            </a:extLst>
          </p:cNvPr>
          <p:cNvSpPr>
            <a:spLocks noGrp="1"/>
          </p:cNvSpPr>
          <p:nvPr/>
        </p:nvSpPr>
        <p:spPr>
          <a:xfrm>
            <a:off x="2590800" y="403860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роевой алгоритм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DE00EF9-AFB9-4F69-A8C6-E46BA57F9FBD}"/>
              </a:ext>
            </a:extLst>
          </p:cNvPr>
          <p:cNvSpPr>
            <a:spLocks noGrp="1"/>
          </p:cNvSpPr>
          <p:nvPr/>
        </p:nvSpPr>
        <p:spPr>
          <a:xfrm>
            <a:off x="6115050" y="403860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личный и коллективный опыт частиц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BB3E3941-BE0F-4D84-BEFE-A794176CFE6C}"/>
              </a:ext>
            </a:extLst>
          </p:cNvPr>
          <p:cNvSpPr>
            <a:spLocks noGrp="1"/>
          </p:cNvSpPr>
          <p:nvPr/>
        </p:nvSpPr>
        <p:spPr>
          <a:xfrm>
            <a:off x="781050" y="4429125"/>
            <a:ext cx="10363200" cy="5524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A4D0432-41E8-4FDE-89F8-10A64EF11D96}"/>
              </a:ext>
            </a:extLst>
          </p:cNvPr>
          <p:cNvSpPr>
            <a:spLocks noGrp="1"/>
          </p:cNvSpPr>
          <p:nvPr/>
        </p:nvSpPr>
        <p:spPr>
          <a:xfrm>
            <a:off x="1009650" y="45910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BO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C802E1A-F640-440D-8569-D3BBF4481E44}"/>
              </a:ext>
            </a:extLst>
          </p:cNvPr>
          <p:cNvSpPr>
            <a:spLocks noGrp="1"/>
          </p:cNvSpPr>
          <p:nvPr/>
        </p:nvSpPr>
        <p:spPr>
          <a:xfrm>
            <a:off x="2590800" y="459105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байесовская оптимизация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0053FC3-C39E-4EB3-809C-E160FE48FBDA}"/>
              </a:ext>
            </a:extLst>
          </p:cNvPr>
          <p:cNvSpPr>
            <a:spLocks noGrp="1"/>
          </p:cNvSpPr>
          <p:nvPr/>
        </p:nvSpPr>
        <p:spPr>
          <a:xfrm>
            <a:off x="6115050" y="459105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суррогатная модель дорогой функции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идет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в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едином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pipeline: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одни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ограничения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одна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один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протокол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3131292-7A97-4C86-81FC-EB414F4EFE5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32222F32-B69F-41DD-8A77-F96B5AA8FE77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2ADE5F-5C6C-4C42-8138-8B9DFE15C3C1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8/18</a:t>
            </a:r>
          </a:p>
        </p:txBody>
      </p:sp>
      <p:pic>
        <p:nvPicPr>
          <p:cNvPr id="37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259529E0-C496-415C-B091-82871A74E560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20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  <a:endParaRPr sz="20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900112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полный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цикл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762000" y="2609345"/>
            <a:ext cx="12382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762000" y="3618995"/>
            <a:ext cx="12382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895350" y="2742695"/>
            <a:ext cx="971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2238375" y="298633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3000375" y="1874920"/>
            <a:ext cx="1857375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3000375" y="2884570"/>
            <a:ext cx="1857375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3133725" y="2008270"/>
            <a:ext cx="159067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5095875" y="2235866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5857875" y="1874920"/>
            <a:ext cx="19526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5857875" y="2884570"/>
            <a:ext cx="19526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5991225" y="2008270"/>
            <a:ext cx="1685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3000375" y="3351295"/>
            <a:ext cx="1857375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3000375" y="4360945"/>
            <a:ext cx="1857375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3133725" y="3484645"/>
            <a:ext cx="159067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5095875" y="37282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5857875" y="3351295"/>
            <a:ext cx="19526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5857875" y="4360945"/>
            <a:ext cx="19526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5991225" y="3484645"/>
            <a:ext cx="1685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8667750" y="2113045"/>
            <a:ext cx="219075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8667750" y="2113045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8896350" y="2303545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8896350" y="2627395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828675" y="5081838"/>
            <a:ext cx="10534650" cy="5905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вычисляет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напрямую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: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кандидаты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проходят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через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единый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fitness evaluator.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0755F70-2068-4C10-A655-BA8EFAD4A4B0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8D3DB17-CFB7-401D-89B8-2916018FE4FC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93BC176-D6AB-40BC-9E25-66A035C6DAC9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9/18</a:t>
            </a:r>
          </a:p>
        </p:txBody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EDF4C584-6231-47EB-B492-6D3760673EE3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1962959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отделяет поиск параметров от независимой проверки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20 </a:t>
            </a:r>
            <a:r>
              <a:rPr sz="2175" b="1" dirty="0" err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цифр</a:t>
            </a:r>
            <a:endParaRPr sz="2175" b="1" dirty="0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целевой простой делитель p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30 </a:t>
            </a:r>
            <a:r>
              <a:rPr sz="2175"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цифр</a:t>
            </a:r>
            <a:endParaRPr sz="2175" b="1" dirty="0">
              <a:solidFill>
                <a:srgbClr val="37B34A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кофактор q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3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train и control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эталон GMP-ECM B1/B2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границы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поиска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локализации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перспективной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области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расчет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выполнен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ресурсах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СКЦ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СПбПУ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использованием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SLURM.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0AF423B-4CB9-4C5F-8FE7-C5376B96CEE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2174DFA-9711-42AC-8C4F-D1F68ACE3241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1A7169A-68F7-4BBE-A15A-13A8F4797787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10/18</a:t>
            </a:r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926F1AE-E08A-4244-B8E8-33DB8091521E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/>
            <a:r>
              <a:rPr lang="en-US" sz="2800" b="1" dirty="0">
                <a:solidFill>
                  <a:srgbClr val="DA4927"/>
                </a:solidFill>
                <a:latin typeface="Onest"/>
              </a:rPr>
              <a:t>N </a:t>
            </a:r>
            <a:r>
              <a:rPr lang="en-US" sz="2800" b="1" dirty="0">
                <a:solidFill>
                  <a:srgbClr val="373062"/>
                </a:solidFill>
                <a:latin typeface="Onest"/>
              </a:rPr>
              <a:t>= </a:t>
            </a:r>
            <a:r>
              <a:rPr lang="en-US" sz="2800" b="1" dirty="0">
                <a:solidFill>
                  <a:srgbClr val="522878"/>
                </a:solidFill>
                <a:latin typeface="Onest"/>
              </a:rPr>
              <a:t>p</a:t>
            </a:r>
            <a:r>
              <a:rPr lang="en-US" sz="2800" b="1" dirty="0">
                <a:solidFill>
                  <a:srgbClr val="373062"/>
                </a:solidFill>
                <a:latin typeface="Onest"/>
              </a:rPr>
              <a:t> </a:t>
            </a:r>
            <a:r>
              <a:rPr lang="ru-RU" sz="2800" dirty="0"/>
              <a:t>⋅ </a:t>
            </a:r>
            <a:r>
              <a:rPr lang="en-US" sz="2800" b="1" dirty="0">
                <a:solidFill>
                  <a:srgbClr val="37B34A"/>
                </a:solidFill>
                <a:latin typeface="Onest"/>
              </a:rPr>
              <a:t>q</a:t>
            </a:r>
            <a:endParaRPr lang="ru-RU" sz="2800" b="1" dirty="0">
              <a:solidFill>
                <a:srgbClr val="37B34A"/>
              </a:solidFill>
              <a:latin typeface="Onest"/>
            </a:endParaRP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 этап нашел область параметров лучше справочной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2178" y="1118425"/>
            <a:ext cx="5025964" cy="34553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419725" y="1130519"/>
            <a:ext cx="6413310" cy="3206655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278732" y="4515908"/>
            <a:ext cx="5476875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методам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6195899" y="4521833"/>
            <a:ext cx="5232734" cy="27613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Траектория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поиска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GA в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пространстве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B1/B2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682416" y="4899860"/>
            <a:ext cx="2190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872916" y="5033210"/>
            <a:ext cx="1809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20,62-23,90%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872916" y="5395160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4968541" y="4899860"/>
            <a:ext cx="2190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5159041" y="5033210"/>
            <a:ext cx="1809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18,36-19,53%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5159041" y="5395160"/>
            <a:ext cx="1954402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снижение времени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8254666" y="4899860"/>
            <a:ext cx="21907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8445166" y="5033210"/>
            <a:ext cx="1809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35,37-52,50%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8445166" y="5395160"/>
            <a:ext cx="18097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снижение кривых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3E7CD97-7E52-4F16-960A-CA37BC9D0D5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DA8D98D-FC8C-4256-898D-466B377B22FD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19A7D16-E9A0-4B3E-9972-815B026BE0FF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11/18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67F8375-0E36-4562-978D-DC7915526099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782402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GA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лучший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баланс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;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PSO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сильнее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всего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сократил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кривые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867A0C2-7235-4FF2-9B54-B1253E5C8918}"/>
              </a:ext>
            </a:extLst>
          </p:cNvPr>
          <p:cNvSpPr>
            <a:spLocks noGrp="1"/>
          </p:cNvSpPr>
          <p:nvPr/>
        </p:nvSpPr>
        <p:spPr>
          <a:xfrm>
            <a:off x="217574" y="2112542"/>
            <a:ext cx="93345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C47F6C7-B29E-45A3-ACAE-90D83189217E}"/>
              </a:ext>
            </a:extLst>
          </p:cNvPr>
          <p:cNvSpPr>
            <a:spLocks noGrp="1"/>
          </p:cNvSpPr>
          <p:nvPr/>
        </p:nvSpPr>
        <p:spPr>
          <a:xfrm>
            <a:off x="293774" y="2264942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Метод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1B7338D-4ABD-43AD-B82E-04253A06FD03}"/>
              </a:ext>
            </a:extLst>
          </p:cNvPr>
          <p:cNvSpPr>
            <a:spLocks noGrp="1"/>
          </p:cNvSpPr>
          <p:nvPr/>
        </p:nvSpPr>
        <p:spPr>
          <a:xfrm>
            <a:off x="1151024" y="2112542"/>
            <a:ext cx="102870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33AE90-1FA5-40A5-9202-D27317BA1C3B}"/>
              </a:ext>
            </a:extLst>
          </p:cNvPr>
          <p:cNvSpPr>
            <a:spLocks noGrp="1"/>
          </p:cNvSpPr>
          <p:nvPr/>
        </p:nvSpPr>
        <p:spPr>
          <a:xfrm>
            <a:off x="1227224" y="22649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3CAE5B3-49F2-4F2F-8295-11B882B331E5}"/>
              </a:ext>
            </a:extLst>
          </p:cNvPr>
          <p:cNvSpPr>
            <a:spLocks noGrp="1"/>
          </p:cNvSpPr>
          <p:nvPr/>
        </p:nvSpPr>
        <p:spPr>
          <a:xfrm>
            <a:off x="2179724" y="2112542"/>
            <a:ext cx="125730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899D065-F91D-4A19-9DBE-8EA447E1B921}"/>
              </a:ext>
            </a:extLst>
          </p:cNvPr>
          <p:cNvSpPr>
            <a:spLocks noGrp="1"/>
          </p:cNvSpPr>
          <p:nvPr/>
        </p:nvSpPr>
        <p:spPr>
          <a:xfrm>
            <a:off x="2255924" y="2264942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0BBC58E-B120-45CD-B262-84205CAD0445}"/>
              </a:ext>
            </a:extLst>
          </p:cNvPr>
          <p:cNvSpPr>
            <a:spLocks noGrp="1"/>
          </p:cNvSpPr>
          <p:nvPr/>
        </p:nvSpPr>
        <p:spPr>
          <a:xfrm>
            <a:off x="3437024" y="2112542"/>
            <a:ext cx="112395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C26F304-BB83-454C-A7F1-ABD11ACF03AE}"/>
              </a:ext>
            </a:extLst>
          </p:cNvPr>
          <p:cNvSpPr>
            <a:spLocks noGrp="1"/>
          </p:cNvSpPr>
          <p:nvPr/>
        </p:nvSpPr>
        <p:spPr>
          <a:xfrm>
            <a:off x="3513224" y="22649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Метрика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6502623-C12A-47EB-92A8-83961DD9D581}"/>
              </a:ext>
            </a:extLst>
          </p:cNvPr>
          <p:cNvSpPr>
            <a:spLocks noGrp="1"/>
          </p:cNvSpPr>
          <p:nvPr/>
        </p:nvSpPr>
        <p:spPr>
          <a:xfrm>
            <a:off x="4560974" y="2112542"/>
            <a:ext cx="102870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FB4AA9E-0E08-4A64-B457-56DAB357F581}"/>
              </a:ext>
            </a:extLst>
          </p:cNvPr>
          <p:cNvSpPr>
            <a:spLocks noGrp="1"/>
          </p:cNvSpPr>
          <p:nvPr/>
        </p:nvSpPr>
        <p:spPr>
          <a:xfrm>
            <a:off x="4637174" y="22649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Время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D5178DF-15D7-4AA0-9692-752C7F85068E}"/>
              </a:ext>
            </a:extLst>
          </p:cNvPr>
          <p:cNvSpPr>
            <a:spLocks noGrp="1"/>
          </p:cNvSpPr>
          <p:nvPr/>
        </p:nvSpPr>
        <p:spPr>
          <a:xfrm>
            <a:off x="5589674" y="2112542"/>
            <a:ext cx="112395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50F4784-8467-42B9-9B61-361462CC9A13}"/>
              </a:ext>
            </a:extLst>
          </p:cNvPr>
          <p:cNvSpPr>
            <a:spLocks noGrp="1"/>
          </p:cNvSpPr>
          <p:nvPr/>
        </p:nvSpPr>
        <p:spPr>
          <a:xfrm>
            <a:off x="5665874" y="22649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5944403-94FF-4471-B48A-FE086B0A3BB9}"/>
              </a:ext>
            </a:extLst>
          </p:cNvPr>
          <p:cNvSpPr>
            <a:spLocks noGrp="1"/>
          </p:cNvSpPr>
          <p:nvPr/>
        </p:nvSpPr>
        <p:spPr>
          <a:xfrm>
            <a:off x="217574" y="2626892"/>
            <a:ext cx="9334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EC9B21-4229-4A54-802F-1DB96B1A651C}"/>
              </a:ext>
            </a:extLst>
          </p:cNvPr>
          <p:cNvSpPr>
            <a:spLocks noGrp="1"/>
          </p:cNvSpPr>
          <p:nvPr/>
        </p:nvSpPr>
        <p:spPr>
          <a:xfrm>
            <a:off x="293774" y="2779292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BO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FCDF68F-A17B-4695-B992-F77EBD77203C}"/>
              </a:ext>
            </a:extLst>
          </p:cNvPr>
          <p:cNvSpPr>
            <a:spLocks noGrp="1"/>
          </p:cNvSpPr>
          <p:nvPr/>
        </p:nvSpPr>
        <p:spPr>
          <a:xfrm>
            <a:off x="1151024" y="2626892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53B0746-01AC-4BC3-8714-8DAF5372848E}"/>
              </a:ext>
            </a:extLst>
          </p:cNvPr>
          <p:cNvSpPr>
            <a:spLocks noGrp="1"/>
          </p:cNvSpPr>
          <p:nvPr/>
        </p:nvSpPr>
        <p:spPr>
          <a:xfrm>
            <a:off x="1227224" y="277929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20510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3E3D2E-7451-4454-BD05-0F1CD6486CD1}"/>
              </a:ext>
            </a:extLst>
          </p:cNvPr>
          <p:cNvSpPr>
            <a:spLocks noGrp="1"/>
          </p:cNvSpPr>
          <p:nvPr/>
        </p:nvSpPr>
        <p:spPr>
          <a:xfrm>
            <a:off x="2179724" y="2626892"/>
            <a:ext cx="12573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BD01BED-ADDC-4EEF-B847-97441559BB3D}"/>
              </a:ext>
            </a:extLst>
          </p:cNvPr>
          <p:cNvSpPr>
            <a:spLocks noGrp="1"/>
          </p:cNvSpPr>
          <p:nvPr/>
        </p:nvSpPr>
        <p:spPr>
          <a:xfrm>
            <a:off x="2255924" y="2779292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636495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0574148-6C61-4FE1-A69D-8EAD7B2E4255}"/>
              </a:ext>
            </a:extLst>
          </p:cNvPr>
          <p:cNvSpPr>
            <a:spLocks noGrp="1"/>
          </p:cNvSpPr>
          <p:nvPr/>
        </p:nvSpPr>
        <p:spPr>
          <a:xfrm>
            <a:off x="3437024" y="2626892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3B5CE61-EA03-4384-9DE8-5CB2EA999987}"/>
              </a:ext>
            </a:extLst>
          </p:cNvPr>
          <p:cNvSpPr>
            <a:spLocks noGrp="1"/>
          </p:cNvSpPr>
          <p:nvPr/>
        </p:nvSpPr>
        <p:spPr>
          <a:xfrm>
            <a:off x="3513224" y="277929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-13,70%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8683EF60-C207-4E6F-B182-D1DB23521144}"/>
              </a:ext>
            </a:extLst>
          </p:cNvPr>
          <p:cNvSpPr>
            <a:spLocks noGrp="1"/>
          </p:cNvSpPr>
          <p:nvPr/>
        </p:nvSpPr>
        <p:spPr>
          <a:xfrm>
            <a:off x="4560974" y="2626892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BEBB0EB-1907-4A55-96A5-A76A727FF02F}"/>
              </a:ext>
            </a:extLst>
          </p:cNvPr>
          <p:cNvSpPr>
            <a:spLocks noGrp="1"/>
          </p:cNvSpPr>
          <p:nvPr/>
        </p:nvSpPr>
        <p:spPr>
          <a:xfrm>
            <a:off x="4637174" y="277929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-14,30%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11A85FB-C8D7-40FC-842D-C53A391048E6}"/>
              </a:ext>
            </a:extLst>
          </p:cNvPr>
          <p:cNvSpPr>
            <a:spLocks noGrp="1"/>
          </p:cNvSpPr>
          <p:nvPr/>
        </p:nvSpPr>
        <p:spPr>
          <a:xfrm>
            <a:off x="5589674" y="2626892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3DD5327-6F17-4DCC-A521-AB574FD09896}"/>
              </a:ext>
            </a:extLst>
          </p:cNvPr>
          <p:cNvSpPr>
            <a:spLocks noGrp="1"/>
          </p:cNvSpPr>
          <p:nvPr/>
        </p:nvSpPr>
        <p:spPr>
          <a:xfrm>
            <a:off x="5665874" y="277929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-9,71%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43C07CA3-3396-4A0C-9AF3-55CFB124680D}"/>
              </a:ext>
            </a:extLst>
          </p:cNvPr>
          <p:cNvSpPr>
            <a:spLocks noGrp="1"/>
          </p:cNvSpPr>
          <p:nvPr/>
        </p:nvSpPr>
        <p:spPr>
          <a:xfrm>
            <a:off x="217574" y="3141242"/>
            <a:ext cx="9334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12F8416-FF01-418D-8094-1D8EA56B8D75}"/>
              </a:ext>
            </a:extLst>
          </p:cNvPr>
          <p:cNvSpPr>
            <a:spLocks noGrp="1"/>
          </p:cNvSpPr>
          <p:nvPr/>
        </p:nvSpPr>
        <p:spPr>
          <a:xfrm>
            <a:off x="293774" y="3293642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DE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6C0BB55B-E51B-4C99-9F56-DA30A04C01DA}"/>
              </a:ext>
            </a:extLst>
          </p:cNvPr>
          <p:cNvSpPr>
            <a:spLocks noGrp="1"/>
          </p:cNvSpPr>
          <p:nvPr/>
        </p:nvSpPr>
        <p:spPr>
          <a:xfrm>
            <a:off x="1151024" y="3141242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F537E94-08B8-40BE-970A-87E0F2C23510}"/>
              </a:ext>
            </a:extLst>
          </p:cNvPr>
          <p:cNvSpPr>
            <a:spLocks noGrp="1"/>
          </p:cNvSpPr>
          <p:nvPr/>
        </p:nvSpPr>
        <p:spPr>
          <a:xfrm>
            <a:off x="1227224" y="32936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33716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B3FEEE3-8CD0-4F02-8640-CCE6745DAE7C}"/>
              </a:ext>
            </a:extLst>
          </p:cNvPr>
          <p:cNvSpPr>
            <a:spLocks noGrp="1"/>
          </p:cNvSpPr>
          <p:nvPr/>
        </p:nvSpPr>
        <p:spPr>
          <a:xfrm>
            <a:off x="2179724" y="3141242"/>
            <a:ext cx="12573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0C04989D-666B-4C87-827E-4C844448A28F}"/>
              </a:ext>
            </a:extLst>
          </p:cNvPr>
          <p:cNvSpPr>
            <a:spLocks noGrp="1"/>
          </p:cNvSpPr>
          <p:nvPr/>
        </p:nvSpPr>
        <p:spPr>
          <a:xfrm>
            <a:off x="2255924" y="3293642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3003081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C24D030-0B7F-427C-ACF5-61733F0069CE}"/>
              </a:ext>
            </a:extLst>
          </p:cNvPr>
          <p:cNvSpPr>
            <a:spLocks noGrp="1"/>
          </p:cNvSpPr>
          <p:nvPr/>
        </p:nvSpPr>
        <p:spPr>
          <a:xfrm>
            <a:off x="3437024" y="3141242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8D1C674-8776-4495-8BD5-0EFABB5CE9C6}"/>
              </a:ext>
            </a:extLst>
          </p:cNvPr>
          <p:cNvSpPr>
            <a:spLocks noGrp="1"/>
          </p:cNvSpPr>
          <p:nvPr/>
        </p:nvSpPr>
        <p:spPr>
          <a:xfrm>
            <a:off x="3513224" y="32936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-22,35%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9812F1B-6433-4B6F-BDFF-14A8F70499F4}"/>
              </a:ext>
            </a:extLst>
          </p:cNvPr>
          <p:cNvSpPr>
            <a:spLocks noGrp="1"/>
          </p:cNvSpPr>
          <p:nvPr/>
        </p:nvSpPr>
        <p:spPr>
          <a:xfrm>
            <a:off x="4560974" y="3141242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A96E1B65-C9D8-44D3-A46C-9EE792267936}"/>
              </a:ext>
            </a:extLst>
          </p:cNvPr>
          <p:cNvSpPr>
            <a:spLocks noGrp="1"/>
          </p:cNvSpPr>
          <p:nvPr/>
        </p:nvSpPr>
        <p:spPr>
          <a:xfrm>
            <a:off x="4637174" y="32936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-17,92%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CDA0649C-FA8C-44F9-A81C-15B6E64CFE74}"/>
              </a:ext>
            </a:extLst>
          </p:cNvPr>
          <p:cNvSpPr>
            <a:spLocks noGrp="1"/>
          </p:cNvSpPr>
          <p:nvPr/>
        </p:nvSpPr>
        <p:spPr>
          <a:xfrm>
            <a:off x="5589674" y="3141242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3AC0E671-C177-41F9-A54A-B7582204B6A6}"/>
              </a:ext>
            </a:extLst>
          </p:cNvPr>
          <p:cNvSpPr>
            <a:spLocks noGrp="1"/>
          </p:cNvSpPr>
          <p:nvPr/>
        </p:nvSpPr>
        <p:spPr>
          <a:xfrm>
            <a:off x="5665874" y="32936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-51,69%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243A3BBB-FFCD-4544-B27C-B287DFFA8440}"/>
              </a:ext>
            </a:extLst>
          </p:cNvPr>
          <p:cNvSpPr>
            <a:spLocks noGrp="1"/>
          </p:cNvSpPr>
          <p:nvPr/>
        </p:nvSpPr>
        <p:spPr>
          <a:xfrm>
            <a:off x="217574" y="3655592"/>
            <a:ext cx="9334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B8807AEE-DB88-4D8A-93FF-13601EF4D592}"/>
              </a:ext>
            </a:extLst>
          </p:cNvPr>
          <p:cNvSpPr>
            <a:spLocks noGrp="1"/>
          </p:cNvSpPr>
          <p:nvPr/>
        </p:nvSpPr>
        <p:spPr>
          <a:xfrm>
            <a:off x="293774" y="3807992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PSO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3D803D6-EF27-4BAA-B72F-C25E6F284E8F}"/>
              </a:ext>
            </a:extLst>
          </p:cNvPr>
          <p:cNvSpPr>
            <a:spLocks noGrp="1"/>
          </p:cNvSpPr>
          <p:nvPr/>
        </p:nvSpPr>
        <p:spPr>
          <a:xfrm>
            <a:off x="1151024" y="3655592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62C9FFB7-4EA9-4550-92C8-8DB7F4D9EBE2}"/>
              </a:ext>
            </a:extLst>
          </p:cNvPr>
          <p:cNvSpPr>
            <a:spLocks noGrp="1"/>
          </p:cNvSpPr>
          <p:nvPr/>
        </p:nvSpPr>
        <p:spPr>
          <a:xfrm>
            <a:off x="1227224" y="380799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52298</a:t>
            </a: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125A2C1C-5BF6-4680-9922-50AAFB39D188}"/>
              </a:ext>
            </a:extLst>
          </p:cNvPr>
          <p:cNvSpPr>
            <a:spLocks noGrp="1"/>
          </p:cNvSpPr>
          <p:nvPr/>
        </p:nvSpPr>
        <p:spPr>
          <a:xfrm>
            <a:off x="2179724" y="3655592"/>
            <a:ext cx="12573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76D9E524-A033-4ADC-91F1-5CCD7568DFAC}"/>
              </a:ext>
            </a:extLst>
          </p:cNvPr>
          <p:cNvSpPr>
            <a:spLocks noGrp="1"/>
          </p:cNvSpPr>
          <p:nvPr/>
        </p:nvSpPr>
        <p:spPr>
          <a:xfrm>
            <a:off x="2255924" y="3807992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2726216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68A87412-A364-433D-AE49-D900D95378A9}"/>
              </a:ext>
            </a:extLst>
          </p:cNvPr>
          <p:cNvSpPr>
            <a:spLocks noGrp="1"/>
          </p:cNvSpPr>
          <p:nvPr/>
        </p:nvSpPr>
        <p:spPr>
          <a:xfrm>
            <a:off x="3437024" y="3655592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6170A696-ED75-4B97-8AE0-CA39AD335AB1}"/>
              </a:ext>
            </a:extLst>
          </p:cNvPr>
          <p:cNvSpPr>
            <a:spLocks noGrp="1"/>
          </p:cNvSpPr>
          <p:nvPr/>
        </p:nvSpPr>
        <p:spPr>
          <a:xfrm>
            <a:off x="3513224" y="380799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-24,46%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F8312E9C-9CAC-4127-8F37-E1E67851BBC4}"/>
              </a:ext>
            </a:extLst>
          </p:cNvPr>
          <p:cNvSpPr>
            <a:spLocks noGrp="1"/>
          </p:cNvSpPr>
          <p:nvPr/>
        </p:nvSpPr>
        <p:spPr>
          <a:xfrm>
            <a:off x="4560974" y="3655592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D7AD5D88-8A1D-45AC-8CC9-686F24825367}"/>
              </a:ext>
            </a:extLst>
          </p:cNvPr>
          <p:cNvSpPr>
            <a:spLocks noGrp="1"/>
          </p:cNvSpPr>
          <p:nvPr/>
        </p:nvSpPr>
        <p:spPr>
          <a:xfrm>
            <a:off x="4637174" y="380799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-18,75%</a:t>
            </a:r>
          </a:p>
        </p:txBody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B2B7DE2-6EF5-4679-BEFB-B693E2A1CDD7}"/>
              </a:ext>
            </a:extLst>
          </p:cNvPr>
          <p:cNvSpPr>
            <a:spLocks noGrp="1"/>
          </p:cNvSpPr>
          <p:nvPr/>
        </p:nvSpPr>
        <p:spPr>
          <a:xfrm>
            <a:off x="5589674" y="3655592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D27ACFFF-3C38-4003-83E1-FFC3F1909BBD}"/>
              </a:ext>
            </a:extLst>
          </p:cNvPr>
          <p:cNvSpPr>
            <a:spLocks noGrp="1"/>
          </p:cNvSpPr>
          <p:nvPr/>
        </p:nvSpPr>
        <p:spPr>
          <a:xfrm>
            <a:off x="5665874" y="380799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6630511E-CCF5-442A-BF1B-C23DAECF5EF2}"/>
              </a:ext>
            </a:extLst>
          </p:cNvPr>
          <p:cNvSpPr>
            <a:spLocks noGrp="1"/>
          </p:cNvSpPr>
          <p:nvPr/>
        </p:nvSpPr>
        <p:spPr>
          <a:xfrm>
            <a:off x="217574" y="4169942"/>
            <a:ext cx="9334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4" name="Прямоугольник 53">
            <a:extLst>
              <a:ext uri="{FF2B5EF4-FFF2-40B4-BE49-F238E27FC236}">
                <a16:creationId xmlns:a16="http://schemas.microsoft.com/office/drawing/2014/main" id="{008CDA90-0120-470C-8590-0FEBF71AE95E}"/>
              </a:ext>
            </a:extLst>
          </p:cNvPr>
          <p:cNvSpPr>
            <a:spLocks noGrp="1"/>
          </p:cNvSpPr>
          <p:nvPr/>
        </p:nvSpPr>
        <p:spPr>
          <a:xfrm>
            <a:off x="293774" y="4322342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</a:t>
            </a: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9DF319F1-E8C1-49FC-905A-E43168AFF1BA}"/>
              </a:ext>
            </a:extLst>
          </p:cNvPr>
          <p:cNvSpPr>
            <a:spLocks noGrp="1"/>
          </p:cNvSpPr>
          <p:nvPr/>
        </p:nvSpPr>
        <p:spPr>
          <a:xfrm>
            <a:off x="1151024" y="4169942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00144BDF-8A44-4296-BCE4-CDC6D91E8D28}"/>
              </a:ext>
            </a:extLst>
          </p:cNvPr>
          <p:cNvSpPr>
            <a:spLocks noGrp="1"/>
          </p:cNvSpPr>
          <p:nvPr/>
        </p:nvSpPr>
        <p:spPr>
          <a:xfrm>
            <a:off x="1227224" y="43223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32609</a:t>
            </a:r>
          </a:p>
        </p:txBody>
      </p:sp>
      <p:sp>
        <p:nvSpPr>
          <p:cNvPr id="57" name="Прямоугольник 56">
            <a:extLst>
              <a:ext uri="{FF2B5EF4-FFF2-40B4-BE49-F238E27FC236}">
                <a16:creationId xmlns:a16="http://schemas.microsoft.com/office/drawing/2014/main" id="{0C1AF441-6E1E-4C2C-B2D1-D23CC6EB59BC}"/>
              </a:ext>
            </a:extLst>
          </p:cNvPr>
          <p:cNvSpPr>
            <a:spLocks noGrp="1"/>
          </p:cNvSpPr>
          <p:nvPr/>
        </p:nvSpPr>
        <p:spPr>
          <a:xfrm>
            <a:off x="2179724" y="4169942"/>
            <a:ext cx="12573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2954C004-6FD1-4B7C-A8B0-420D1C358368}"/>
              </a:ext>
            </a:extLst>
          </p:cNvPr>
          <p:cNvSpPr>
            <a:spLocks noGrp="1"/>
          </p:cNvSpPr>
          <p:nvPr/>
        </p:nvSpPr>
        <p:spPr>
          <a:xfrm>
            <a:off x="2255924" y="4322342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2737437</a:t>
            </a:r>
          </a:p>
        </p:txBody>
      </p:sp>
      <p:sp>
        <p:nvSpPr>
          <p:cNvPr id="59" name="Прямоугольник 58">
            <a:extLst>
              <a:ext uri="{FF2B5EF4-FFF2-40B4-BE49-F238E27FC236}">
                <a16:creationId xmlns:a16="http://schemas.microsoft.com/office/drawing/2014/main" id="{8CEDE0E2-3299-4411-AEEB-48AFE941728A}"/>
              </a:ext>
            </a:extLst>
          </p:cNvPr>
          <p:cNvSpPr>
            <a:spLocks noGrp="1"/>
          </p:cNvSpPr>
          <p:nvPr/>
        </p:nvSpPr>
        <p:spPr>
          <a:xfrm>
            <a:off x="3437024" y="4169942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C46DBDE9-4D73-44AC-8005-07728AA7216D}"/>
              </a:ext>
            </a:extLst>
          </p:cNvPr>
          <p:cNvSpPr>
            <a:spLocks noGrp="1"/>
          </p:cNvSpPr>
          <p:nvPr/>
        </p:nvSpPr>
        <p:spPr>
          <a:xfrm>
            <a:off x="3513224" y="43223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E851BE4E-D838-4EC5-AA4F-812CB9413B0A}"/>
              </a:ext>
            </a:extLst>
          </p:cNvPr>
          <p:cNvSpPr>
            <a:spLocks noGrp="1"/>
          </p:cNvSpPr>
          <p:nvPr/>
        </p:nvSpPr>
        <p:spPr>
          <a:xfrm>
            <a:off x="4560974" y="4169942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78431026-7BAE-4DC1-A845-416F353E7DAD}"/>
              </a:ext>
            </a:extLst>
          </p:cNvPr>
          <p:cNvSpPr>
            <a:spLocks noGrp="1"/>
          </p:cNvSpPr>
          <p:nvPr/>
        </p:nvSpPr>
        <p:spPr>
          <a:xfrm>
            <a:off x="4637174" y="4322342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00A5D07B-59E9-4D6B-8991-D2C42B23D652}"/>
              </a:ext>
            </a:extLst>
          </p:cNvPr>
          <p:cNvSpPr>
            <a:spLocks noGrp="1"/>
          </p:cNvSpPr>
          <p:nvPr/>
        </p:nvSpPr>
        <p:spPr>
          <a:xfrm>
            <a:off x="5589674" y="4169942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395ED342-7C40-4AC7-94D3-58F5301C3B29}"/>
              </a:ext>
            </a:extLst>
          </p:cNvPr>
          <p:cNvSpPr>
            <a:spLocks noGrp="1"/>
          </p:cNvSpPr>
          <p:nvPr/>
        </p:nvSpPr>
        <p:spPr>
          <a:xfrm>
            <a:off x="5665874" y="4322342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-52,14%</a:t>
            </a:r>
          </a:p>
        </p:txBody>
      </p:sp>
      <p:pic>
        <p:nvPicPr>
          <p:cNvPr id="6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41460" y="1888721"/>
            <a:ext cx="5373161" cy="3694050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score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кривые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E1EFD7AA-6246-463B-BCC0-07C69399F6B6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23980B1A-EAF6-477B-A538-FB3BC737C4BE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8" name="Прямоугольник 77">
            <a:extLst>
              <a:ext uri="{FF2B5EF4-FFF2-40B4-BE49-F238E27FC236}">
                <a16:creationId xmlns:a16="http://schemas.microsoft.com/office/drawing/2014/main" id="{3F705C1C-5BE2-419A-845A-1687343841C7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12/18</a:t>
            </a:r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0" name="Прямоугольник 79">
            <a:extLst>
              <a:ext uri="{FF2B5EF4-FFF2-40B4-BE49-F238E27FC236}">
                <a16:creationId xmlns:a16="http://schemas.microsoft.com/office/drawing/2014/main" id="{8757D7D6-4A21-4E93-A88A-A29A63C5D0C4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20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  <a:endParaRPr sz="20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026442" y="5485841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20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</a:t>
            </a:r>
            <a:r>
              <a:rPr lang="ru-RU" sz="200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2.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20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</p:spTree>
    <p:extLst>
      <p:ext uri="{BB962C8B-B14F-4D97-AF65-F5344CB8AC3E}">
        <p14:creationId xmlns:p14="http://schemas.microsoft.com/office/powerpoint/2010/main" val="1254964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93800" y="1676400"/>
            <a:ext cx="3937000" cy="29527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05550" y="1676400"/>
            <a:ext cx="4724400" cy="29527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952500" y="4724400"/>
            <a:ext cx="438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Компромисс между временем оптимизации и выигрышем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6477000" y="4724400"/>
            <a:ext cx="438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5191125"/>
            <a:ext cx="1809750" cy="36195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526732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 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5191125"/>
            <a:ext cx="1809750" cy="36195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526732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 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5191125"/>
            <a:ext cx="1809750" cy="36195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526732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 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5191125"/>
            <a:ext cx="1809750" cy="36195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526732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 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5191125"/>
            <a:ext cx="1809750" cy="36195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526732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 baseline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C6EE597-1535-41D8-84B7-28FB079B8C8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4B48D4F-7B93-49E8-BF46-55D15B9E6C6C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12E7EBF-2E68-4333-9FFC-61C9D8FBEB5B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13/18</a:t>
            </a: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F020CEF-6BB2-4D55-BECA-0BEE641C1DBC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619777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 B1/B2 рассмотрен как воспроизводимая black-box оптимизация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1524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constrained black-box задачи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295275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1524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5"/>
            <a:ext cx="25527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эвристических методов сопоставлены в едином воспроизводимом pipeline.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295275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15240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1285875" y="4476750"/>
            <a:ext cx="962025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 параметры ECM описаны как объект автоматической конфигурации алгоритма.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8DF80CC-6875-4B2D-929D-EA5F5A4CCFB8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B78201F-E75C-40C8-BE12-CB726A4B28DB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F35680-2232-40AF-878E-A04FEE696764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14/18</a:t>
            </a: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B576C68D-0C56-43B7-A24E-EA6F0B001CCE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 работы — процедура и инструмент локальной настройки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88595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38125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3050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287655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28003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32956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600" y="2228850"/>
            <a:ext cx="36957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09575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5"/>
            <a:ext cx="36957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09575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57150" cy="1047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36957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8A9F2FA8-D6AD-4335-8B25-F968DE3E91D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2101B276-54AA-4FF9-A218-162BD5A1DC77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CBF78AA8-6E60-4C6F-97B5-02E611CDCEF2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15/18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EB79B3B-A855-4EFB-9F41-CE3F8B5F8DD6}"/>
              </a:ext>
            </a:extLst>
          </p:cNvPr>
          <p:cNvSpPr>
            <a:spLocks noGrp="1"/>
          </p:cNvSpPr>
          <p:nvPr/>
        </p:nvSpPr>
        <p:spPr>
          <a:xfrm>
            <a:off x="514350" y="6304429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 результатов является экспериментальной и программной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904875" y="2421166"/>
            <a:ext cx="4572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904875" y="2421166"/>
            <a:ext cx="57150" cy="1905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133475" y="2611666"/>
            <a:ext cx="417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133475" y="2935516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 выполнены на ресурсах СКЦ СПбПУ в среде SLURM. Параметры проверены на независимой выборке.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191250" y="2421166"/>
            <a:ext cx="4572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191250" y="2421166"/>
            <a:ext cx="57150" cy="1905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419850" y="2611666"/>
            <a:ext cx="417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419850" y="2935516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Pipeline проверен от генерации данных до анализа. Сохраняются seed, параметры, отчеты, таблицы и графики.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43B82B9-6D23-4F44-B4ED-C88302F1BAF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E1E2E1E-61EC-48A2-9C71-DC9F9175BA8B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0C1DCF9-CC8B-4143-AA5C-F36551F1D19E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3113A1C-C059-4FC7-B638-DA661E9DB38E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16/18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ВЫВОДЫ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достигнута: система разработана, проверена и дала улучшение эталона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1333500" y="1857375"/>
            <a:ext cx="23812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1524000" y="1990725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1524000" y="2352675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валидационная метрика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4905375" y="1857375"/>
            <a:ext cx="23812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5095875" y="1990725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5095875" y="2352675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среднее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8477250" y="1857375"/>
            <a:ext cx="23812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8667750" y="1990725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8667750" y="2352675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число кривых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1619250" y="3362325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1847850" y="3286125"/>
            <a:ext cx="8763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Формализована black-box постановка выбора B1/B2.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1619250" y="3819525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1847850" y="3743325"/>
            <a:ext cx="8763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Реализован pipeline генерации, оптимизации, валидации и анализа.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1619250" y="4276725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3244C08-F7F2-455A-B04A-D86110BA872C}"/>
              </a:ext>
            </a:extLst>
          </p:cNvPr>
          <p:cNvSpPr>
            <a:spLocks noGrp="1"/>
          </p:cNvSpPr>
          <p:nvPr/>
        </p:nvSpPr>
        <p:spPr>
          <a:xfrm>
            <a:off x="1847850" y="4200525"/>
            <a:ext cx="8763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Сравнены RS, DE, GA, PSO и BO при едином протоколе.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1619250" y="4733925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1847850" y="4657725"/>
            <a:ext cx="8763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Справочные параметры GMP-ECM улучшены для 20-значных делителей.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DC08BDE-E05D-402A-B18B-CC58EC06CF2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77A63EE-7283-4C95-9B1D-8FF0C869E6A2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56AA16A0-5FFE-4B5D-BB86-BFEF3DB8F513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5642D871-431B-4914-981E-A6CBE6606303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17/18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200F8AC-21A0-407B-A0A6-7143D01DAAF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4EE06E8-39EA-41A8-8EDF-5CC03762E936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ПЕРСПЕКТИВЫ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7BF50C9-8E4D-44E1-8582-82354031111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Следующий шаг — проверить переносимость результата за пределами 20-значных делителей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8E88175-40CE-4B78-AE68-3EE104F06225}"/>
              </a:ext>
            </a:extLst>
          </p:cNvPr>
          <p:cNvSpPr>
            <a:spLocks noGrp="1"/>
          </p:cNvSpPr>
          <p:nvPr/>
        </p:nvSpPr>
        <p:spPr>
          <a:xfrm>
            <a:off x="857250" y="17145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9D604D7-640C-4BD1-AD3C-0A10E66B1D79}"/>
              </a:ext>
            </a:extLst>
          </p:cNvPr>
          <p:cNvSpPr>
            <a:spLocks noGrp="1"/>
          </p:cNvSpPr>
          <p:nvPr/>
        </p:nvSpPr>
        <p:spPr>
          <a:xfrm>
            <a:off x="857250" y="1714500"/>
            <a:ext cx="57150" cy="9334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682EE99-15C2-4265-A842-9D4C299871F6}"/>
              </a:ext>
            </a:extLst>
          </p:cNvPr>
          <p:cNvSpPr>
            <a:spLocks noGrp="1"/>
          </p:cNvSpPr>
          <p:nvPr/>
        </p:nvSpPr>
        <p:spPr>
          <a:xfrm>
            <a:off x="1085850" y="19050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РАЗМЕРЫ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2A9C363-F2B1-4077-8CCE-4166289CB977}"/>
              </a:ext>
            </a:extLst>
          </p:cNvPr>
          <p:cNvSpPr>
            <a:spLocks noGrp="1"/>
          </p:cNvSpPr>
          <p:nvPr/>
        </p:nvSpPr>
        <p:spPr>
          <a:xfrm>
            <a:off x="1085850" y="22288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более крупные делители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E22BC9A-35E3-4739-82BE-A380BBFE4AEF}"/>
              </a:ext>
            </a:extLst>
          </p:cNvPr>
          <p:cNvSpPr>
            <a:spLocks noGrp="1"/>
          </p:cNvSpPr>
          <p:nvPr/>
        </p:nvSpPr>
        <p:spPr>
          <a:xfrm>
            <a:off x="6381750" y="17145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E0E198F-9883-4E28-AAC1-BCA9B4698750}"/>
              </a:ext>
            </a:extLst>
          </p:cNvPr>
          <p:cNvSpPr>
            <a:spLocks noGrp="1"/>
          </p:cNvSpPr>
          <p:nvPr/>
        </p:nvSpPr>
        <p:spPr>
          <a:xfrm>
            <a:off x="6381750" y="1714500"/>
            <a:ext cx="57150" cy="9334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8A87605-E5CD-44E8-8EFA-4B60D99D01B5}"/>
              </a:ext>
            </a:extLst>
          </p:cNvPr>
          <p:cNvSpPr>
            <a:spLocks noGrp="1"/>
          </p:cNvSpPr>
          <p:nvPr/>
        </p:nvSpPr>
        <p:spPr>
          <a:xfrm>
            <a:off x="6610350" y="19050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КЛАССЫ ЧИСЕЛ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6081206-9E47-46A6-8D75-811272DBDECC}"/>
              </a:ext>
            </a:extLst>
          </p:cNvPr>
          <p:cNvSpPr>
            <a:spLocks noGrp="1"/>
          </p:cNvSpPr>
          <p:nvPr/>
        </p:nvSpPr>
        <p:spPr>
          <a:xfrm>
            <a:off x="6610350" y="22288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Мерсенна, Ферма, s^n +/- 1, реальные NFS-кофакторы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022DDEE-E85B-4A2F-8472-7AD9B767562A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336C652-39AA-471F-A754-4FA1F9A573C0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57150" cy="9334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CDE8C63-B9E0-4DAF-A84B-40F2A11202F5}"/>
              </a:ext>
            </a:extLst>
          </p:cNvPr>
          <p:cNvSpPr>
            <a:spLocks noGrp="1"/>
          </p:cNvSpPr>
          <p:nvPr/>
        </p:nvSpPr>
        <p:spPr>
          <a:xfrm>
            <a:off x="1085850" y="29718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5E5424A-E859-4903-8812-6243BBC9E8DE}"/>
              </a:ext>
            </a:extLst>
          </p:cNvPr>
          <p:cNvSpPr>
            <a:spLocks noGrp="1"/>
          </p:cNvSpPr>
          <p:nvPr/>
        </p:nvSpPr>
        <p:spPr>
          <a:xfrm>
            <a:off x="1085850" y="32956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платформы и версии GMP-ECM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D55024B3-337D-4F20-A584-B19481D2A3C3}"/>
              </a:ext>
            </a:extLst>
          </p:cNvPr>
          <p:cNvSpPr>
            <a:spLocks noGrp="1"/>
          </p:cNvSpPr>
          <p:nvPr/>
        </p:nvSpPr>
        <p:spPr>
          <a:xfrm>
            <a:off x="6381750" y="27813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E52605D1-C9FC-4194-A355-0DD91D35DF23}"/>
              </a:ext>
            </a:extLst>
          </p:cNvPr>
          <p:cNvSpPr>
            <a:spLocks noGrp="1"/>
          </p:cNvSpPr>
          <p:nvPr/>
        </p:nvSpPr>
        <p:spPr>
          <a:xfrm>
            <a:off x="6381750" y="2781300"/>
            <a:ext cx="57150" cy="9334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2C24AEE-D259-4876-A42E-17E8461BB047}"/>
              </a:ext>
            </a:extLst>
          </p:cNvPr>
          <p:cNvSpPr>
            <a:spLocks noGrp="1"/>
          </p:cNvSpPr>
          <p:nvPr/>
        </p:nvSpPr>
        <p:spPr>
          <a:xfrm>
            <a:off x="6610350" y="29718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СТАТИСТИКА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3CB1233-9E3B-42C3-B080-CA8E63877820}"/>
              </a:ext>
            </a:extLst>
          </p:cNvPr>
          <p:cNvSpPr>
            <a:spLocks noGrp="1"/>
          </p:cNvSpPr>
          <p:nvPr/>
        </p:nvSpPr>
        <p:spPr>
          <a:xfrm>
            <a:off x="6610350" y="32956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больше seed и независимых control-наборов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AE0F841-8BFB-4546-B2B4-23A8E26B60A1}"/>
              </a:ext>
            </a:extLst>
          </p:cNvPr>
          <p:cNvSpPr>
            <a:spLocks noGrp="1"/>
          </p:cNvSpPr>
          <p:nvPr/>
        </p:nvSpPr>
        <p:spPr>
          <a:xfrm>
            <a:off x="857250" y="38481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E50AF81-0AF0-4C53-8C46-88054AE86BC9}"/>
              </a:ext>
            </a:extLst>
          </p:cNvPr>
          <p:cNvSpPr>
            <a:spLocks noGrp="1"/>
          </p:cNvSpPr>
          <p:nvPr/>
        </p:nvSpPr>
        <p:spPr>
          <a:xfrm>
            <a:off x="857250" y="3848100"/>
            <a:ext cx="57150" cy="9334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3C81656-38E8-42DE-B5E4-BBC75AFF2589}"/>
              </a:ext>
            </a:extLst>
          </p:cNvPr>
          <p:cNvSpPr>
            <a:spLocks noGrp="1"/>
          </p:cNvSpPr>
          <p:nvPr/>
        </p:nvSpPr>
        <p:spPr>
          <a:xfrm>
            <a:off x="1085850" y="40386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СТОЙКОСТЬ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297EB1E-0FE6-41B9-AC9E-B13474460241}"/>
              </a:ext>
            </a:extLst>
          </p:cNvPr>
          <p:cNvSpPr>
            <a:spLocks noGrp="1"/>
          </p:cNvSpPr>
          <p:nvPr/>
        </p:nvSpPr>
        <p:spPr>
          <a:xfrm>
            <a:off x="1085850" y="43624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 на цель практической факторизации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BADA4DE-BB74-4E52-878B-B7B405F1EC05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51DC39F-013C-46F1-992D-82BA20FCDA93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57150" cy="9334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9F197F5-629B-4F90-AAB3-9E79DA7F7D35}"/>
              </a:ext>
            </a:extLst>
          </p:cNvPr>
          <p:cNvSpPr>
            <a:spLocks noGrp="1"/>
          </p:cNvSpPr>
          <p:nvPr/>
        </p:nvSpPr>
        <p:spPr>
          <a:xfrm>
            <a:off x="6610350" y="40386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АДАПТИВНОСТЬ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529C1C19-EFF2-4E93-8804-236FD91B276F}"/>
              </a:ext>
            </a:extLst>
          </p:cNvPr>
          <p:cNvSpPr>
            <a:spLocks noGrp="1"/>
          </p:cNvSpPr>
          <p:nvPr/>
        </p:nvSpPr>
        <p:spPr>
          <a:xfrm>
            <a:off x="6610350" y="43624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 оптимизатора и бюджет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AE0BCED-1D4A-4644-83AD-6C3D64C6E2B5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6B85EC2-19E4-48B1-BCE9-E3F0F47C14F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F825E47-8226-4CF0-AC00-482BDAC5D29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08C24503-A54B-4E0B-87D9-3CA7FB14480E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084C291-7022-47CF-9267-9FC5A395C7C8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076525F6-3331-48DE-AB95-018AF7A114F6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10401491-4D1C-4F82-A2DF-71D04926EF15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18/18</a:t>
            </a:r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5263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1451</Words>
  <Application>Microsoft Office PowerPoint</Application>
  <DocSecurity>0</DocSecurity>
  <PresentationFormat>Широкоэкранный</PresentationFormat>
  <Paragraphs>331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1" baseType="lpstr">
      <vt:lpstr>Calibri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18</cp:revision>
  <dcterms:created xsi:type="dcterms:W3CDTF">2026-05-26T07:25:08Z</dcterms:created>
  <dcterms:modified xsi:type="dcterms:W3CDTF">2026-05-26T08:51:31Z</dcterms:modified>
</cp:coreProperties>
</file>