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4927"/>
    <a:srgbClr val="37B34A"/>
    <a:srgbClr val="5228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3905" autoAdjust="0"/>
  </p:normalViewPr>
  <p:slideViewPr>
    <p:cSldViewPr snapToGrid="0">
      <p:cViewPr>
        <p:scale>
          <a:sx n="50" d="100"/>
          <a:sy n="50" d="100"/>
        </p:scale>
        <p:origin x="360" y="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80937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80967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80937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3921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6969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001754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1154904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1154904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1314274" y="2019300"/>
            <a:ext cx="201488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3904058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4833937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4833937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4967287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7583091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8512970" y="1885950"/>
            <a:ext cx="2333626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8512970" y="2895600"/>
            <a:ext cx="2333626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8646320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17BAC3-927F-433D-A2B9-67E5FED4870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CEA4B77-408E-4341-9927-484D7E75A0A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76698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D5E1CB10-E4A9-47AF-BC3A-C63616034E9B}"/>
              </a:ext>
            </a:extLst>
          </p:cNvPr>
          <p:cNvSpPr>
            <a:spLocks noGrp="1"/>
          </p:cNvSpPr>
          <p:nvPr/>
        </p:nvSpPr>
        <p:spPr>
          <a:xfrm>
            <a:off x="6287131" y="483439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1FA970C-EEC3-4F4B-AACB-826B10A1AD9F}"/>
              </a:ext>
            </a:extLst>
          </p:cNvPr>
          <p:cNvSpPr>
            <a:spLocks noGrp="1"/>
          </p:cNvSpPr>
          <p:nvPr/>
        </p:nvSpPr>
        <p:spPr>
          <a:xfrm>
            <a:off x="6287131" y="26559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6EFC21CC-2C49-461A-AEFD-64197607F0E4}"/>
              </a:ext>
            </a:extLst>
          </p:cNvPr>
          <p:cNvSpPr>
            <a:spLocks noGrp="1"/>
          </p:cNvSpPr>
          <p:nvPr/>
        </p:nvSpPr>
        <p:spPr>
          <a:xfrm>
            <a:off x="6292048" y="375223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ACB215E-CDC8-4F68-A577-1D7F615C4266}"/>
              </a:ext>
            </a:extLst>
          </p:cNvPr>
          <p:cNvSpPr>
            <a:spLocks noGrp="1"/>
          </p:cNvSpPr>
          <p:nvPr/>
        </p:nvSpPr>
        <p:spPr>
          <a:xfrm>
            <a:off x="776133" y="48491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0D742CD-75AA-4DC9-B3C0-059E1FBD765F}"/>
              </a:ext>
            </a:extLst>
          </p:cNvPr>
          <p:cNvSpPr>
            <a:spLocks noGrp="1"/>
          </p:cNvSpPr>
          <p:nvPr/>
        </p:nvSpPr>
        <p:spPr>
          <a:xfrm>
            <a:off x="776133" y="2670690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382250" cy="881214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50006" cy="881214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690536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1984892"/>
            <a:ext cx="9235563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программную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систему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автоматического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оценить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48706" y="2712841"/>
            <a:ext cx="4772121" cy="2653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48707" y="3034175"/>
            <a:ext cx="4514849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Провести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аналитический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определить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место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специализированных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универсальных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2709566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3792512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48706" y="4894671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4883104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61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A7E3FDB4-E0A7-4C73-B090-6104DE16E6E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работы и ключевые этапы:</a:t>
            </a:r>
            <a:br/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 анализа ECM до проверки найденных параметров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3C3D6E5-C277-43F9-85F9-6EA0BAABC636}"/>
              </a:ext>
            </a:extLst>
          </p:cNvPr>
          <p:cNvSpPr>
            <a:spLocks noGrp="1"/>
          </p:cNvSpPr>
          <p:nvPr/>
        </p:nvSpPr>
        <p:spPr>
          <a:xfrm>
            <a:off x="948706" y="3798491"/>
            <a:ext cx="4772120" cy="21938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8874CA52-DED8-4809-AD33-DDCA9F07EB41}"/>
              </a:ext>
            </a:extLst>
          </p:cNvPr>
          <p:cNvSpPr>
            <a:spLocks noGrp="1"/>
          </p:cNvSpPr>
          <p:nvPr/>
        </p:nvSpPr>
        <p:spPr>
          <a:xfrm>
            <a:off x="949325" y="4149686"/>
            <a:ext cx="4514232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Проанализировать практические подходы к выбору параметров ECM и формализовать подбор B1/B2 как стохастическую оптимизацию «черного ящика».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F8A55C1A-87D4-4B8F-BC38-854AEA69862F}"/>
              </a:ext>
            </a:extLst>
          </p:cNvPr>
          <p:cNvSpPr>
            <a:spLocks noGrp="1"/>
          </p:cNvSpPr>
          <p:nvPr/>
        </p:nvSpPr>
        <p:spPr>
          <a:xfrm>
            <a:off x="948707" y="5221176"/>
            <a:ext cx="4514850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программную систему генерации датасетов, запуска GMP-ECM, оптимизации, валидации и анализа результатов.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5718F03B-CF8C-412C-8EA5-A80ABA25A7C5}"/>
              </a:ext>
            </a:extLst>
          </p:cNvPr>
          <p:cNvSpPr>
            <a:spLocks noGrp="1"/>
          </p:cNvSpPr>
          <p:nvPr/>
        </p:nvSpPr>
        <p:spPr>
          <a:xfrm>
            <a:off x="6459703" y="3009595"/>
            <a:ext cx="4474997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теоретические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основы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 и B2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вероятность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вычислений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D6202D13-B5D8-4025-A3B8-983C29D928B2}"/>
              </a:ext>
            </a:extLst>
          </p:cNvPr>
          <p:cNvSpPr>
            <a:spLocks noGrp="1"/>
          </p:cNvSpPr>
          <p:nvPr/>
        </p:nvSpPr>
        <p:spPr>
          <a:xfrm>
            <a:off x="6459703" y="4056506"/>
            <a:ext cx="453214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Обосновать выбор эвристических методов оптимизации для настройки параметров ECM.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F5091C3-2C80-43FD-B3D2-364E90F3C683}"/>
              </a:ext>
            </a:extLst>
          </p:cNvPr>
          <p:cNvSpPr>
            <a:spLocks noGrp="1"/>
          </p:cNvSpPr>
          <p:nvPr/>
        </p:nvSpPr>
        <p:spPr>
          <a:xfrm>
            <a:off x="6459702" y="5149804"/>
            <a:ext cx="447499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/>
              <a:t>Провести вычислительные эксперименты, сравнить найденные параметры со справочными GMP-ECM и сформулировать ограничения и рекомендации.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2FB1989-6AA4-4193-8F49-56162DCF64D8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</a:t>
            </a:r>
            <a:r>
              <a:rPr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Сергеевич</a:t>
            </a:r>
            <a:endParaRPr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применением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8F7AD74-46D0-43CF-B96C-E31CA37F70D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211304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211304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211304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211304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5081003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используются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сильные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базовые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значения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D1AB98A4-9458-4BCB-BEDC-505CCD4B1156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7CCBD82-0923-4C61-9151-00C8E2B60B0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22195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22195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55545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75271" y="241579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3139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3139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47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188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4094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4094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427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9143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504947" y="2088183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504947" y="3097833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38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41981" y="242331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48573" y="2088183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48573" y="3097833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81923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овая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  <a:endParaRPr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попытка.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158290" y="5176709"/>
            <a:ext cx="9875419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находится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этими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двумя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альтернативами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зависит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практических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требований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7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BF7C523-41B2-42CD-96CF-019BE0A6928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6239BA9A-866E-404D-A280-9B8147B05BB4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765429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оптимизации «черного ящика» с ограничениями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22669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t"/>
              <a:lstStyle/>
              <a:p>
                <a:pPr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b="1" i="1">
                          <a:latin typeface="Cambria Math"/>
                          <a:ea typeface="Cambria Math"/>
                          <a:cs typeface="Cambria Math"/>
                        </a:rPr>
                        <m:t>𝒙</m:t>
                      </m:r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ru-RU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ru-RU" b="1"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  <a:p>
                <a:pPr algn="l"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:br/>
                <a:r>
                  <a: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rPr>
                  <a:t>Переменные алгоритма с ростом делителя растут на порядки.</a:t>
                </a:r>
              </a:p>
            </p:txBody>
          </p:sp>
        </mc:Choice>
        <mc:Fallback xmlns="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blipFill>
                <a:blip r:embed="rId3"/>
                <a:stretch>
                  <a:fillRect l="-4802" t="-862" b="-732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45719" cy="22669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22669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455694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266825" y="4627144"/>
            <a:ext cx="971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 формулы качества нет: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 видит GMP-ECM как внешнюю функцию, дающую шумные эмпирические оценки.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type m:val="noBar"/>
                          <m:ctrlPr>
                            <a:rPr lang="ru-RU" sz="2400" b="1" i="1" smtClean="0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0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f>
                                <m:f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.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7D71387-F694-405A-96DF-4435C213E69B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65445ED-70E4-4B56-9B19-E561243E941C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функции дающей зашумленный результат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70304" y="2381165"/>
            <a:ext cx="1612328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70304" y="3390815"/>
            <a:ext cx="1612328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403654" y="2514515"/>
            <a:ext cx="1368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rain-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1808819" y="270942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2304085" y="2367349"/>
            <a:ext cx="1639813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2304085" y="3376999"/>
            <a:ext cx="1639813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2437436" y="2500699"/>
            <a:ext cx="1456153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птимизатор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3930454" y="269726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4365351" y="2366524"/>
            <a:ext cx="1639813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4365351" y="3376174"/>
            <a:ext cx="1639813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4498701" y="2499874"/>
            <a:ext cx="139815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айденные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692819" y="392264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692819" y="493229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826169" y="4055996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ontrol-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2747963" y="425917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3317207" y="393417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3317207" y="494382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3450557" y="4067526"/>
            <a:ext cx="1776222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езависимая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6373166" y="1760114"/>
            <a:ext cx="5304483" cy="249905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6373166" y="1760113"/>
            <a:ext cx="57151" cy="249905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6717283" y="1818168"/>
            <a:ext cx="4286250" cy="5134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(композитная метрика) 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373167" y="4402320"/>
            <a:ext cx="5304482" cy="13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373166" y="4402320"/>
            <a:ext cx="58367" cy="1300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718499" y="4483232"/>
            <a:ext cx="4169518" cy="59626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%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(метрика улучшения)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endParaRPr sz="1400" b="1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𝑚𝑒𝑡</m:t>
                              </m:r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𝑜𝑑</m:t>
                              </m:r>
                            </m:sub>
                          </m:sSub>
                        </m:num>
                        <m:den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</m:den>
                      </m:f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%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b="1" i="1">
                          <a:latin typeface="Cambria Math"/>
                          <a:ea typeface="Cambria Math"/>
                          <a:cs typeface="Cambria Math"/>
                        </a:rPr>
                        <m:t>𝟐𝟎𝟎𝟎𝟎𝟎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unc>
                        <m:func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𝐦𝐚𝐱</m:t>
                          </m:r>
                        </m:fName>
                        <m:e>
                          <m:d>
                            <m:d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, 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.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𝟗𝟎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ru-RU" sz="16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ru-RU" sz="1600" b="1" i="1">
                                      <a:solidFill>
                                        <a:srgbClr val="DA492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𝒑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37B34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𝒕</m:t>
                          </m:r>
                        </m:e>
                      </m:ac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𝟓𝟎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522878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𝒄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  <a:blipFill>
                <a:blip r:embed="rId5"/>
                <a:stretch>
                  <a:fillRect r="-2152" b="-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81662DF-2770-4E58-925C-12C009689F1F}"/>
              </a:ext>
            </a:extLst>
          </p:cNvPr>
          <p:cNvSpPr>
            <a:spLocks noGrp="1"/>
          </p:cNvSpPr>
          <p:nvPr/>
        </p:nvSpPr>
        <p:spPr>
          <a:xfrm>
            <a:off x="6809432" y="2699067"/>
            <a:ext cx="2542615" cy="325790"/>
          </a:xfrm>
          <a:prstGeom prst="rect">
            <a:avLst/>
          </a:prstGeom>
          <a:noFill/>
          <a:ln w="9525">
            <a:solidFill>
              <a:srgbClr val="DA4927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A3A581C-0FD0-4E25-9ECE-8FDE803E6881}"/>
              </a:ext>
            </a:extLst>
          </p:cNvPr>
          <p:cNvSpPr>
            <a:spLocks noGrp="1"/>
          </p:cNvSpPr>
          <p:nvPr/>
        </p:nvSpPr>
        <p:spPr>
          <a:xfrm>
            <a:off x="6665850" y="2320701"/>
            <a:ext cx="31164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Штраф за недобор успеха (ниже 90%)</a:t>
            </a:r>
          </a:p>
        </p:txBody>
      </p:sp>
      <p:cxnSp>
        <p:nvCxnSpPr>
          <p:cNvPr id="45" name="Прямая соединительная линия 45"/>
          <p:cNvCxnSpPr>
            <a:stCxn id="44" idx="1"/>
            <a:endCxn id="42" idx="1"/>
          </p:cNvCxnSpPr>
          <p:nvPr/>
        </p:nvCxnSpPr>
        <p:spPr>
          <a:xfrm>
            <a:off x="6665850" y="2474590"/>
            <a:ext cx="143582" cy="387372"/>
          </a:xfrm>
          <a:prstGeom prst="line">
            <a:avLst/>
          </a:prstGeom>
          <a:ln>
            <a:solidFill>
              <a:srgbClr val="DA49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C5A61A20-0D8A-45A4-83D8-6295F98DB333}"/>
              </a:ext>
            </a:extLst>
          </p:cNvPr>
          <p:cNvSpPr>
            <a:spLocks noGrp="1"/>
          </p:cNvSpPr>
          <p:nvPr/>
        </p:nvSpPr>
        <p:spPr>
          <a:xfrm>
            <a:off x="9571219" y="2692141"/>
            <a:ext cx="968906" cy="325790"/>
          </a:xfrm>
          <a:prstGeom prst="rect">
            <a:avLst/>
          </a:prstGeom>
          <a:noFill/>
          <a:ln w="9525">
            <a:solidFill>
              <a:srgbClr val="37B34A"/>
            </a:solidFill>
            <a:prstDash val="solid"/>
          </a:ln>
        </p:spPr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620A3B3-4ADC-4254-AD71-F7F2D3DB4D37}"/>
              </a:ext>
            </a:extLst>
          </p:cNvPr>
          <p:cNvSpPr>
            <a:spLocks noGrp="1"/>
          </p:cNvSpPr>
          <p:nvPr/>
        </p:nvSpPr>
        <p:spPr>
          <a:xfrm>
            <a:off x="7616930" y="3133530"/>
            <a:ext cx="16789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Взвешенное время</a:t>
            </a:r>
          </a:p>
        </p:txBody>
      </p:sp>
      <p:cxnSp>
        <p:nvCxnSpPr>
          <p:cNvPr id="52" name="Прямая соединительная линия 52"/>
          <p:cNvCxnSpPr>
            <a:stCxn id="51" idx="3"/>
            <a:endCxn id="50" idx="1"/>
          </p:cNvCxnSpPr>
          <p:nvPr/>
        </p:nvCxnSpPr>
        <p:spPr>
          <a:xfrm flipV="1">
            <a:off x="9295851" y="2855036"/>
            <a:ext cx="275368" cy="432383"/>
          </a:xfrm>
          <a:prstGeom prst="line">
            <a:avLst/>
          </a:prstGeom>
          <a:ln>
            <a:solidFill>
              <a:srgbClr val="37B34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FA44951E-0CAA-4B83-A4A7-C515925DD0D6}"/>
              </a:ext>
            </a:extLst>
          </p:cNvPr>
          <p:cNvSpPr>
            <a:spLocks noGrp="1"/>
          </p:cNvSpPr>
          <p:nvPr/>
        </p:nvSpPr>
        <p:spPr>
          <a:xfrm>
            <a:off x="9352048" y="3140507"/>
            <a:ext cx="22637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Взвешенное число кривых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7E46AC83-DD7A-4E1C-84DE-54C7F7AAAD79}"/>
              </a:ext>
            </a:extLst>
          </p:cNvPr>
          <p:cNvSpPr>
            <a:spLocks noGrp="1"/>
          </p:cNvSpPr>
          <p:nvPr/>
        </p:nvSpPr>
        <p:spPr>
          <a:xfrm>
            <a:off x="10738645" y="2697265"/>
            <a:ext cx="674273" cy="315141"/>
          </a:xfrm>
          <a:prstGeom prst="rect">
            <a:avLst/>
          </a:prstGeom>
          <a:noFill/>
          <a:ln w="9525">
            <a:solidFill>
              <a:srgbClr val="522878"/>
            </a:solidFill>
            <a:prstDash val="solid"/>
          </a:ln>
        </p:spPr>
      </p:sp>
      <p:cxnSp>
        <p:nvCxnSpPr>
          <p:cNvPr id="57" name="Прямая соединительная линия 57"/>
          <p:cNvCxnSpPr>
            <a:stCxn id="55" idx="0"/>
            <a:endCxn id="56" idx="1"/>
          </p:cNvCxnSpPr>
          <p:nvPr/>
        </p:nvCxnSpPr>
        <p:spPr>
          <a:xfrm flipV="1">
            <a:off x="10483929" y="2854836"/>
            <a:ext cx="254716" cy="285671"/>
          </a:xfrm>
          <a:prstGeom prst="line">
            <a:avLst/>
          </a:prstGeom>
          <a:ln>
            <a:solidFill>
              <a:srgbClr val="5228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sz="1400" b="1" dirty="0" err="1">
                    <a:latin typeface="Onest"/>
                    <a:ea typeface="Onest"/>
                    <a:cs typeface="Onest"/>
                  </a:rPr>
                  <a:t>где</a:t>
                </a:r>
                <a:endParaRPr sz="1400" b="1" dirty="0">
                  <a:latin typeface="Onest"/>
                  <a:ea typeface="Onest"/>
                  <a:cs typeface="Onest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b="1" i="1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acc>
                  </m:oMath>
                </a14:m>
                <a:r>
                  <a:rPr lang="en-US" b="1" dirty="0">
                    <a:solidFill>
                      <a:srgbClr val="DA4927"/>
                    </a:solidFill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средняя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доля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успеха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acc>
                  </m:oMath>
                </a14:m>
                <a:r>
                  <a:rPr lang="en-US" sz="1400" b="1" dirty="0">
                    <a:solidFill>
                      <a:srgbClr val="37B34A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время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  <a:br>
                  <a:rPr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ar-AE" b="1" i="1" smtClean="0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ar-AE" sz="1400" b="1" dirty="0">
                    <a:solidFill>
                      <a:srgbClr val="522878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число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кривых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.</a:t>
                </a:r>
              </a:p>
            </p:txBody>
          </p:sp>
        </mc:Choice>
        <mc:Fallback xmlns="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  <a:blipFill>
                <a:blip r:embed="rId6"/>
                <a:stretch>
                  <a:fillRect l="-574" t="-1087" b="-5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51BC16A4-D1FE-4488-87DD-B3E108F12B2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995A44E0-B4E1-467A-B8ED-81677A1D43F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4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</a:p>
        </p:txBody>
      </p:sp>
      <p:graphicFrame>
        <p:nvGraphicFramePr>
          <p:cNvPr id="41" name="Таблица 38"/>
          <p:cNvGraphicFramePr/>
          <p:nvPr/>
        </p:nvGraphicFramePr>
        <p:xfrm>
          <a:off x="752475" y="1661328"/>
          <a:ext cx="10382250" cy="347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9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Тип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Роль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RS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Случайный поиск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Базовый ориентир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Дифференциальная эволюция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Популяционный направленный поиск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Генетический алгоритм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Эволюционный поиск с элитизмом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Роевой алгоритм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Личный и коллективный опыт частиц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Байесовская оптимизация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Суррогатная модель дорогой функции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B9948BF-B012-4978-AAAC-55DCA9A3CB93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5E36DBD-A3C3-40D5-8CC5-79B3D3AFEF3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8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388285" y="2747119"/>
            <a:ext cx="60344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388285" y="3756769"/>
            <a:ext cx="60344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384907" y="2880469"/>
            <a:ext cx="473468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906000" y="3125601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1327346" y="2030226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1327346" y="3039876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1426102" y="2163576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2648519" y="235099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3131276" y="2037228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3131276" y="3046878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3192567" y="2170578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</a:t>
            </a:r>
            <a:br/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1327346" y="3506601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1327346" y="4516251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1426102" y="3639951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2648519" y="382736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3131276" y="3513603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3131276" y="4523253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3192567" y="3646953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1525115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4970454" y="26098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4970454" y="2933700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384907" y="5026116"/>
            <a:ext cx="583348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 не вычисляет GMP-ECM напрямую:</a:t>
            </a:r>
          </a:p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 кандидаты проходят через единый fitness evaluator.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2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33" name="Рисунок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984" y="1194778"/>
            <a:ext cx="5171043" cy="4403984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BBFE164-49B9-43BE-B1FB-2E9D0A23C0D3}"/>
              </a:ext>
            </a:extLst>
          </p:cNvPr>
          <p:cNvSpPr>
            <a:spLocks noGrp="1"/>
          </p:cNvSpPr>
          <p:nvPr/>
        </p:nvSpPr>
        <p:spPr>
          <a:xfrm>
            <a:off x="7236468" y="5549384"/>
            <a:ext cx="38220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Архитектурная схема системы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930679E-35F6-4C82-9A6C-D0406A16B95A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CF38E3D-F854-4DD2-95BD-0F5B29E9200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9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233619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разделяет поиск параметров и их валидацию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елевой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простой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p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офактор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q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2"/>
            <a:ext cx="161925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rain и </a:t>
            </a: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ontrol</a:t>
            </a:r>
            <a:endParaRPr lang="ru-RU"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наборы.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талон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GMP-ECM B1/B2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0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>
              <a:buNone/>
            </a:pPr>
            <a:r>
              <a:rPr sz="2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N 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= </a:t>
            </a:r>
            <a:r>
              <a:rPr sz="2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 </a:t>
            </a:r>
            <a:r>
              <a:rPr sz="2800"/>
              <a:t>⋅ </a:t>
            </a:r>
            <a:r>
              <a:rPr sz="2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q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4751F59-5699-4248-96FB-03BD9AA6622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39EDA3A-4992-4FE4-9E9B-EAAAFD36EC08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10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231" y="1113285"/>
            <a:ext cx="5046891" cy="2523446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этап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нашел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область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лучше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справочной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35122" y="1456381"/>
            <a:ext cx="5318579" cy="3656523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5484182" y="5069421"/>
            <a:ext cx="4762046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3. Выигрыш валидационной метрики по методам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0553700" y="1584999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0744200" y="1718349"/>
            <a:ext cx="90487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20-23%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0744200" y="2080299"/>
            <a:ext cx="1085396" cy="666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10553700" y="2936266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10744200" y="3069616"/>
            <a:ext cx="111442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18-19%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10744200" y="3431566"/>
            <a:ext cx="1114425" cy="6640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10553700" y="4284960"/>
            <a:ext cx="1304925" cy="1217131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10744200" y="4418311"/>
            <a:ext cx="933450" cy="24611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35-52%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10744200" y="4780261"/>
            <a:ext cx="1085396" cy="615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792" y="3544832"/>
            <a:ext cx="5046891" cy="210287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400080" y="5586897"/>
            <a:ext cx="4623191" cy="3281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Траектория поиска GA в пространстве B1/B2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B9B237B-DD96-4D16-842A-25C70257854C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2D0547-B8AC-4593-88FC-2E1CFCED3E47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11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2137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pic>
        <p:nvPicPr>
          <p:cNvPr id="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3729" y="3153810"/>
            <a:ext cx="3731876" cy="2565664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</a:t>
            </a: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кривые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76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536680" y="557128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5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198" y="952670"/>
            <a:ext cx="4864028" cy="2026938"/>
          </a:xfrm>
          <a:prstGeom prst="rect">
            <a:avLst/>
          </a:prstGeom>
        </p:spPr>
      </p:pic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B56A0F26-2EA8-4AF2-945C-7874F82D13D0}"/>
              </a:ext>
            </a:extLst>
          </p:cNvPr>
          <p:cNvSpPr>
            <a:spLocks noGrp="1"/>
          </p:cNvSpPr>
          <p:nvPr/>
        </p:nvSpPr>
        <p:spPr>
          <a:xfrm>
            <a:off x="7441986" y="2873030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4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Проверенные B1/B2 алгоритмом GA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85" name="Таблица 38"/>
          <p:cNvGraphicFramePr/>
          <p:nvPr/>
        </p:nvGraphicFramePr>
        <p:xfrm>
          <a:off x="217573" y="2072245"/>
          <a:ext cx="6488027" cy="2415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66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30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28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B1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B2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Метрика,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Время,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Кривые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20510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636495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-13,70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-14,30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-9,71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33716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3003081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-22,35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-17,92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-51,69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52298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2726216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-24,46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-18,75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-62,42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32609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2737437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-25,14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-21,04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-52,14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1D61B7E-74D0-4013-B77B-D6C5DA87351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49C1813-8C44-435F-970D-14698C833DB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1726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86" y="1156062"/>
            <a:ext cx="3960000" cy="297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117016" y="1364128"/>
            <a:ext cx="3960000" cy="2475001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-190500" y="4101177"/>
            <a:ext cx="4381500" cy="59547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6. Компромисс между временем оптимизации и выигрышем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4064256" y="4104677"/>
            <a:ext cx="4063488" cy="2404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7. 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4821154"/>
            <a:ext cx="1809749" cy="952497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4851063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4821154"/>
            <a:ext cx="1809750" cy="952498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</a:t>
            </a:r>
            <a:br/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4821155"/>
            <a:ext cx="1809750" cy="952498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</a:t>
            </a:r>
          </a:p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4821154"/>
            <a:ext cx="1809750" cy="952499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4821154"/>
            <a:ext cx="1809750" cy="9525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</a:t>
            </a:r>
            <a:br/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быстрая разведка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014" y="1372775"/>
            <a:ext cx="3960000" cy="2475000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E8CAF72-DB98-4DFB-BDA8-5DC465853F68}"/>
              </a:ext>
            </a:extLst>
          </p:cNvPr>
          <p:cNvSpPr>
            <a:spLocks noGrp="1"/>
          </p:cNvSpPr>
          <p:nvPr/>
        </p:nvSpPr>
        <p:spPr>
          <a:xfrm>
            <a:off x="8369742" y="4055630"/>
            <a:ext cx="35608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8. GA: распределение по времени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32EF6D0-2D42-4187-806A-42DCAD252DB4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C316EA0-3B1F-49B0-AA52-2D5D47727D9E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9858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21335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15036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задачи «черного ящика» с ограничениями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21335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4"/>
            <a:ext cx="2552700" cy="150361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эвристических методов сопоставлены в едином воспроизводимом pipeline.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21335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13647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047750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</a:t>
            </a:r>
            <a:br/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параметры ECM описаны как объект автоматической конфигурации алгоритма.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F85F7B5-FDD6-4BEC-8C04-D819D3551D61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132A296-8C6C-4284-9B3C-350A176B3AC3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работы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—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инструмент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локальной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94400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72959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609848"/>
            <a:ext cx="4591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359385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3474113"/>
            <a:ext cx="4953000" cy="6377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455437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4434632"/>
            <a:ext cx="4953000" cy="7088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7999" y="1714500"/>
            <a:ext cx="4810125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599" y="2245891"/>
            <a:ext cx="4423229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810124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4"/>
            <a:ext cx="4581524" cy="6000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8196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49"/>
            <a:ext cx="57150" cy="1181099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4423228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9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61C5BA3-DEF7-45DE-BADF-24C5236E1F3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6A2FDC-4E41-497D-9717-3A0BC9C1BCAD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программная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1033211" y="2148451"/>
            <a:ext cx="4572000" cy="289511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1033210" y="2148452"/>
            <a:ext cx="57151" cy="288074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261811" y="2338952"/>
            <a:ext cx="4171950" cy="7970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261811" y="2999370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ресурсах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СКЦ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СПбПУ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SLURM.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независимой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выборке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4572000" cy="289511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57150" cy="289511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548186" y="2338951"/>
            <a:ext cx="4171950" cy="9113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591300" y="2912551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генерации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данных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отчеты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графики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19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7DEDCC6-A7F7-41B9-8CEE-E88567DC3A0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FC3AC85-6C64-4930-9625-F4ABC7E4397A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ЗАКЛЮЧЕНИЕ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00100"/>
            <a:ext cx="81915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3250"/>
          </a:bodyPr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результатам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исследования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ВКР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достигнута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: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автоматизированного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ECM,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позволяющая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сни</a:t>
            </a:r>
            <a:r>
              <a:rPr lang="ru-RU"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зи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эмпирическую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оценку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ожидаемой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стоимости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9658347" y="142875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9848846" y="1581150"/>
            <a:ext cx="2012284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9848846" y="1952625"/>
            <a:ext cx="201228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9658346" y="2619375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9848846" y="2771775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9848846" y="3143250"/>
            <a:ext cx="1877931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среднего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9658346" y="381000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9848846" y="3962400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9848846" y="4333875"/>
            <a:ext cx="1877931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1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числа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547687" y="1852803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РЕШЕННЫ ЗАДАЧИ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571500" y="2100452"/>
            <a:ext cx="9063034" cy="21667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Выполнен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аналитический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обзор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методов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факторизации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;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определено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место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в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практическом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конвейере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Рассмотрены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стадии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влияние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на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вероятность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успеха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время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число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кривых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Подбор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формализован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как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стохастическая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black-box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задача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с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ограничениями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  <a:endParaRPr lang="ru-RU" sz="1400" b="0" dirty="0">
              <a:solidFill>
                <a:srgbClr val="15181F"/>
              </a:solidFill>
              <a:latin typeface="Onest"/>
              <a:ea typeface="Onest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Обоснован набор эвристических методов: RS, DE, GA, PSO и BO.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Разработана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Python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-система: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датасеты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GMP-ECM, оптимизация, валидация и анализ.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Проведены эксперименты, независимая контрольная валидация, анализ ограничений и рекомендации.</a:t>
            </a:r>
          </a:p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1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6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1D05F42-72F0-488A-AC60-927D1036981C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ПЕРСПЕКТИВЫ РАЗВИТИЯ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637D8A9-290E-4B07-A97C-2CD7D98DF8EE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E26153-5844-4129-8B32-76BDBE7AB548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57150" cy="9906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F463B43-8ACA-4054-9E7F-C205EF37CD1C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МАСШТАБ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5B8363E2-0D69-4AF1-8B6B-B7ED0479711D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2095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C1BE02B3-4F07-4E74-A2C5-ED02E43A9C15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7CB82A-E417-4368-B003-B19209609B11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57150" cy="9906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3CA7032-C3A2-44FD-A2E4-9EF6D96A6D72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МЕТОДИКА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649E3BA-A5E9-4F52-B37E-FCF2EA89C319}"/>
              </a:ext>
            </a:extLst>
          </p:cNvPr>
          <p:cNvSpPr>
            <a:spLocks noGrp="1"/>
          </p:cNvSpPr>
          <p:nvPr/>
        </p:nvSpPr>
        <p:spPr>
          <a:xfrm>
            <a:off x="6267450" y="4953000"/>
            <a:ext cx="2266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ополнительные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seed/control-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CPU-hour,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адаптивная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остановка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E18121CC-3EBC-44BA-A48F-F40773F2F1D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08C9F03-663A-45C1-A1FD-E0DFD65A01A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57150" cy="9906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CC2EAB03-AD67-4561-A1DC-AFD70A0B05B8}"/>
              </a:ext>
            </a:extLst>
          </p:cNvPr>
          <p:cNvSpPr>
            <a:spLocks noGrp="1"/>
          </p:cNvSpPr>
          <p:nvPr/>
        </p:nvSpPr>
        <p:spPr>
          <a:xfrm>
            <a:off x="35242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43FED70-71F0-4975-BE85-7F0E4FE291F9}"/>
              </a:ext>
            </a:extLst>
          </p:cNvPr>
          <p:cNvSpPr>
            <a:spLocks noGrp="1"/>
          </p:cNvSpPr>
          <p:nvPr/>
        </p:nvSpPr>
        <p:spPr>
          <a:xfrm>
            <a:off x="3429001" y="5067300"/>
            <a:ext cx="2333623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латформы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версии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24853C-3B40-4031-B7A1-03BE080A79A0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A6C6A536-1153-45DB-9232-C0F1EFB6853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1558</Words>
  <Application>Microsoft Office PowerPoint</Application>
  <DocSecurity>0</DocSecurity>
  <PresentationFormat>Широкоэкранный</PresentationFormat>
  <Paragraphs>338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Calibri</vt:lpstr>
      <vt:lpstr>Cambria Math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12</cp:revision>
  <dcterms:created xsi:type="dcterms:W3CDTF">2026-05-26T20:05:52Z</dcterms:created>
  <dcterms:modified xsi:type="dcterms:W3CDTF">2026-05-31T16:41:38Z</dcterms:modified>
</cp:coreProperties>
</file>