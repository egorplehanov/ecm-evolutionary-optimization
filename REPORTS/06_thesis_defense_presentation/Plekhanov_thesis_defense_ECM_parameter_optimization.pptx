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2202261f1a428f" /><Relationship Type="http://schemas.openxmlformats.org/officeDocument/2006/relationships/extended-properties" Target="/docProps/app.xml" Id="R8e6568ed9c7b469a" /><Relationship Type="http://schemas.openxmlformats.org/officeDocument/2006/relationships/officeDocument" Target="/ppt/presentation.xml" Id="R95b798ee4eae4c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46ae8c3a894a3b"/>
  </p:sldMasterIdLst>
  <p:notesMasterIdLst>
    <p:notesMasterId xmlns:r="http://schemas.openxmlformats.org/officeDocument/2006/relationships" r:id="R70ddffe6744e4818"/>
  </p:notesMasterIdLst>
  <p:sldIdLst>
    <p:sldId xmlns:r="http://schemas.openxmlformats.org/officeDocument/2006/relationships" id="256" r:id="Rd7a8ff2f88524220"/>
    <p:sldId xmlns:r="http://schemas.openxmlformats.org/officeDocument/2006/relationships" id="257" r:id="R380846e462544d4b"/>
    <p:sldId xmlns:r="http://schemas.openxmlformats.org/officeDocument/2006/relationships" id="258" r:id="R92ecde4cb9464240"/>
    <p:sldId xmlns:r="http://schemas.openxmlformats.org/officeDocument/2006/relationships" id="259" r:id="R5337eb7be2d44888"/>
    <p:sldId xmlns:r="http://schemas.openxmlformats.org/officeDocument/2006/relationships" id="260" r:id="R3d3533d268024d65"/>
    <p:sldId xmlns:r="http://schemas.openxmlformats.org/officeDocument/2006/relationships" id="261" r:id="R78b26211bf0a4448"/>
    <p:sldId xmlns:r="http://schemas.openxmlformats.org/officeDocument/2006/relationships" id="262" r:id="R3e2f7d04b2e14399"/>
    <p:sldId xmlns:r="http://schemas.openxmlformats.org/officeDocument/2006/relationships" id="263" r:id="R17311baab8a94c8c"/>
    <p:sldId xmlns:r="http://schemas.openxmlformats.org/officeDocument/2006/relationships" id="264" r:id="R731ebc4a19bd43e8"/>
    <p:sldId xmlns:r="http://schemas.openxmlformats.org/officeDocument/2006/relationships" id="265" r:id="Rd516f73e330e441b"/>
    <p:sldId xmlns:r="http://schemas.openxmlformats.org/officeDocument/2006/relationships" id="266" r:id="Rdbac02c274d94c86"/>
    <p:sldId xmlns:r="http://schemas.openxmlformats.org/officeDocument/2006/relationships" id="267" r:id="R85f58d3224384a09"/>
    <p:sldId xmlns:r="http://schemas.openxmlformats.org/officeDocument/2006/relationships" id="268" r:id="Re44eade3bf1b4e6a"/>
    <p:sldId xmlns:r="http://schemas.openxmlformats.org/officeDocument/2006/relationships" id="269" r:id="R444a9e48f2494d03"/>
    <p:sldId xmlns:r="http://schemas.openxmlformats.org/officeDocument/2006/relationships" id="270" r:id="Rf1b9f83654524b6c"/>
    <p:sldId xmlns:r="http://schemas.openxmlformats.org/officeDocument/2006/relationships" id="271" r:id="Rbdfc9bbfc1ee4376"/>
    <p:sldId xmlns:r="http://schemas.openxmlformats.org/officeDocument/2006/relationships" id="272" r:id="R8073c4fdf17b4b5f"/>
    <p:sldId xmlns:r="http://schemas.openxmlformats.org/officeDocument/2006/relationships" id="273" r:id="R3113b39cef944aeb"/>
    <p:sldId xmlns:r="http://schemas.openxmlformats.org/officeDocument/2006/relationships" id="274" r:id="R26fabae015a04b7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6ae8c3a894a3b" /><Relationship Type="http://schemas.openxmlformats.org/officeDocument/2006/relationships/theme" Target="/ppt/theme/theme1.xml" Id="R64fa96a4af64454d" /><Relationship Type="http://schemas.openxmlformats.org/officeDocument/2006/relationships/notesMaster" Target="/ppt/notesMasters/notesMaster1.xml" Id="R70ddffe6744e4818" /><Relationship Type="http://schemas.openxmlformats.org/officeDocument/2006/relationships/presProps" Target="/ppt/presProps.xml" Id="Rb8c6191509634b50" /><Relationship Type="http://schemas.openxmlformats.org/officeDocument/2006/relationships/viewProps" Target="/ppt/viewProps.xml" Id="R9a676f4149d14d34" /><Relationship Type="http://schemas.openxmlformats.org/officeDocument/2006/relationships/tableStyles" Target="/ppt/tableStyles.xml" Id="Re8e12ec9ed0e4476" /><Relationship Type="http://schemas.openxmlformats.org/officeDocument/2006/relationships/slide" Target="/ppt/slides/slide1.xml" Id="Rd7a8ff2f88524220" /><Relationship Type="http://schemas.openxmlformats.org/officeDocument/2006/relationships/slide" Target="/ppt/slides/slide2.xml" Id="R380846e462544d4b" /><Relationship Type="http://schemas.openxmlformats.org/officeDocument/2006/relationships/slide" Target="/ppt/slides/slide3.xml" Id="R92ecde4cb9464240" /><Relationship Type="http://schemas.openxmlformats.org/officeDocument/2006/relationships/slide" Target="/ppt/slides/slide4.xml" Id="R5337eb7be2d44888" /><Relationship Type="http://schemas.openxmlformats.org/officeDocument/2006/relationships/slide" Target="/ppt/slides/slide5.xml" Id="R3d3533d268024d65" /><Relationship Type="http://schemas.openxmlformats.org/officeDocument/2006/relationships/slide" Target="/ppt/slides/slide6.xml" Id="R78b26211bf0a4448" /><Relationship Type="http://schemas.openxmlformats.org/officeDocument/2006/relationships/slide" Target="/ppt/slides/slide7.xml" Id="R3e2f7d04b2e14399" /><Relationship Type="http://schemas.openxmlformats.org/officeDocument/2006/relationships/slide" Target="/ppt/slides/slide8.xml" Id="R17311baab8a94c8c" /><Relationship Type="http://schemas.openxmlformats.org/officeDocument/2006/relationships/slide" Target="/ppt/slides/slide9.xml" Id="R731ebc4a19bd43e8" /><Relationship Type="http://schemas.openxmlformats.org/officeDocument/2006/relationships/slide" Target="/ppt/slides/slide10.xml" Id="Rd516f73e330e441b" /><Relationship Type="http://schemas.openxmlformats.org/officeDocument/2006/relationships/slide" Target="/ppt/slides/slide11.xml" Id="Rdbac02c274d94c86" /><Relationship Type="http://schemas.openxmlformats.org/officeDocument/2006/relationships/slide" Target="/ppt/slides/slide12.xml" Id="R85f58d3224384a09" /><Relationship Type="http://schemas.openxmlformats.org/officeDocument/2006/relationships/slide" Target="/ppt/slides/slide13.xml" Id="Re44eade3bf1b4e6a" /><Relationship Type="http://schemas.openxmlformats.org/officeDocument/2006/relationships/slide" Target="/ppt/slides/slide14.xml" Id="R444a9e48f2494d03" /><Relationship Type="http://schemas.openxmlformats.org/officeDocument/2006/relationships/slide" Target="/ppt/slides/slide15.xml" Id="Rf1b9f83654524b6c" /><Relationship Type="http://schemas.openxmlformats.org/officeDocument/2006/relationships/slide" Target="/ppt/slides/slide16.xml" Id="Rbdfc9bbfc1ee4376" /><Relationship Type="http://schemas.openxmlformats.org/officeDocument/2006/relationships/slide" Target="/ppt/slides/slide17.xml" Id="R8073c4fdf17b4b5f" /><Relationship Type="http://schemas.openxmlformats.org/officeDocument/2006/relationships/slide" Target="/ppt/slides/slide18.xml" Id="R3113b39cef944aeb" /><Relationship Type="http://schemas.openxmlformats.org/officeDocument/2006/relationships/slide" Target="/ppt/slides/slide19.xml" Id="R26fabae015a04b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ad8e5ee6858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2dcec678548ed" /><Relationship Type="http://schemas.openxmlformats.org/officeDocument/2006/relationships/notesMaster" Target="/ppt/notesMasters/notesMaster1.xml" Id="R219774afc985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8ed915f88c4144" /><Relationship Type="http://schemas.openxmlformats.org/officeDocument/2006/relationships/notesMaster" Target="/ppt/notesMasters/notesMaster1.xml" Id="Ra00dbbc3bfb849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422ce6a0ae421e" /><Relationship Type="http://schemas.openxmlformats.org/officeDocument/2006/relationships/notesMaster" Target="/ppt/notesMasters/notesMaster1.xml" Id="Rbcc7bc377ab941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5c2489f99649eb" /><Relationship Type="http://schemas.openxmlformats.org/officeDocument/2006/relationships/notesMaster" Target="/ppt/notesMasters/notesMaster1.xml" Id="Ra5e76e091d8d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c0f4e996d4ed6" /><Relationship Type="http://schemas.openxmlformats.org/officeDocument/2006/relationships/notesMaster" Target="/ppt/notesMasters/notesMaster1.xml" Id="R15419db9cf0b46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416a6f25a04062" /><Relationship Type="http://schemas.openxmlformats.org/officeDocument/2006/relationships/notesMaster" Target="/ppt/notesMasters/notesMaster1.xml" Id="Rea6b459e2576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a1e23d728d4f95" /><Relationship Type="http://schemas.openxmlformats.org/officeDocument/2006/relationships/notesMaster" Target="/ppt/notesMasters/notesMaster1.xml" Id="R8a74ffff9b7f4f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a7108a85c0446e" /><Relationship Type="http://schemas.openxmlformats.org/officeDocument/2006/relationships/notesMaster" Target="/ppt/notesMasters/notesMaster1.xml" Id="R5ffcb2dea3e64b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cf6b3b6e844368" /><Relationship Type="http://schemas.openxmlformats.org/officeDocument/2006/relationships/notesMaster" Target="/ppt/notesMasters/notesMaster1.xml" Id="R3e8b5906e53c4b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1ce6b73b744e74" /><Relationship Type="http://schemas.openxmlformats.org/officeDocument/2006/relationships/notesMaster" Target="/ppt/notesMasters/notesMaster1.xml" Id="R3cd1c31c323741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df5ba126f544d2" /><Relationship Type="http://schemas.openxmlformats.org/officeDocument/2006/relationships/notesMaster" Target="/ppt/notesMasters/notesMaster1.xml" Id="R64e688c00c8141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fa1afdd1984358" /><Relationship Type="http://schemas.openxmlformats.org/officeDocument/2006/relationships/notesMaster" Target="/ppt/notesMasters/notesMaster1.xml" Id="R4762a82248864f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6a2328f9954055" /><Relationship Type="http://schemas.openxmlformats.org/officeDocument/2006/relationships/notesMaster" Target="/ppt/notesMasters/notesMaster1.xml" Id="R8219c3ba060a4d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03f7a3650a4211" /><Relationship Type="http://schemas.openxmlformats.org/officeDocument/2006/relationships/notesMaster" Target="/ppt/notesMasters/notesMaster1.xml" Id="R14dac0c585644b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13a4bae4104222" /><Relationship Type="http://schemas.openxmlformats.org/officeDocument/2006/relationships/notesMaster" Target="/ppt/notesMasters/notesMaster1.xml" Id="R5159fc49d177464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1e36b5ddc7408e" /><Relationship Type="http://schemas.openxmlformats.org/officeDocument/2006/relationships/notesMaster" Target="/ppt/notesMasters/notesMaster1.xml" Id="Rdae9d9af729b47e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1391e78c6c9434b" /><Relationship Type="http://schemas.openxmlformats.org/officeDocument/2006/relationships/notesMaster" Target="/ppt/notesMasters/notesMaster1.xml" Id="R4041a41c0d5149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77e107b60f34446" /><Relationship Type="http://schemas.openxmlformats.org/officeDocument/2006/relationships/notesMaster" Target="/ppt/notesMasters/notesMaster1.xml" Id="Rbe24c2a7d2b344d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8246caf31e44c2" /><Relationship Type="http://schemas.openxmlformats.org/officeDocument/2006/relationships/notesMaster" Target="/ppt/notesMasters/notesMaster1.xml" Id="R64b55e5dc84546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deef24a9d403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9b96c7eca84d0a" /><Relationship Type="http://schemas.openxmlformats.org/officeDocument/2006/relationships/slideLayout" Target="/ppt/slideLayouts/slideLayout2.xml" Id="R837fa5e697b04d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fa5e697b04d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3f8b50d8d44e8" /><Relationship Type="http://schemas.openxmlformats.org/officeDocument/2006/relationships/notesSlide" Target="/ppt/notesSlides/notesSlide1.xml" Id="Rec897dafa92541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f0f0c9305c41f9" /><Relationship Type="http://schemas.openxmlformats.org/officeDocument/2006/relationships/notesSlide" Target="/ppt/notesSlides/notesSlide2.xml" Id="Rad252e8b7beb47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d8ed3c390643b0" /><Relationship Type="http://schemas.openxmlformats.org/officeDocument/2006/relationships/notesSlide" Target="/ppt/notesSlides/notesSlide3.xml" Id="R6d6ac8b239df4e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6922839f749bf" /><Relationship Type="http://schemas.openxmlformats.org/officeDocument/2006/relationships/notesSlide" Target="/ppt/notesSlides/notesSlide4.xml" Id="R8d17e5f4c4a844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b19067ec34ec9" /><Relationship Type="http://schemas.openxmlformats.org/officeDocument/2006/relationships/notesSlide" Target="/ppt/notesSlides/notesSlide5.xml" Id="R479cc5d1f74e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86bd1a6be44fe" /><Relationship Type="http://schemas.openxmlformats.org/officeDocument/2006/relationships/notesSlide" Target="/ppt/notesSlides/notesSlide6.xml" Id="R1771cfd713c243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368ae61f604ed6" /><Relationship Type="http://schemas.openxmlformats.org/officeDocument/2006/relationships/notesSlide" Target="/ppt/notesSlides/notesSlide7.xml" Id="R1117499258a64a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721e45a6441ba" /><Relationship Type="http://schemas.openxmlformats.org/officeDocument/2006/relationships/notesSlide" Target="/ppt/notesSlides/notesSlide8.xml" Id="Raf52e382529044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415fe9371541e1" /><Relationship Type="http://schemas.openxmlformats.org/officeDocument/2006/relationships/notesSlide" Target="/ppt/notesSlides/notesSlide9.xml" Id="R2a59db2424f34d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caab99a9af4b79" /><Relationship Type="http://schemas.openxmlformats.org/officeDocument/2006/relationships/notesSlide" Target="/ppt/notesSlides/notesSlide10.xml" Id="R038fe258c05647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8b7663d82d4f3b" /><Relationship Type="http://schemas.openxmlformats.org/officeDocument/2006/relationships/image" Target="/ppt/media/image.png" Id="R9276927032024e26" /><Relationship Type="http://schemas.openxmlformats.org/officeDocument/2006/relationships/image" Target="/ppt/media/image2.png" Id="R0e4bddc41a2b4bd7" /><Relationship Type="http://schemas.openxmlformats.org/officeDocument/2006/relationships/notesSlide" Target="/ppt/notesSlides/notesSlide11.xml" Id="Rf8888eea115040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46a996fe2e4a58" /><Relationship Type="http://schemas.openxmlformats.org/officeDocument/2006/relationships/image" Target="/ppt/media/image3.png" Id="R22b3b06d54f34d05" /><Relationship Type="http://schemas.openxmlformats.org/officeDocument/2006/relationships/notesSlide" Target="/ppt/notesSlides/notesSlide12.xml" Id="R4395074eda5447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7995f7fc364a0a" /><Relationship Type="http://schemas.openxmlformats.org/officeDocument/2006/relationships/image" Target="/ppt/media/image4.png" Id="Rf0afbe6c389d47bd" /><Relationship Type="http://schemas.openxmlformats.org/officeDocument/2006/relationships/image" Target="/ppt/media/image5.png" Id="Rc6ed1ce2499c45fa" /><Relationship Type="http://schemas.openxmlformats.org/officeDocument/2006/relationships/notesSlide" Target="/ppt/notesSlides/notesSlide13.xml" Id="Rd0ded4e4a4c94d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5a3ffbb12491b" /><Relationship Type="http://schemas.openxmlformats.org/officeDocument/2006/relationships/notesSlide" Target="/ppt/notesSlides/notesSlide14.xml" Id="Ra6686527e8904c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c82657dea34a0d" /><Relationship Type="http://schemas.openxmlformats.org/officeDocument/2006/relationships/notesSlide" Target="/ppt/notesSlides/notesSlide15.xml" Id="R4c49160418bc4b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5141b0faff4cac" /><Relationship Type="http://schemas.openxmlformats.org/officeDocument/2006/relationships/notesSlide" Target="/ppt/notesSlides/notesSlide16.xml" Id="Rae5c8a0596424b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bdf8d564a4c62" /><Relationship Type="http://schemas.openxmlformats.org/officeDocument/2006/relationships/notesSlide" Target="/ppt/notesSlides/notesSlide17.xml" Id="R643ed5558fa045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31d08726743a1" /><Relationship Type="http://schemas.openxmlformats.org/officeDocument/2006/relationships/notesSlide" Target="/ppt/notesSlides/notesSlide18.xml" Id="Rc4b0cf6c8b8441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dc8366dab74ea5" /><Relationship Type="http://schemas.openxmlformats.org/officeDocument/2006/relationships/notesSlide" Target="/ppt/notesSlides/notesSlide19.xml" Id="Rf5c36012ae1348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5F4AD-F949-4676-8AD0-5D0B712B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10448-B27F-489E-B71A-2E3F8B2E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229DA-F169-43DC-84D9-EC0E9996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FAE9B-A154-497D-8A6A-FC6E06F1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DDF52-595B-4ABF-848C-3BB52ED6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2FE27-4A46-4ADA-B197-BAB22984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552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6AAC7-9CE5-4497-90DA-903777D7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DEE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DEE4"/>
                </a:solidFill>
                <a:latin typeface="Aptos"/>
                <a:ea typeface="Aptos"/>
                <a:cs typeface="Aptos"/>
              </a:rPr>
              <a:t>МАГИСТЕРСКАЯ ДИССЕРТАЦИЯ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E98D7-3F7E-4956-9872-EB11000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Автоматизация подбора параметров алгоритма факторизации больших чисел с применением эллиптических кривых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FF8A3-2E21-41F0-8978-73FDD69B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DEE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D8DEE4"/>
                </a:solidFill>
                <a:latin typeface="Aptos Display"/>
                <a:ea typeface="Aptos Display"/>
                <a:cs typeface="Aptos Display"/>
              </a:rPr>
              <a:t>на основе эвристических методов оптимизации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2C9DF-9D6B-4CDE-B7FE-06C7EC09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E798A-10B9-4C89-B77F-AE381AB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5910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rPr>
              <a:t>-25,14%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168B9-C4DC-4B38-95D7-9F2C36FA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000625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валидационная метрика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A87EB-2A1C-4D1D-BB91-4344B3B4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746A3-E27E-453C-B261-19EF35B5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910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rPr>
              <a:t>-21,04%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DD767-3A91-462B-A2DC-90AAAD0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00625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среднее время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1E497-D7F5-4E88-97F4-57A5464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229DE-7C23-43D5-BF85-C936E797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91050"/>
            <a:ext cx="150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-62,42%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EAE32-3B71-48E4-BF80-A5F6264D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00625"/>
            <a:ext cx="150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число кривых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27152-274E-4AFA-8FD7-DF3133F4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D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DF0"/>
                </a:solidFill>
                <a:latin typeface="Aptos"/>
                <a:ea typeface="Aptos"/>
                <a:cs typeface="Aptos"/>
              </a:rPr>
              <a:t>Плеханов Егор Сергеевич, группа 5140203/40101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E8B7A-8CDC-4791-984C-DFC073E8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D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DF0"/>
                </a:solidFill>
                <a:latin typeface="Aptos"/>
                <a:ea typeface="Aptos"/>
                <a:cs typeface="Aptos"/>
              </a:rPr>
              <a:t>Научный руководитель: Пак В. Г.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ECC848-2C4A-4EE2-9B26-3FAD30CC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24575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СПбПУ, Институт компьютерных наук и кибербезопасности, 2026</a:t>
            </a:r>
          </a:p>
        </p:txBody>
      </p:sp>
    </p:spTree>
    <p:extLst>
      <p:ext uri="{BB962C8B-B14F-4D97-AF65-F5344CB8AC3E}">
        <p14:creationId xmlns:p14="http://schemas.microsoft.com/office/powerpoint/2010/main" val="9451253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A876A-0302-4056-A67B-44953B94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0F71B-05EE-49FB-8EDD-114CC96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74B6-8E91-4A75-AB08-FAA51DA1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4AEB8-5AF4-4F75-B420-55C5A51D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193A5-06F9-443F-B72B-497FBAA3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8C49E-1E78-4D97-9EE4-E86A6570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АКТУАЛЬНОСТЬ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20C6F-4172-4176-82D9-2793A7FB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ECM важен там, где факторизация выполняется сериями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D63F0-A4C5-40C9-A8F6-B56D7D84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A4B6F-68EE-4625-AB7A-135E6F98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Составное число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392B5-ADED-470C-B4CA-B7530611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15046-6DCB-4712-9013-0D4C821F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955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C3EEE-2ABC-4DF7-91F5-B5907033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05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E79AD-DC92-4FBA-9C81-96FDD45C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19300"/>
            <a:ext cx="1962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Поиск малых и средних делителей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06287-528F-4F87-ACC3-6E0DA18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88B82-3BBC-4A08-A189-7FFD0079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955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8930B-27F7-4917-AC12-E33EE4F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266F1-6D78-4795-8436-F9A6E206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962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Оставшийся кофактор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QS / GNFS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CBE49-6171-4CB8-A879-D963817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6DDA8-246F-45FA-9146-9E0D9E0D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7E743-99E9-4CC2-B865-6861F868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ПОЧЕМУ ЭТО ВАЖНО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088E2-CC21-45D1-BE90-432E81E6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83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Факторизация связана со стойкостью RSA и с практическими расчетами в вычислительной теории чисел.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A3FC5-9FB7-4E28-A108-124636F0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90AC12-63C3-4181-BFE1-C6A546B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909482-A7F6-4C3F-8718-3241086A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576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ГДЕ ВОЗНИКАЕТ СТОИМОСТЬ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98E71B-F1B6-4A52-B413-C402BFC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83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В массовых ECM-запусках даже умеренное снижение времени или числа кривых экономит ресурсы.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62AC5-58A4-4AF8-A361-F0A62298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01C743-DA4A-441D-95E6-EE9E7E6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E80B6-868B-47EC-A443-E8EB53A3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ИССЛЕДОВАТЕЛЬСКАЯ ПРОБЛЕМА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92123-7EB3-4AF0-AC31-0ACE832D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24300"/>
            <a:ext cx="283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Справочные параметры GMP-ECM надежны, но не всегда оптимальны для конкретной платформы и класса чисел.</a:t>
            </a:r>
          </a:p>
        </p:txBody>
      </p:sp>
    </p:spTree>
    <p:extLst>
      <p:ext uri="{BB962C8B-B14F-4D97-AF65-F5344CB8AC3E}">
        <p14:creationId xmlns:p14="http://schemas.microsoft.com/office/powerpoint/2010/main" val="6535849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353523-64D8-424F-801A-5313D1E5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417D1-E5A6-494A-9477-AD16B1B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681A6-D05B-4362-B050-0A38BC9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5B5D9-EBB2-4BEC-9B76-96A63CD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8F33D-996C-488D-9A5F-B38707C8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F37A0-D384-43AE-8DB1-BFD6B555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ЦЕЛЬ И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4F319-4280-4D5B-B935-8158F03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Работа связывает постановку, систему и независимую проверку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16BC6-827E-4A2F-9F84-DD6B44C1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857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838D9-6CB1-43D0-AF3A-6EF68B09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F6FC8-B0F3-4622-9056-CC9F9946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55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44B97-A552-4EC6-8E54-F042B5BF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552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Разработать и исследовать систему, автоматически подбирающую параметры ECM и снижающую эмпирическую стоимость нахождения делителя относительно справочных параметров GMP-ECM.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7DD67-2939-4C49-ABF6-7DC15BFE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93481-EB52-4E31-B912-729981B3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22B18-8BA2-46D1-AA3F-67CDE05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ЗАДАЧА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1ABB9-7AD3-4D6B-8FC2-7CBB0EF3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Обзор факторизации и роли ECM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1E2F1-EBBE-4722-99A2-2D898343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758D0-2954-44FB-92B2-44325E0D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A5C52-0B8D-45DA-B0B3-B1A5804B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4785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ЗАДАЧА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D6D5A-4C45-43C7-8587-55648F47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Анализ влияния B1 и B2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DDF9D0-82C8-49D5-AB23-19D87D32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AB905-B46E-4F84-A58A-DD94CAA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8374D-F03B-402B-B727-89640AB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4797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ЗАДАЧА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1FA30-08B5-473C-AAE6-F8387DF1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Black-box постановка задачи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F38DB-8312-4765-956D-0FCD38C3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5C1E7-F2DE-41CF-B8F2-C96481D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518524-3E21-4EFA-AA85-8B8A0A4D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4797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ЗАДАЧА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A441D-6AAA-4FE6-9686-5A6F6D8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14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Реализация 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63282F-A02A-44A7-8601-DA22175D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1D4EA1-F6BE-4AE6-8DE3-9A83385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C305B1-310E-49FD-80C1-61E77052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481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ЗАДАЧА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6CFD1-126C-4F30-A239-C2CB6CE9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Эксперименты и сравнение с GMP-ECM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7E0EB-A33F-4F8D-A5D2-22607BA8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B86CDD-8E79-437F-89C2-6F2BCD8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52143A-B41B-4C70-AFC2-F9982FF8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481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ЗАДАЧА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E601A-6F32-4E92-BD61-45693099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Ограничения и рекомендации</a:t>
            </a:r>
          </a:p>
        </p:txBody>
      </p:sp>
    </p:spTree>
    <p:extLst>
      <p:ext uri="{BB962C8B-B14F-4D97-AF65-F5344CB8AC3E}">
        <p14:creationId xmlns:p14="http://schemas.microsoft.com/office/powerpoint/2010/main" val="6901843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79501B-DF38-4350-A89A-E6AB114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C7F26-CDA4-4844-9819-CFC21D0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1FAF1-8093-41D2-8FCF-6FEFF8F2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4A8A1-9CE6-4B54-A776-D6467C54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6E87A-387D-4D9A-BEC7-D40C3124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01D5E-F54C-4F4B-910A-D5831188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РАМКА ИССЛЕДОВАНИЯ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F9C55-DEC9-47B6-8BB4-DE4048DE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Настраивается не вся факторизация, а два управляющих параметра ECM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F48F7-BDA4-46D6-A0B5-38CC8471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3EEB8-48C4-46D3-B799-F4BAA4E9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5922-F57F-48A2-BFB0-EDED4671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ECD40-00B6-4C07-8996-6E54C24D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2838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Алгоритм факторизации целых чисел методом эллиптических кривых и его реализация в GMP-ECM.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59BEA-8A2F-4F93-BA12-6F48A263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28659-97E3-45A8-B952-297B8A32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1293B-658F-41C3-8154-150125A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431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ПРЕДМЕТ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2D0A0-EDDF-4047-8994-833FDE4A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09800"/>
            <a:ext cx="2838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Автоматизированный выбор параметров B1 и B2 с применением эвристических методов оптимизации.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9DD6B-B4DB-4B05-918F-5271EC0B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24793-D3B1-4C4F-BF48-EBB0E9DA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D3972-76F7-4F86-99B8-15C3C9A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ГИПОТЕЗА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A5B39-B916-4A3E-B050-D4ECEC6F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09800"/>
            <a:ext cx="2838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Если класс чисел, среда и метрика заданы, параметры ECM можно локально настроить лучше справочных значений.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05BC5-3B2C-4E25-A18E-71EFC01E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Справочные таблицы GMP-ECM используются как сильный baseline, а не как слабая точка сравнения.</a:t>
            </a:r>
          </a:p>
        </p:txBody>
      </p:sp>
    </p:spTree>
    <p:extLst>
      <p:ext uri="{BB962C8B-B14F-4D97-AF65-F5344CB8AC3E}">
        <p14:creationId xmlns:p14="http://schemas.microsoft.com/office/powerpoint/2010/main" val="5715295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8967A8-4046-4C0C-8390-B1378BA4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84AF-7779-4DC3-888A-085F0350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5670B-EC90-4089-9554-E54377B4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7372C-17DF-4BA8-9410-8EB12E3F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F164F-8DB5-4954-89E1-5F8AA3B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4096D-ABF1-4DE4-9A83-86401FFF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ECM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937C6-930E-4977-8E52-492A7F3B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B1 и B2 задают компромисс между шансом успеха и ценой кривой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9FF8E-A259-4841-96D9-56ADBF67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476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90675-DE12-448B-9922-12E046EE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2477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N, B1, 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E00A1E-1201-46D5-BEC5-74908EF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003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5A171-A483-40B6-B6DA-F0E4D728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527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0FB60-4D62-48CC-B6BD-C41A8C4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81250"/>
            <a:ext cx="1476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BDFEB-6E04-44FC-AE70-A429200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95550"/>
            <a:ext cx="12477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случайная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кривая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75E01-8214-4822-ACF5-F7F46B0B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11878-ED30-4F0C-818C-6D06E9DB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7527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2A5BC-91C8-4ADC-8ABE-94803E60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476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1BF9E-5942-400E-908C-A79611BA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12477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стадия 1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B5ADF-84E3-4A68-8985-E855A1A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03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FA0C3-E5F4-4A87-A1EC-91B98468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527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96DC6-E658-4382-B730-81BEC4C5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1476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9B7D1-8B59-455D-A5C5-3E6CD9DB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12477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стадия 2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064A7-24C8-4DBF-B7DE-816C23FF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003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39527-C836-4B23-B753-FD125CA9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527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08270-4BBE-47F6-BAEF-F4D265D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476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12ED9-3B62-45E5-89DB-3EA802B7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95550"/>
            <a:ext cx="12477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делитель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или новая кривая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097D0-67BF-4463-8DCB-46053ED4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92CF2D-FFA4-4D7B-B221-11C0DB7E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100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rPr>
              <a:t>B1/B2 выше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B68AC1-98DD-4228-B024-D7329DA0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выше вероятность успеха одной кривой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46A30-45F1-4A3A-8882-9F8E6B15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8F359-A4E2-4D9C-8E8E-723CE8F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2100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B1/B2 ниже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53276-6F12-49EC-8871-C744C7F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6196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ниже стоимость одной попытки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825D1D-420C-49FA-AC97-9A30BCA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86230A-1C42-4872-BB77-E25B74A9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rPr>
              <a:t>оптимум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89B9B6-C140-460E-AB4B-840B636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9625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минимальная ожидаемая стоимость</a:t>
            </a:r>
          </a:p>
        </p:txBody>
      </p:sp>
    </p:spTree>
    <p:extLst>
      <p:ext uri="{BB962C8B-B14F-4D97-AF65-F5344CB8AC3E}">
        <p14:creationId xmlns:p14="http://schemas.microsoft.com/office/powerpoint/2010/main" val="17784444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F5A4C5-5A36-422B-9420-A7624BC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981C5-8540-4F8E-8EAF-719E3D1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7CB6-86CF-43C6-932E-164C52E1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3912F-2C29-4935-9A18-4273FF8F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3900A-7BF9-408D-8F26-3B86EB99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9EC37-3D36-4BC0-8B79-644D1BC5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ПОСТАНОВКА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7FD31-7127-4BB9-BA92-90B98F6D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Настройка B1/B2 сведена к constrained black-box оптимизации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E074C-224D-4447-9F78-51A63DEB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CE321-0555-4337-A818-9C3D5F02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83A89-D61B-4FB7-9AAD-8AF4AFFC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02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ПЕРЕМЕННЫЕ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3366E-0AA9-478F-886C-90DF9CDA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66925"/>
            <a:ext cx="283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x = (log10(B1), log10(B2))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Логарифмическое пространство нужно, потому что параметры меняются на порядки.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4271F-BA55-448E-8250-B8F90B4F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C333C-1B02-47BB-A05B-0AFCB3C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836D1-DB3B-4275-BE30-A8D62393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002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ОГРАНИЧЕНИЯ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21B99-18DF-4DE7-9EC5-CB299328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66925"/>
            <a:ext cx="283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B1min &lt;= B1 &lt;= B1max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B2min &lt;= B2 &lt;= B2max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B1 &lt;= B2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B2 / B1 &lt;= Rmax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C497A-0CBF-4B54-8A6C-CD67382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175F7-93CF-4FD7-B5AD-29D44D2E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B1C5E-0C42-46E4-8BC3-622FBCB5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0022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ОЦЕНКА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C3050-F1B2-41F3-8CBC-95A8419E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066925"/>
            <a:ext cx="2838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Одна точка = серия запусков GMP-ECM с измерением успеха, времени и числа кривых.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5F234-D2E1-44E2-A691-2593441E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0">
            <a:solidFill>
              <a:srgbClr val="2026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EB1C3-CCF3-4EDB-B569-EE9B1EBA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Нет простой аналитической формулы качества: оптимизатор видит GMP-ECM как внешнюю шумную функцию.</a:t>
            </a:r>
          </a:p>
        </p:txBody>
      </p:sp>
    </p:spTree>
    <p:extLst>
      <p:ext uri="{BB962C8B-B14F-4D97-AF65-F5344CB8AC3E}">
        <p14:creationId xmlns:p14="http://schemas.microsoft.com/office/powerpoint/2010/main" val="10276154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82CD7-7469-44C5-9D90-56835C02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C7C9E-FBC6-4087-9756-26E64B5D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17E9D-1E18-4EF3-886D-ADD4D86A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DC96D-4E50-4F6A-9FAB-C67910C3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0BC81-8E84-4BB4-A02B-342FAD4A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576DC-A23C-44A4-B36A-FCCE4C9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МЕТРИКА И ВАЛИДАЦИЯ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AE0D2-C65E-4D1E-B65B-75271C9D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Control-набор защищает результат от переоценки на шумной функции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FE567-9BB2-4924-899D-506AFA77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01174-F95D-42F0-9BE2-E940E2B1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train-набор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2E033-FD83-4D48-8644-57D85E3D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B46CF-655E-44C8-92EA-AB547F77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3336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961C0-6165-4559-914F-F3CB93EE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FE98A-1505-4BA3-B2E2-654EF59F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145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оптимизатор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RS / DE / GA / PSO / BO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B7605-D3D3-47FE-B23B-95E4ADA6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81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B07BD-DF95-4933-877B-37553060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336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D1F88-4006-40E5-9A03-89554D4D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ADBF3-01A2-4F7F-9A02-9D9369E1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145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найденные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B1/B2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CFEEC-5107-4A58-8CCC-CF76FC33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C2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B6E55-7C30-4AE5-B2F8-9F457CD8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control-набор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09EE1-FBE1-4265-AE38-94E9BB8B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93ACA2-0E69-4B09-9FB5-015493E5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481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A94DB-1B26-463B-942F-6EB60713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247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C0656-DCA0-4E71-9FA0-CE6D5ABB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независимая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валидация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72F7C-5309-475F-8856-F41B4F95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6C690E-FB59-4441-BD4E-929A324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6D94F-C984-418D-A091-48BDD9B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1694C-8EC2-4640-B7E5-FBD8A488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3124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штраф за неуспех + среднее время + среднее число кривых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CA153-2422-41D0-80F9-F13A971D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99968-A3AD-4BC5-9D4E-B697CB4A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ADA86C-9F97-4046-87FC-CB64FE9B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312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GAIN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E60F79-E170-4FC3-8CF8-EDA7FA4E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62550"/>
            <a:ext cx="3124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(score_baseline - score_method) / score_baseline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683EC9-972D-458A-AC5C-8877C931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0E44D-B179-43CC-8099-31100771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62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85C614-75BD-42B9-8CE8-A39AAC8E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ПРИОРИТЕТ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7B234-CEFD-463F-8D11-B458B25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6255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успех -&gt; время -&gt; кривые</a:t>
            </a:r>
          </a:p>
        </p:txBody>
      </p:sp>
    </p:spTree>
    <p:extLst>
      <p:ext uri="{BB962C8B-B14F-4D97-AF65-F5344CB8AC3E}">
        <p14:creationId xmlns:p14="http://schemas.microsoft.com/office/powerpoint/2010/main" val="11640847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B7975-D866-481A-A40D-FDD251E1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942B3-EEA1-439A-B125-95CD1129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9E83D-458D-41B6-841D-F0BA7CA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09B04-6EA3-40FF-BC66-C8FAB11F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EACE7-390A-4ABB-B94B-9209DDC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34097-E001-40FC-844B-0394D44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МЕТОДЫ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16110-60EE-4C11-A0FD-50E0115D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Пять оптимизаторов покрывают разные стратегии поиска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C997F-C09C-4B8D-A45B-B3B614F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6306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E9749-2518-4526-9314-64405CB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28800"/>
            <a:ext cx="15163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Метод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C48BE-017D-450A-BD86-84A2AC8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" y="1762125"/>
            <a:ext cx="346519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D3E1B-B2C1-4CDA-ADF6-23436E9B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" y="1828800"/>
            <a:ext cx="335089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Тип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79003-0BA8-4A0C-818A-5BAE3586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09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D6109-3A1E-4584-9680-411E04C5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28800"/>
            <a:ext cx="4981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64854-5302-42D1-BC43-48B5C08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16306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088E4-102A-4E10-AEE3-9BBB6422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19350"/>
            <a:ext cx="15163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8261F-31B7-4402-B853-79A1E692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" y="2352675"/>
            <a:ext cx="346519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D41C6-0FFE-4610-94F7-151F2BA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" y="2419350"/>
            <a:ext cx="335089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случайный поиск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AD1A5-D4A0-42EE-97C3-CBC1D08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509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86D9F0-AFEC-47E7-B3D1-D29FA95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4981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базовый ориентир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64D6E-2DD6-4B6D-8801-247D77A9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6306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75CB8-67F6-428D-93B2-A0267F9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09900"/>
            <a:ext cx="15163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92B68-4DA7-42B2-A56C-C3186C65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" y="2943225"/>
            <a:ext cx="346519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7CF74-AEC3-4D60-A58A-18E24F3F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" y="3009900"/>
            <a:ext cx="335089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дифференциальная эволюция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8BD7D-1693-46B9-AA3D-A61F5CD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509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10C42-7E37-4111-804E-90011BC9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4981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популяционный направленный поиск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4648B-2ED4-429E-8A87-59A9742B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33775"/>
            <a:ext cx="16306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6FCD7E-9C8F-4966-A9F4-09CDF200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00450"/>
            <a:ext cx="15163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1ACFFC-0995-4B2C-BB52-411AF7BC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" y="3533775"/>
            <a:ext cx="346519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91655-377B-4C19-82B0-C1D61B65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" y="3600450"/>
            <a:ext cx="335089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генетический алгоритм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A7512-F72C-4BDE-8A3F-6FDC1258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33775"/>
            <a:ext cx="509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FD3DE-2993-4216-A096-E8BC89CB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981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эволюционный поиск с элитизмом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5E7077-AFF5-4DE8-8DD4-E64E03F3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24325"/>
            <a:ext cx="16306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D7448E-1BBD-456F-8F3C-DB6BB981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5163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PSO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6666A2-4F29-49F6-99FD-7818E50E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" y="4124325"/>
            <a:ext cx="346519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0C0BFB-1BE7-4005-B388-502B65C5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" y="4191000"/>
            <a:ext cx="335089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роевой алгоритм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EDCCBC-182F-4E4B-94D4-AAE6E66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24325"/>
            <a:ext cx="509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5A6DEA-52C0-4EFB-9075-79724734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981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личный и коллективный опыт частиц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2AD299-7F19-4106-9573-A1E2AC2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63068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FF4EC2-B695-4A48-B880-0596480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81550"/>
            <a:ext cx="151638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8403E2-F2F7-47D5-9232-DAA6FA2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805" y="4714875"/>
            <a:ext cx="346519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0E9A7-6C06-4FAC-A84B-4E270329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955" y="4781550"/>
            <a:ext cx="335089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байесовская оптимизация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994871-EA48-4CE6-98E9-5B52B270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509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0EE0C5-82FF-4494-8EE0-45EF2B42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81550"/>
            <a:ext cx="4981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суррогатная модель дорогой функции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8CC051-367D-4B62-9CC6-EB863F8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Сравнение идет в едином pipeline: одни ограничения, одна метрика, один протокол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11179221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8CA5D-C837-4EE6-B947-F737334D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80A9D-76CE-44ED-B5A4-C8D5B40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BEC25-D44F-4298-B741-D86A104C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46D87-F722-4DBD-A680-4C1C850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B9666-D13C-44DA-9164-9F4AF89E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04237-B419-48E4-9183-DD5CBE5C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85EBD-CD54-4C6E-A764-FE1D427A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Разработанная система воспроизводит полный цикл эксперимента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51DFA-4A3C-4A1A-ACB1-4D6D2CC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540"/>
          </a:solidFill>
          <a:ln xmlns:a="http://schemas.openxmlformats.org/drawingml/2006/main" w="0">
            <a:solidFill>
              <a:srgbClr val="2E35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B1B51-B4F8-45B8-BCBB-2C7E7B9F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E95E8-8DED-4384-830A-51D783FD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192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25A94-B78E-4AF8-9D7C-763914E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3355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generate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датасеты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B9CE8-FBA7-49BA-B405-E3319183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19300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C4794B-631D-4CF2-A2F1-789B29AF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7167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79751-CB33-47EA-B59D-F7DCD66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102D4-438F-47F1-91FB-5E9C7C95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33550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optimize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fitness + GMP-ECM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97311-C771-4FA6-A9A7-29901133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00037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C011B-1272-4099-81F5-B738EB4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14675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validate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control-проверка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E11AD-4BB5-4D37-AADB-0B2C5F95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0425"/>
            <a:ext cx="428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84948-8266-45BF-B860-8B390BD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52800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8D065-DD14-4D0E-9B77-4BA3BCC2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0375"/>
            <a:ext cx="2190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76E68-B51D-440C-ACBF-02CC9618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14675"/>
            <a:ext cx="1962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analyze</a:t>
            </a:r>
          </a:p>
          <a:p xmlns:a="http://schemas.openxmlformats.org/drawingml/2006/main">
            <a:pPr algn="ctr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таблицы и графики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0F420-A546-49F6-AAB1-1AFFAE2C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E3D29-D9A3-47C8-815A-18FF09DB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91952-61F8-428E-91B0-C97455EC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431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АРТЕФАКТЫ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7D4B30-C58B-45C8-A7E1-FFED7B58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209800"/>
            <a:ext cx="22669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JSON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CSV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PNG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Markdown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3B2859-F6E4-43CD-A09A-AD69679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73406-EC94-4AD2-99E5-C374F6F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FCEE0-276E-43BB-B0AB-C042AD5A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КЛЮЧЕВОЙ ИНЖЕНЕРНЫЙ ПРИНЦИП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C4BC2-F89B-4952-8C42-C8D93F68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02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Оптимизаторы не вызывают GMP-ECM напрямую: все кандидаты проходят через единый fitness evaluator.</a:t>
            </a:r>
          </a:p>
        </p:txBody>
      </p:sp>
    </p:spTree>
    <p:extLst>
      <p:ext uri="{BB962C8B-B14F-4D97-AF65-F5344CB8AC3E}">
        <p14:creationId xmlns:p14="http://schemas.microsoft.com/office/powerpoint/2010/main" val="15378981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EA003-B622-418D-B8B1-852BE445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2FED5-C29D-469E-91DC-C810D9B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5E110-1ED2-41AB-B294-9D29FF1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4213-0F6E-482E-95D7-47880837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32006-B145-41D4-9C70-6D0442B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DFAD0-E203-472F-A115-7A609795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ЭКСПЕРИМЕНТ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D88A1-4527-4C39-969E-3A48332E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Дизайн отделяет поиск параметров от независимой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85149-D705-4E43-BC24-D5BAAFFA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D7C9F-4B24-40A2-9E2F-F82B7B31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20 цифр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19AE3-22F1-4128-8139-8EABED4C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целевой простой делитель 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0EAC6-2668-4924-BC87-446B1EF4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7F0C9-A15E-4A59-86A7-679CE3F1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811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rPr>
              <a:t>30 цифр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83891-A4FB-4F12-99B3-EFC104F2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кофактор 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34FB2-2C45-4C22-AA18-835BF5BF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44E47-9676-47A1-BF10-BBFAB463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811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rPr>
              <a:t>80 + 80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5EA91-94C2-4DEC-9C8B-9B90E874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train и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DE432-2CC1-4575-80E0-7FBD739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27A43-B887-430C-94C7-E73BD68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81175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5C5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85C5C"/>
                </a:solidFill>
                <a:latin typeface="Aptos Display"/>
                <a:ea typeface="Aptos Display"/>
                <a:cs typeface="Aptos Display"/>
              </a:rPr>
              <a:t>11000 / 1900000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3580C-099F-4464-A411-0380B068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эталон GMP-ECM B1/B2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E7D33-B6D3-4BB1-AFEB-36621CD8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41736-309C-462E-97A1-57C483D4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69DA9-8F6C-4E99-84E7-D99A8F69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6235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ЭТАП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6FB048-0016-4992-B6C0-3419AE20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37909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Широкие границы поиска для локализации перспективной области параметров.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DF58C-F1E9-42A6-A10E-C4266E66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840C45-3F67-4EB8-8379-588F9E55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ADD097-7481-462B-BFF9-E6274F74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ЭТАП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0D187-9DCA-4EFE-A8AF-B04C6D3C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37909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Уточненные границы и ограничение B2/B1 &lt;= 1000 для практичных конфигураций.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3E368-3C2F-40CE-B3C7-F89AC558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Основные расчеты выполнены на ресурсах СКЦ СПбПУ с использованием SLURM.</a:t>
            </a:r>
          </a:p>
        </p:txBody>
      </p:sp>
    </p:spTree>
    <p:extLst>
      <p:ext uri="{BB962C8B-B14F-4D97-AF65-F5344CB8AC3E}">
        <p14:creationId xmlns:p14="http://schemas.microsoft.com/office/powerpoint/2010/main" val="18474362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2BEF8-3BD4-48DF-AB60-1CEF6E3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9A4E7-0FD5-4E3E-8468-FBFB020A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D4196-6F83-400B-8B4E-DEBBEA84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62114-C82D-4397-A70C-8C9A303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68470-D7DD-44E4-BB13-848B4AA1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DA5C6-65DB-4A0C-9BB6-79521775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ШИРОКИЙ ПОИСК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A7C60-1DFC-4AB1-9A27-BB75C379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Первый этап нашел область параметров лучше справочной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E5FA4-94CC-4F53-9D76-97915890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54768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6927032024e26"/>
          <a:stretch xmlns:a="http://schemas.openxmlformats.org/drawingml/2006/main"/>
        </p:blipFill>
        <p:spPr>
          <a:xfrm xmlns:a="http://schemas.openxmlformats.org/drawingml/2006/main">
            <a:off x="851622" y="1695450"/>
            <a:ext cx="4821382" cy="3314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97778-9BE7-47FD-853B-8C480156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67300"/>
            <a:ext cx="5248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Выигрыш валидационной метрики по методам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2B896-FFA5-4048-992C-4C14360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86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bddc41a2b4bd7"/>
          <a:stretch xmlns:a="http://schemas.openxmlformats.org/drawingml/2006/main"/>
        </p:blipFill>
        <p:spPr>
          <a:xfrm xmlns:a="http://schemas.openxmlformats.org/drawingml/2006/main">
            <a:off x="6457950" y="2069306"/>
            <a:ext cx="5133975" cy="25669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D5416-83C1-4122-9D00-A392C3F0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50577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Траектория поиска GA в пространстве B1/B2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77BCD-406A-43F1-8442-47B0200D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E381B-BB2D-4687-8529-C8BA3FC1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864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rPr>
              <a:t>20,62-23,90%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0BBA6-EA1A-4F1A-B476-225BEB10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960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снижение метрики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BE6CE-8E81-4744-9D42-F2A94106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7212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B4505-2A16-4B23-B44E-EC0562A0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864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rPr>
              <a:t>18,36-19,53%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1426D-9E93-4C4A-BA47-CA77A456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0960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снижение времени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1839C-193D-47E2-9CE9-FC509384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57212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87BBB-132D-48E8-BBE9-D889C77D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6864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35,37-52,50%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0C70A-CF58-47AB-9C47-11AC49A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0960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снижение числа кривых</a:t>
            </a:r>
          </a:p>
        </p:txBody>
      </p:sp>
    </p:spTree>
    <p:extLst>
      <p:ext uri="{BB962C8B-B14F-4D97-AF65-F5344CB8AC3E}">
        <p14:creationId xmlns:p14="http://schemas.microsoft.com/office/powerpoint/2010/main" val="12067606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A7A52-1A65-4220-8D26-877A4B57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1B759-47D3-481A-8CCD-A181CBE2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3F8DE-EF18-4B4D-AEAC-C82D8BEA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099CA-2D12-4C87-8BA3-C8671765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965EC-BBCB-4B2E-9467-5222AC6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B3D19-786F-48DC-98DB-A88FCEF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УТОЧНЕННЫЙ ПОИСК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EC221-44BA-49EC-B67F-5DE8BD3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GA дал лучший баланс метрики и времени; PSO сильнее всего сократил кривые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9C0FA-3ED4-4E1F-917D-6E62ACC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82C08-5059-4471-A3C4-7BFB9520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Метод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8BCF5-DF25-4A13-B5C8-223A1B7F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161925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BD317-39A1-40DF-B6AF-2C25F5AD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94" y="168592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D6D9B-C37C-4F38-97C2-D25CAAC2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51" y="1619250"/>
            <a:ext cx="110585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2B1A8-C7BF-486E-BEE3-41225803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1" y="1685925"/>
            <a:ext cx="99155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ECA3D-7D66-448E-9A6F-74DBCAF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004" y="1619250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C2278-7870-480F-B514-D099FACD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54" y="1685925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09307-81D8-458B-84C8-7A271E37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48" y="161925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B7579-6CF1-4E6A-8B3F-47D5155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168592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Время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6BFDA-7ADB-4E7D-8180-C29579E9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55" y="161925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B73D4-C124-40CE-8341-BCB21F48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168592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Кривые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31564-70C1-4333-B36C-26EA4B9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1619250"/>
            <a:ext cx="61436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283B0-79A9-48CE-B862-F2F4CD5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1685925"/>
            <a:ext cx="50006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Успех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812D6-97F8-4793-A551-AB4CDDC0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BB9CD-1C0B-423A-9732-15F66ECF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E4E2E-7221-4451-A895-FFB19286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202882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D3F7F-DA90-40B3-B4D2-66AB4847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94" y="209550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20510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50BBE-C791-49EB-97B1-F86F4461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51" y="2028825"/>
            <a:ext cx="110585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7747B-3067-4DA7-9672-4D60161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1" y="2095500"/>
            <a:ext cx="99155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636495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4B767D-635B-40D3-967F-3951B17C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004" y="2028825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2833F4-659F-48C5-B363-8C9972F1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54" y="2095500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-13,70%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6F7DBF-DA8B-43D9-BC3C-495DF6F9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48" y="202882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7A27F-BE8F-456C-8952-9827258D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09550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-14,30%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506CEC-578E-4A23-A0B9-D8E38CE2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55" y="202882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EB1144-F795-42FF-9A8E-3F703281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209550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-9,71%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D2557-B744-4F4D-B31B-E1C9A097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2028825"/>
            <a:ext cx="61436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83C5D1-B88A-4672-865B-C54DAC1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2095500"/>
            <a:ext cx="50006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0,9988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E39865-0C58-4084-B31F-49C81F07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96C500-36D1-4836-AE57-76F6F335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6F325C-FA21-4D81-8E13-AA53E4A7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243840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1071AF-1D25-46B1-AD4D-62287223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94" y="250507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33716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1E6B80-21D3-4688-A3BF-E8E041A6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51" y="2438400"/>
            <a:ext cx="110585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8CDEF0-F2CB-44C9-8529-AF19C600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1" y="2505075"/>
            <a:ext cx="99155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3003081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CC07AB-C852-432F-8424-EEE5D887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004" y="2438400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90185B-B377-4BD1-9912-FF59A67E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54" y="2505075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-22,35%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CADC89-E625-4AB4-A3FA-D0C98AEA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48" y="243840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DB9AC9-6C25-4F0C-8A3B-D8AE955A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50507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-17,92%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FF7D43-2069-4522-B9CB-3263238F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55" y="243840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0CE831-A050-4EE9-8847-F25A8BB1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250507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-51,69%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6D7456-7889-4BC9-9A69-94825E69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2438400"/>
            <a:ext cx="61436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1C5459-7414-49F5-A2B9-5EE59342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2505075"/>
            <a:ext cx="50006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1,0000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EF3081-0DC4-4A9B-8709-BFF1405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93FB7C-1340-4837-8245-118655E3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F11DF9-5F0C-4299-A417-0ED9EBA1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284797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17827E-C288-4E57-9393-439EF684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94" y="291465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22985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6ACDB7-7C89-4F61-A421-2EF06F4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51" y="2847975"/>
            <a:ext cx="110585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36B1CA-1E78-4410-9712-08F56F11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1" y="2914650"/>
            <a:ext cx="99155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1273334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16EA57-F2D5-477E-9409-D2E7A695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004" y="2847975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59029B-410C-4279-A7C3-CC379130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54" y="2914650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-19,29%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035ED2-F4F3-4476-9954-0FC3A36A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48" y="284797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41FE34-0A37-4C75-87C8-28378126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291465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-17,29%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286F3F1-02FF-4AA1-B9BC-0BB6850A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55" y="284797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30F531-0EB9-478F-8F9F-10D4F9AE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291465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-32,48%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3A35327-79F4-44E2-A1D1-0CC569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2847975"/>
            <a:ext cx="61436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BF03CB-C410-47B0-A480-4C70FAFE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2914650"/>
            <a:ext cx="50006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1,0000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2A276A-300D-4FD0-842B-73DD87CA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378D5F-49EE-48D7-A5B3-05D2E86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24225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PSO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BC06B70-903A-4E67-ACA4-FD4B56B4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325755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98DC3A-229F-43B0-B6D4-E71B98E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94" y="332422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52298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A7DE82-F4E5-4536-A838-2D3BDFD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51" y="3257550"/>
            <a:ext cx="110585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898136-6FF0-4A28-A69B-BA35AD2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1" y="3324225"/>
            <a:ext cx="99155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2726216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510543-0495-4F29-A59A-FD178D7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004" y="3257550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69C852-0762-4011-B3EE-424722A5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54" y="3324225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-24,46%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13AE06-0CB0-48F4-9729-DCF5C356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48" y="325755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15ADD59-0EBD-4CAB-B8FD-739C2BD9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332422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-18,75%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6C36AA-DD82-4114-87C7-F359AC8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55" y="3257550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F0B259-8F77-4B9F-AE53-F871BCED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3324225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-62,42%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72152B-7A76-4CE7-84E3-5E1DE3E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3257550"/>
            <a:ext cx="61436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5F9C2FA-E480-4EC8-BF57-98F70221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3324225"/>
            <a:ext cx="50006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1,0000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2C2592-0ADF-4499-8BE8-03FE2368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69D6A0-E6F5-49E8-A7E3-ED5E6040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20C106-DC7C-43FB-8478-1CB15674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044" y="366712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852D8DF-B998-4C9C-8BA3-92C8019F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94" y="373380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32609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5080E4-0311-4BAF-8A51-78D6B25C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151" y="3667125"/>
            <a:ext cx="110585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9A763B-BA4B-4CA8-B88B-DFB02B4D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1" y="3733800"/>
            <a:ext cx="99155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2737437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791C3BA-F939-4C2B-8643-92804652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004" y="3667125"/>
            <a:ext cx="92154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9CA797-A953-4D36-A003-B09B91F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6154" y="3733800"/>
            <a:ext cx="80724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-25,14%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3458DE-4A46-4388-8B21-E8F636D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0548" y="366712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0519E53-7935-4286-955F-640D65A2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373380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-21,04%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BD2F1A7-B0E1-46D6-9A7B-FDF440DC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655" y="3667125"/>
            <a:ext cx="860108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07EFED-1472-4EEC-A94C-9103E402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7805" y="3733800"/>
            <a:ext cx="745808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-52,14%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73C5310-6ACE-4062-B23C-37747FD2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763" y="3667125"/>
            <a:ext cx="614363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D8D0C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F0D8D1-E7E3-47BC-AF0A-EE2CFC3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3733800"/>
            <a:ext cx="500063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1,0000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F970865-20C1-4BC3-BEFD-9E77B2E3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619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3b06d54f34d05"/>
          <a:stretch xmlns:a="http://schemas.openxmlformats.org/drawingml/2006/main"/>
        </p:blipFill>
        <p:spPr>
          <a:xfrm xmlns:a="http://schemas.openxmlformats.org/drawingml/2006/main">
            <a:off x="7363258" y="1695450"/>
            <a:ext cx="3990109" cy="2743200"/>
          </a:xfrm>
          <a:prstGeom xmlns:a="http://schemas.openxmlformats.org/drawingml/2006/main" prst="rect">
            <a:avLst/>
          </a:prstGeom>
        </p:spPr>
      </p:pic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E23B52-646C-4847-A6B5-A05664DF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4391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Выигрыш по методам при уточненных границах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04BB22-20B5-47D3-A6C2-6C64F273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95875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37EDBB-6E8C-4DDB-8819-7C02EBB0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21017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rPr>
              <a:t>-25,14%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8DB9F7E-4D1E-4BA2-8457-AEDB6173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6197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лучший score: GA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2F54098-EE5F-48B6-B4C6-3F06232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95875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F7DE90-9A25-41D7-96F7-7C9275B5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210175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-62,42%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EE0609-29EF-4670-B9B5-11C85D19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197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кривые: PSO</a:t>
            </a:r>
          </a:p>
        </p:txBody>
      </p:sp>
    </p:spTree>
    <p:extLst>
      <p:ext uri="{BB962C8B-B14F-4D97-AF65-F5344CB8AC3E}">
        <p14:creationId xmlns:p14="http://schemas.microsoft.com/office/powerpoint/2010/main" val="4563876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C144E-5A70-4C19-9C48-594BFE5E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77269-5A50-4C5F-8FAC-1354298C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323FC-5AB5-4778-9705-CA72EA05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C6F11-8DCB-4E31-9670-4A6636B8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3E392-EC2E-4ED3-8DD5-5C8E0AAC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D62F3-21AF-4148-933D-C04683A6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ИНТЕРПРЕТАЦИЯ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6EAF4-CA65-438F-A93E-261E06AC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Разные методы полезны для разных практических целей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CDAA8-16B4-44D8-9291-23B573AE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533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fbe6c389d47bd"/>
          <a:stretch xmlns:a="http://schemas.openxmlformats.org/drawingml/2006/main"/>
        </p:blipFill>
        <p:spPr>
          <a:xfrm xmlns:a="http://schemas.openxmlformats.org/drawingml/2006/main">
            <a:off x="1235075" y="1647825"/>
            <a:ext cx="3911600" cy="2933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64E3E-7288-4C5C-BC61-CE374BDD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38675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Компромисс между временем оптимизации и выигрышем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40224-80A5-4DA8-925A-FC9B7ADB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533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d1ce2499c45fa"/>
          <a:stretch xmlns:a="http://schemas.openxmlformats.org/drawingml/2006/main"/>
        </p:blipFill>
        <p:spPr>
          <a:xfrm xmlns:a="http://schemas.openxmlformats.org/drawingml/2006/main">
            <a:off x="6654165" y="1647825"/>
            <a:ext cx="4693920" cy="2933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19806-A18C-425B-98B5-EA4CE3C9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38675"/>
            <a:ext cx="510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PSO: распределение числа кривых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D63D5-01A2-498B-B5AA-4EC3259C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0">
            <a:solidFill>
              <a:srgbClr val="DDED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AA102-59A7-4641-B6C8-131D23EB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816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GA: время +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43BFE-38CF-4D55-A4AC-4EA2F93F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34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3"/>
          </a:solidFill>
          <a:ln xmlns:a="http://schemas.openxmlformats.org/drawingml/2006/main" w="0">
            <a:solidFill>
              <a:srgbClr val="DDE8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7309D-9FE9-4D2F-92F1-F4E363B2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3816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PSO: кривые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D1680-683D-4523-AAC3-4BC0811F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34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C2"/>
          </a:solidFill>
          <a:ln xmlns:a="http://schemas.openxmlformats.org/drawingml/2006/main" w="0">
            <a:solidFill>
              <a:srgbClr val="F3E4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DA4DD-D7EE-4C7A-AD20-5DC5717F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816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DE: компромисс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061B4-0558-4AB2-AA80-2D76D4F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334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4F3"/>
          </a:solidFill>
          <a:ln xmlns:a="http://schemas.openxmlformats.org/drawingml/2006/main" w="0">
            <a:solidFill>
              <a:srgbClr val="EAE4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0495D-D149-426A-BCB6-FC418D3F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3816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A4FA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4FA3"/>
                </a:solidFill>
                <a:latin typeface="Aptos"/>
                <a:ea typeface="Aptos"/>
                <a:cs typeface="Aptos"/>
              </a:rPr>
              <a:t>BO: разведка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F3721-7828-4960-AB1F-A30C14DB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3340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9"/>
          </a:solidFill>
          <a:ln xmlns:a="http://schemas.openxmlformats.org/drawingml/2006/main" w="0">
            <a:solidFill>
              <a:srgbClr val="E7E2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C2090-C2A9-4131-89D8-2D15127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381625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RS: baseline</a:t>
            </a:r>
          </a:p>
        </p:txBody>
      </p:sp>
    </p:spTree>
    <p:extLst>
      <p:ext uri="{BB962C8B-B14F-4D97-AF65-F5344CB8AC3E}">
        <p14:creationId xmlns:p14="http://schemas.microsoft.com/office/powerpoint/2010/main" val="20267971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24EBB3-846B-4C62-9EAD-6A0A85F0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482C-79E6-4962-82D1-D0D815F3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37238-5CAF-4257-92DE-A1568A54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278F2-6C0A-4197-83B2-A505AB27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237A5-6A0B-4441-8EF3-9C91E8B4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16C01-D17D-49A7-AF13-22F4C42B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НОВИЗНА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A02A4-4BEC-4633-8163-200EC431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Выбор B1/B2 рассмотрен как воспроизводимая black-box оптимизация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E7F70-2C1B-4350-9D4F-4E9E5762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8B159-038A-41B4-B514-B754DA18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D8913-5B25-41BE-898F-A707B3DC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954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ФОРМАЛИЗАЦИЯ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E43DE-9D95-487D-8E6F-63BBA1A2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62175"/>
            <a:ext cx="2838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B1/B2 задаются как переменные constrained black-box задачи с шумной эмпирической оценкой.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3D124-4CDF-4D7B-8637-D66B9A80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FA55B-FE7B-4711-BC32-D6995539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24C4CE-4B0E-4185-8229-360E6876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954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СРАВНЕНИЕ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A36C8-DE3F-4217-8DB2-55C291C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62175"/>
            <a:ext cx="2838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Пять эвристических методов сопоставлены в едином воспроизводимом pipeline.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67FED-CADC-41C0-8D70-A8D364F8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CEE13-DBE3-468C-AB84-B82FDD5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0F0E0-0C0E-4698-BBCF-E0D32D4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95475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ВАЛИДАЦИЯ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1C2B6-97A4-44B8-86CE-2D950E23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28384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Итоговые параметры проверены на независимой контрольной выборке.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C145B-C8E0-4DEC-BBC4-98CE30C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Теоретическая значимость: уточнен взгляд на параметры ECM как на объект автоматической конфигурации алгоритма.</a:t>
            </a:r>
          </a:p>
        </p:txBody>
      </p:sp>
    </p:spTree>
    <p:extLst>
      <p:ext uri="{BB962C8B-B14F-4D97-AF65-F5344CB8AC3E}">
        <p14:creationId xmlns:p14="http://schemas.microsoft.com/office/powerpoint/2010/main" val="37669248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7F8C1-5C1A-4059-9EAF-2151E62A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75004-9E88-4C61-B426-640E5B41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5329D-E5C5-4716-9B37-14ACD70D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7B46E-9E5D-4B12-A4BA-1C3C02E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31232-07D7-4D16-B4C1-08465800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FDD26-DDC6-40BE-AC76-FB372727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ПРАКТИЧЕСКАЯ ЗНАЧИМОСТЬ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F7334-F4D4-4D26-8D3B-1E7D2F6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Результат работы — процедура и инструмент локальной настройки ECM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E17C7-8310-4E6A-BE2C-E9B11800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95007-3E53-4390-91E9-C76F8708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Разработан Python-пакет ecm_optimizer.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71C83-388E-4C47-AB36-3550266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EEFCE-7F3E-42C3-A5DD-67C421CA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Поддержаны generate, optimize, validate, run-plan и analyze.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79CFA-D70D-4E9F-A485-BBBA99E5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3F9A2-1B8F-4A6A-A9BD-DCE2CCC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6702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Сохраняются JSON, CSV, PNG и Markdown-артефакты.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4E1D9-1A91-4A79-BEC8-09F8B473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06D00-7D30-4F8D-BE3D-5CEC900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Процедура переносима на новые классы чисел после проверки.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F5650-0A93-4F0D-8DC1-FFD6E674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70957-3723-4402-B43B-B6C65CD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E0B48-FB08-40AB-8D16-721E7F14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478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РЕКОМЕНДАЦИЯ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7A1B0-6C9F-4169-BB8D-3CC867B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14550"/>
            <a:ext cx="3695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Использовать таблицы GMP-ECM как стартовый эталон.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DB576-3CE6-480D-BF50-5BD8BAF9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54EFE-DDED-429B-AB47-AF3A0E55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4AA4E-A677-470D-9DC0-42CFA25B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РЕКОМЕНДАЦИЯ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BB8527-1832-4D0A-A3C7-D4304C97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3695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Настраивать параметры в два этапа: широкий поиск, затем уточнение.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F190E2-8CB0-42A4-AE1D-7B95E2A1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400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FDA46-E77E-4404-9DC9-5A36040A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AB5AEE-8690-4745-B27C-18FB0812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3695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РЕКОМЕНДАЦИЯ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6BD88-9974-4446-A6E4-17FF897D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3695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Обязательно проверять найденные параметры на control-наборе.</a:t>
            </a:r>
          </a:p>
        </p:txBody>
      </p:sp>
    </p:spTree>
    <p:extLst>
      <p:ext uri="{BB962C8B-B14F-4D97-AF65-F5344CB8AC3E}">
        <p14:creationId xmlns:p14="http://schemas.microsoft.com/office/powerpoint/2010/main" val="2025818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3384F7-C853-4D8D-B9E5-904C9363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BBD4F-049D-4048-A10B-318E3B6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783A4-C6AA-49D9-B877-7EEA09C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512C0-651E-49EF-AE74-3FD107C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35712-D013-4CDD-8EE8-85C745E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63093-AF08-4F09-8BA3-EFD4D9D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АПРОБАЦИЯ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0A1CE-D5CC-4E04-9FCB-C300EBAA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Апробация результатов является экспериментальной и программной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8376F-2F28-453D-A771-9702CBBF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57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D0E9E-9D75-4CA9-BE85-F2341B33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885D1-B930-48B0-B405-B75574A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431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ЭКСПЕРИМЕНТАЛЬНАЯ АПРОБАЦИЯ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B657C-A068-42BF-B976-3CC0200B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09800"/>
            <a:ext cx="4267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Эксперименты выполнены на ресурсах суперкомпьютерного центра СПбПУ. Использовалась среда SLURM. Найденные параметры проверены на независимой контрольной выборке.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D50AF-F97D-43B3-AA04-6462ADF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57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38C45-A805-463B-9F69-1925A0D3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60AF3-6604-45A2-BF3E-3F816EEA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26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ПРОГРАММНАЯ АПРОБАЦИЯ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1A761-6705-4FCD-9304-CEFE4D03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4267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Реализован и проверен pipeline от генерации данных до анализа результатов. Сохраняются seed, параметры запусков, отчеты, таблицы и графики.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4E679-43DD-4972-88A5-8B2F0576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9625"/>
            <a:ext cx="819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0">
            <a:solidFill>
              <a:srgbClr val="2026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057F1-D52D-425C-967D-4EE56786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752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Публикаций и конференционных выступлений по теме ВКР нет.</a:t>
            </a:r>
          </a:p>
        </p:txBody>
      </p:sp>
    </p:spTree>
    <p:extLst>
      <p:ext uri="{BB962C8B-B14F-4D97-AF65-F5344CB8AC3E}">
        <p14:creationId xmlns:p14="http://schemas.microsoft.com/office/powerpoint/2010/main" val="8327641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23A64-8504-4DA2-BEB0-A408EF0D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F7E3B-EDE0-4975-9E23-88B1FC55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CF360-5D84-4F48-9209-D820BE70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DC5C9-1CE4-408B-8B88-110A9873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22509-7C42-4710-A53E-ED49764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A6110-6617-4094-ADCD-D72A9160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ВЫВОДЫ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F6A60-4E26-4271-80C1-59E3049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Цель достигнута: система разработана, проверена и дала улучшение эталона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002FF-12CA-4DBF-AA05-414C9B8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27186-B3D6-46DD-AFFB-45F0E15A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288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67A63"/>
                </a:solidFill>
                <a:latin typeface="Aptos Display"/>
                <a:ea typeface="Aptos Display"/>
                <a:cs typeface="Aptos Display"/>
              </a:rPr>
              <a:t>-25,14%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294F2-F7F0-4166-972A-0FFCC591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38375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до снижения валидационной метрики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C1D33-ABCC-4D05-B389-F413006A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145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01DF7-7B7E-414B-8DD8-F1EBE6DE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8288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D59A2B"/>
                </a:solidFill>
                <a:latin typeface="Aptos Display"/>
                <a:ea typeface="Aptos Display"/>
                <a:cs typeface="Aptos Display"/>
              </a:rPr>
              <a:t>-21,04%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74C8C-C03C-4E67-A3F6-B3D10ED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38375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до снижения среднего времени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276DD-A75A-496A-9660-295137E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EB88D-9E4A-476B-A6F7-B38263A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3A6EA5"/>
                </a:solidFill>
                <a:latin typeface="Aptos Display"/>
                <a:ea typeface="Aptos Display"/>
                <a:cs typeface="Aptos Display"/>
              </a:rPr>
              <a:t>-62,42%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76B54-3D5E-4C71-8BA6-23E402D1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до снижения числа кривых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FE440-0C91-473C-A1DC-5605D266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14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9550C-0FB3-4D30-9941-0090BA7C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Формализована black-box постановка выбора B1/B2.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7FC1E-0AA2-4E4A-BC97-35C8C4EC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71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F5AFE-92EA-4EC4-87CA-6828936C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86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Реализован воспроизводимый pipeline генерации, оптимизации, валидации и анализа.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89FEF-DEA1-4B43-A7B1-824D5936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93BA6-F38A-4D29-A213-8AC30EC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43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Сравнены RS, DE, GA, PSO и BO при едином протоколе.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8C3F1-569A-45F8-8D67-656DFFC1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86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0F478-8C65-401D-93F3-8E24E7A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006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Справочные параметры GMP-ECM улучшены для 20-значных делителей.</a:t>
            </a:r>
          </a:p>
        </p:txBody>
      </p:sp>
    </p:spTree>
    <p:extLst>
      <p:ext uri="{BB962C8B-B14F-4D97-AF65-F5344CB8AC3E}">
        <p14:creationId xmlns:p14="http://schemas.microsoft.com/office/powerpoint/2010/main" val="39255351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C311D-1EA0-45AF-BB4A-31429520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0E819-9E2F-4E15-9DE7-EE6BB335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E4678-8C86-4D4F-9406-05C62031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77D41-BC29-4CED-9152-1EC253B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B73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FF38F-90CE-41B8-8AE1-4E0C55A0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EC487-E543-4432-9F60-E01A71A5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B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3"/>
                </a:solidFill>
                <a:latin typeface="Aptos"/>
                <a:ea typeface="Aptos"/>
                <a:cs typeface="Aptos"/>
              </a:rPr>
              <a:t>ПЕРСПЕКТИВЫ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6362A-E303-41A3-87B6-C3229EFD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Следующий шаг — проверить переносимость результата за пределами 20-значных делителей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2A7A1-5AD8-421B-8A39-4FBDAD5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333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9E234-EBD1-4E4E-BFA8-34AB14F4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9083F-167E-460D-B967-FDEFEB24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402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РАЗМЕРЫ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E7AB9-3676-4FE8-8C57-DEA9661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19300"/>
            <a:ext cx="4029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25-, 30-, 35-значные и более крупные делители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0A3BB-196F-4036-BC03-02C7C0A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4333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35C43-6B97-4DB1-93BD-08D00B85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192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B0D9D-ACB5-48D3-BC20-446F45F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52600"/>
            <a:ext cx="402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КЛАССЫ ЧИСЕЛ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72D76-2F5F-4A8D-BC7A-0F6ACFD7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19300"/>
            <a:ext cx="4029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Мерсенна, Ферма, s^n +/- 1, реальные NFS-кофакторы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1B55F-C692-459B-8866-8D5E8110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4333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80609-B06C-489E-8410-4FA72D7D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43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A17AB-B996-4F75-82DE-643E8D43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76550"/>
            <a:ext cx="402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ПЕРЕНОСИМОСТЬ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C7444-4B30-4FF7-8E44-43150F62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43250"/>
            <a:ext cx="4029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разные платформы и версии GMP-ECM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F8CF6-0BAF-43CF-A1F6-7E154800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43200"/>
            <a:ext cx="4333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5651A9-7DDE-4A60-9DA9-CA11A19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43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5B03F-6F35-4E92-9BC3-A2DF6DDF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876550"/>
            <a:ext cx="402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СТАТИСТИКА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C836BB-D266-4AAC-BDBF-6363F70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43250"/>
            <a:ext cx="4029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больше seed и независимых control-наборов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2B0505-654A-4A1D-82A3-22FB495F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4333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E6E925-7642-4A97-AB4B-3EEC9847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67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C4FB5-1CED-4DD9-8FCB-DDE05E45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00500"/>
            <a:ext cx="402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7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7A63"/>
                </a:solidFill>
                <a:latin typeface="Aptos"/>
                <a:ea typeface="Aptos"/>
                <a:cs typeface="Aptos"/>
              </a:rPr>
              <a:t>СТОИМОСТЬ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D8536E-01A7-4353-B919-3C96DF15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67200"/>
            <a:ext cx="4029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выигрыш на один процессорный час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E4540-921F-46D0-9E7A-3713C29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67150"/>
            <a:ext cx="4333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13C84E-403D-4B0A-B862-6A38D7F1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671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728D60-0C23-42D6-838E-7C685B7C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4029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59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9A2B"/>
                </a:solidFill>
                <a:latin typeface="Aptos"/>
                <a:ea typeface="Aptos"/>
                <a:cs typeface="Aptos"/>
              </a:rPr>
              <a:t>АДАПТИВНОСТЬ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14717-0EEF-496B-9FE3-9D399037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67200"/>
            <a:ext cx="4029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остановка оптимизации и бюджет поиска</a:t>
            </a:r>
          </a:p>
        </p:txBody>
      </p:sp>
    </p:spTree>
    <p:extLst>
      <p:ext uri="{BB962C8B-B14F-4D97-AF65-F5344CB8AC3E}">
        <p14:creationId xmlns:p14="http://schemas.microsoft.com/office/powerpoint/2010/main" val="118109510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853A1-A2FF-4534-997F-A5CEA6DE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7BECE-6ED6-4DF7-ACA7-6D1A627D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17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1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608B1-1D08-4DEA-8A97-DC2FFDCE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ВКР: автоматизация подбора параметров ECM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FF207-44F5-43C7-B10C-345B321F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0D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0D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6EF91-6F24-4020-9926-91C6B230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382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Спасибо за внимание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53F6B-9A90-4C22-8A1A-A931B406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28875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8DEE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DEE4"/>
                </a:solidFill>
                <a:latin typeface="Aptos"/>
                <a:ea typeface="Aptos"/>
                <a:cs typeface="Aptos"/>
              </a:rPr>
              <a:t>Автоматизация подбора параметров ECM на основе эвристических методов оптимизации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1DB20-2266-4EDC-A7BF-06D575DF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D177C-9D5E-4974-BF77-9B4BFDA7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957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Готов ответить на вопросы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202DD-0D52-48D6-A109-BA522DF3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DEE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EE4"/>
                </a:solidFill>
                <a:latin typeface="Aptos"/>
                <a:ea typeface="Aptos"/>
                <a:cs typeface="Aptos"/>
              </a:rPr>
              <a:t>Плеханов Егор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1538191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2026-05-25T10:43:57.9870000Z</dcterms:created>
  <dcterms:modified xsi:type="dcterms:W3CDTF">2026-05-25T10:43:57.9870000Z</dcterms:modified>
</coreProperties>
</file>